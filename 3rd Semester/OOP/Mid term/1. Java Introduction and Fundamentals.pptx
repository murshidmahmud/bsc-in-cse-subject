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icIPtIpX8CzDp/W0zOlPs1ofJo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51A10A-6817-4BE5-AA28-2BDE27B3458B}">
  <a:tblStyle styleId="{C651A10A-6817-4BE5-AA28-2BDE27B3458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9" name="Google Shape;99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4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4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4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4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4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4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5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/>
              <a:t>Java Introduction and Fundamentals</a:t>
            </a:r>
            <a:endParaRPr/>
          </a:p>
        </p:txBody>
      </p:sp>
      <p:sp>
        <p:nvSpPr>
          <p:cNvPr id="164" name="Google Shape;16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Md. Mizanur Rahman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Lecturer, DIU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Introduction</a:t>
            </a:r>
            <a:endParaRPr/>
          </a:p>
        </p:txBody>
      </p:sp>
      <p:sp>
        <p:nvSpPr>
          <p:cNvPr id="170" name="Google Shape;170;p2"/>
          <p:cNvSpPr txBox="1"/>
          <p:nvPr>
            <p:ph idx="1" type="body"/>
          </p:nvPr>
        </p:nvSpPr>
        <p:spPr>
          <a:xfrm>
            <a:off x="107950" y="1095375"/>
            <a:ext cx="11938000" cy="5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Java is a high level, class based, object oriented programming language that is widely used across various operating systems.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build Java programs, you need to have the </a:t>
            </a:r>
            <a:r>
              <a:rPr b="1" lang="en-US"/>
              <a:t>Java Development Kit (JDK)</a:t>
            </a:r>
            <a:r>
              <a:rPr lang="en-US"/>
              <a:t> installed on your device. However, if you're eager to start immediately, you can use a free </a:t>
            </a:r>
            <a:r>
              <a:rPr b="1" lang="en-US"/>
              <a:t>online Java compiler</a:t>
            </a:r>
            <a:r>
              <a:rPr lang="en-US"/>
              <a:t> that allows you to run Java code directly in your browser without any setup.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1" name="Google Shape;171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172" name="Google Shape;17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"/>
          <p:cNvSpPr txBox="1"/>
          <p:nvPr>
            <p:ph type="title"/>
          </p:nvPr>
        </p:nvSpPr>
        <p:spPr>
          <a:xfrm>
            <a:off x="775447" y="136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				</a:t>
            </a:r>
            <a:r>
              <a:rPr lang="en-US" sz="3600"/>
              <a:t>JDK</a:t>
            </a:r>
            <a:endParaRPr/>
          </a:p>
        </p:txBody>
      </p:sp>
      <p:pic>
        <p:nvPicPr>
          <p:cNvPr id="178" name="Google Shape;178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8848" y="1304364"/>
            <a:ext cx="8830235" cy="424927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180" name="Google Shape;18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Run A Java Program</a:t>
            </a:r>
            <a:endParaRPr/>
          </a:p>
        </p:txBody>
      </p:sp>
      <p:sp>
        <p:nvSpPr>
          <p:cNvPr id="186" name="Google Shape;186;p4"/>
          <p:cNvSpPr txBox="1"/>
          <p:nvPr>
            <p:ph idx="1" type="body"/>
          </p:nvPr>
        </p:nvSpPr>
        <p:spPr>
          <a:xfrm>
            <a:off x="107950" y="1095375"/>
            <a:ext cx="11938000" cy="5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Open Notepad and enter the following code: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Then save this file as </a:t>
            </a:r>
            <a:r>
              <a:rPr b="1" lang="en-US"/>
              <a:t>HelloWorld.java</a:t>
            </a:r>
            <a:r>
              <a:rPr lang="en-US"/>
              <a:t> (select "All Files" in "Save as type").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Open your command prompt in that folder and run the following commands.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87" name="Google Shape;187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188" name="Google Shape;18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3199765" y="1495425"/>
            <a:ext cx="5754370" cy="222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HelloWorld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static void main(String[] args)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System.out.println("Hello, World!");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3218815" y="4839335"/>
            <a:ext cx="575437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javac HellowWorld.java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3199765" y="5564505"/>
            <a:ext cx="575437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HelloWorld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Basic Structure of Java Program</a:t>
            </a:r>
            <a:endParaRPr/>
          </a:p>
        </p:txBody>
      </p:sp>
      <p:sp>
        <p:nvSpPr>
          <p:cNvPr id="197" name="Google Shape;197;p5"/>
          <p:cNvSpPr txBox="1"/>
          <p:nvPr>
            <p:ph idx="1" type="body"/>
          </p:nvPr>
        </p:nvSpPr>
        <p:spPr>
          <a:xfrm>
            <a:off x="107950" y="1095375"/>
            <a:ext cx="11938000" cy="5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Java program requires a lot of lines even for a simple program but for now, just remember this following structure.</a:t>
            </a:r>
            <a:endParaRPr/>
          </a:p>
        </p:txBody>
      </p:sp>
      <p:sp>
        <p:nvSpPr>
          <p:cNvPr id="198" name="Google Shape;19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199" name="Google Shape;19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3199765" y="2111375"/>
            <a:ext cx="5754370" cy="2676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static void main(String[] args)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Comments in Java Program</a:t>
            </a:r>
            <a:endParaRPr/>
          </a:p>
        </p:txBody>
      </p:sp>
      <p:sp>
        <p:nvSpPr>
          <p:cNvPr id="206" name="Google Shape;206;p6"/>
          <p:cNvSpPr txBox="1"/>
          <p:nvPr>
            <p:ph idx="1" type="body"/>
          </p:nvPr>
        </p:nvSpPr>
        <p:spPr>
          <a:xfrm>
            <a:off x="107950" y="1095375"/>
            <a:ext cx="11938000" cy="5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Java comments are similar to C/C++ comments.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Single Line Comments: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Multi-line Comments:</a:t>
            </a:r>
            <a:endParaRPr/>
          </a:p>
        </p:txBody>
      </p:sp>
      <p:sp>
        <p:nvSpPr>
          <p:cNvPr id="207" name="Google Shape;20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208" name="Google Shape;20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3947795" y="1781810"/>
            <a:ext cx="5754370" cy="2339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HelloWorld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static void main(String[] args)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// print Hello World to the screen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System.out.println("Hello World");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3947795" y="3830003"/>
            <a:ext cx="5754370" cy="2429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HelloWorld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static void main(String[] args)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/* System.out.println("Hello, World!");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System.out.println("Hello, World!");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System.out.println("Hello, World!"); */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Java Data Types (Primitive)</a:t>
            </a:r>
            <a:endParaRPr/>
          </a:p>
        </p:txBody>
      </p:sp>
      <p:sp>
        <p:nvSpPr>
          <p:cNvPr id="216" name="Google Shape;21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217" name="Google Shape;21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8" name="Google Shape;2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9154" y="1075765"/>
            <a:ext cx="8758518" cy="4778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Java Data Types (Primitive)</a:t>
            </a:r>
            <a:endParaRPr/>
          </a:p>
        </p:txBody>
      </p:sp>
      <p:sp>
        <p:nvSpPr>
          <p:cNvPr id="224" name="Google Shape;22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225" name="Google Shape;22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6" name="Google Shape;2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8517" y="915036"/>
            <a:ext cx="10022541" cy="5512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Java Data Types (Primitive)</a:t>
            </a:r>
            <a:endParaRPr/>
          </a:p>
        </p:txBody>
      </p:sp>
      <p:sp>
        <p:nvSpPr>
          <p:cNvPr id="232" name="Google Shape;232;p9"/>
          <p:cNvSpPr txBox="1"/>
          <p:nvPr>
            <p:ph idx="1" type="body"/>
          </p:nvPr>
        </p:nvSpPr>
        <p:spPr>
          <a:xfrm>
            <a:off x="107950" y="1095375"/>
            <a:ext cx="11938000" cy="5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Basic Structure of Declaration and Definition is similar to C/C++.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Categories: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boolean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byte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short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long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double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float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char</a:t>
            </a:r>
            <a:endParaRPr/>
          </a:p>
        </p:txBody>
      </p:sp>
      <p:sp>
        <p:nvSpPr>
          <p:cNvPr id="233" name="Google Shape;2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234" name="Google Shape;23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9"/>
          <p:cNvSpPr txBox="1"/>
          <p:nvPr/>
        </p:nvSpPr>
        <p:spPr>
          <a:xfrm>
            <a:off x="3218815" y="1703705"/>
            <a:ext cx="5754370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dataType variable_Name = Value;</a:t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3101788" y="2329180"/>
            <a:ext cx="3917577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boolean flag = true;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 range;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 = 124;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 temperature;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 = -200;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range = -4250000;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 range = -42332200000L;</a:t>
            </a:r>
            <a:endParaRPr/>
          </a:p>
        </p:txBody>
      </p:sp>
      <p:sp>
        <p:nvSpPr>
          <p:cNvPr id="237" name="Google Shape;237;p9"/>
          <p:cNvSpPr txBox="1"/>
          <p:nvPr/>
        </p:nvSpPr>
        <p:spPr>
          <a:xfrm>
            <a:off x="7447915" y="2456180"/>
            <a:ext cx="3376930" cy="1938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double number = -42.3;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float number = -42.3f;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 letter1 = '9';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Reading from Keyboard</a:t>
            </a:r>
            <a:endParaRPr/>
          </a:p>
        </p:txBody>
      </p:sp>
      <p:sp>
        <p:nvSpPr>
          <p:cNvPr id="243" name="Google Shape;24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244" name="Google Shape;2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10"/>
          <p:cNvSpPr txBox="1"/>
          <p:nvPr/>
        </p:nvSpPr>
        <p:spPr>
          <a:xfrm>
            <a:off x="8937812" y="1810871"/>
            <a:ext cx="1945341" cy="4062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Scanner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nextInt()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nextFloat()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nextDouble()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nextLine()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nextByte()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nextShort()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nextLong()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nextBoolean()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hasNextInt()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hasNextFloat()</a:t>
            </a:r>
            <a:endParaRPr/>
          </a:p>
        </p:txBody>
      </p:sp>
      <p:sp>
        <p:nvSpPr>
          <p:cNvPr id="246" name="Google Shape;246;p10"/>
          <p:cNvSpPr txBox="1"/>
          <p:nvPr/>
        </p:nvSpPr>
        <p:spPr>
          <a:xfrm flipH="1">
            <a:off x="746280" y="948690"/>
            <a:ext cx="6922099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java.lang.*;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java.util.*;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class MyFirst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static void main(String[] args)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// TODO code application logic here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System.out.println("Hello World");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System.out.println("Int min: " + Integer.MIN_VALUE);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System.out.println("Int max: " + Integer.MAX_VALUE);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Scanner s = new Scanner(System.in);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a, b, c;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System.out.println("Enter two number");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a = s.nextInt();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b = s.nextInt();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 = a + b;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System.out.println("c = a + b : " + c);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Java Operators</a:t>
            </a:r>
            <a:endParaRPr/>
          </a:p>
        </p:txBody>
      </p:sp>
      <p:sp>
        <p:nvSpPr>
          <p:cNvPr id="252" name="Google Shape;252;p11"/>
          <p:cNvSpPr txBox="1"/>
          <p:nvPr>
            <p:ph idx="1" type="body"/>
          </p:nvPr>
        </p:nvSpPr>
        <p:spPr>
          <a:xfrm>
            <a:off x="107950" y="1095375"/>
            <a:ext cx="11938000" cy="5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Operators in Java can be classified into 5 types: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Arithmetic Operators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Assignment Operators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Relational Operators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Logical Operators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Unary Operators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Bitwise Operators</a:t>
            </a:r>
            <a:endParaRPr/>
          </a:p>
        </p:txBody>
      </p:sp>
      <p:sp>
        <p:nvSpPr>
          <p:cNvPr id="253" name="Google Shape;25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254" name="Google Shape;25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Arithmetic Operators</a:t>
            </a:r>
            <a:endParaRPr/>
          </a:p>
        </p:txBody>
      </p:sp>
      <p:pic>
        <p:nvPicPr>
          <p:cNvPr id="260" name="Google Shape;260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55" y="1062990"/>
            <a:ext cx="9913620" cy="527748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262" name="Google Shape;26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63" name="Google Shape;263;p12"/>
          <p:cNvGraphicFramePr/>
          <p:nvPr/>
        </p:nvGraphicFramePr>
        <p:xfrm>
          <a:off x="6096000" y="12813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{C651A10A-6817-4BE5-AA28-2BDE27B3458B}</a:tableStyleId>
              </a:tblPr>
              <a:tblGrid>
                <a:gridCol w="391800"/>
                <a:gridCol w="391800"/>
              </a:tblGrid>
              <a:tr h="478150"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77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5000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9927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Operation (Remainder after division)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Assignment Operators</a:t>
            </a:r>
            <a:endParaRPr/>
          </a:p>
        </p:txBody>
      </p:sp>
      <p:sp>
        <p:nvSpPr>
          <p:cNvPr id="269" name="Google Shape;2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270" name="Google Shape;27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71" name="Google Shape;271;p13"/>
          <p:cNvGraphicFramePr/>
          <p:nvPr/>
        </p:nvGraphicFramePr>
        <p:xfrm>
          <a:off x="6096000" y="12813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{C651A10A-6817-4BE5-AA28-2BDE27B3458B}</a:tableStyleId>
              </a:tblPr>
              <a:tblGrid>
                <a:gridCol w="391800"/>
                <a:gridCol w="391800"/>
              </a:tblGrid>
              <a:tr h="478150"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77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5000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9927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Operation (Remainder after division)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72" name="Google Shape;272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996950"/>
            <a:ext cx="10141585" cy="527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Relational Operators</a:t>
            </a:r>
            <a:endParaRPr/>
          </a:p>
        </p:txBody>
      </p:sp>
      <p:sp>
        <p:nvSpPr>
          <p:cNvPr id="278" name="Google Shape;27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279" name="Google Shape;2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80" name="Google Shape;280;p14"/>
          <p:cNvGraphicFramePr/>
          <p:nvPr/>
        </p:nvGraphicFramePr>
        <p:xfrm>
          <a:off x="6096000" y="12813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{C651A10A-6817-4BE5-AA28-2BDE27B3458B}</a:tableStyleId>
              </a:tblPr>
              <a:tblGrid>
                <a:gridCol w="391800"/>
                <a:gridCol w="391800"/>
              </a:tblGrid>
              <a:tr h="478150"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77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5000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9927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Operation (Remainder after division)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81" name="Google Shape;281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920" y="1195070"/>
            <a:ext cx="10469880" cy="5142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Logical Operators</a:t>
            </a:r>
            <a:endParaRPr/>
          </a:p>
        </p:txBody>
      </p:sp>
      <p:sp>
        <p:nvSpPr>
          <p:cNvPr id="287" name="Google Shape;28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288" name="Google Shape;28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89" name="Google Shape;289;p15"/>
          <p:cNvGraphicFramePr/>
          <p:nvPr/>
        </p:nvGraphicFramePr>
        <p:xfrm>
          <a:off x="6096000" y="12813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{C651A10A-6817-4BE5-AA28-2BDE27B3458B}</a:tableStyleId>
              </a:tblPr>
              <a:tblGrid>
                <a:gridCol w="391800"/>
                <a:gridCol w="391800"/>
              </a:tblGrid>
              <a:tr h="478150"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77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5000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9927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Operation (Remainder after division)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90" name="Google Shape;290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435" y="1281430"/>
            <a:ext cx="10667365" cy="4072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Unary Operators</a:t>
            </a:r>
            <a:endParaRPr/>
          </a:p>
        </p:txBody>
      </p:sp>
      <p:sp>
        <p:nvSpPr>
          <p:cNvPr id="296" name="Google Shape;29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297" name="Google Shape;29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98" name="Google Shape;298;p16"/>
          <p:cNvGraphicFramePr/>
          <p:nvPr/>
        </p:nvGraphicFramePr>
        <p:xfrm>
          <a:off x="6096000" y="12813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{C651A10A-6817-4BE5-AA28-2BDE27B3458B}</a:tableStyleId>
              </a:tblPr>
              <a:tblGrid>
                <a:gridCol w="391800"/>
                <a:gridCol w="391800"/>
              </a:tblGrid>
              <a:tr h="478150"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77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5000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9927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Operation (Remainder after division)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99" name="Google Shape;299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60145"/>
            <a:ext cx="11815445" cy="4923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Unary Operators</a:t>
            </a:r>
            <a:endParaRPr/>
          </a:p>
        </p:txBody>
      </p:sp>
      <p:sp>
        <p:nvSpPr>
          <p:cNvPr id="305" name="Google Shape;30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306" name="Google Shape;30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07" name="Google Shape;307;p17"/>
          <p:cNvGraphicFramePr/>
          <p:nvPr/>
        </p:nvGraphicFramePr>
        <p:xfrm>
          <a:off x="6096000" y="12813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{C651A10A-6817-4BE5-AA28-2BDE27B3458B}</a:tableStyleId>
              </a:tblPr>
              <a:tblGrid>
                <a:gridCol w="391800"/>
                <a:gridCol w="391800"/>
              </a:tblGrid>
              <a:tr h="478150"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77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5000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9927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Operation (Remainder after division)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08" name="Google Shape;308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60145"/>
            <a:ext cx="11815445" cy="4923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Bitwise Operators</a:t>
            </a:r>
            <a:endParaRPr/>
          </a:p>
        </p:txBody>
      </p:sp>
      <p:sp>
        <p:nvSpPr>
          <p:cNvPr id="314" name="Google Shape;3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315" name="Google Shape;31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16" name="Google Shape;316;p18"/>
          <p:cNvGraphicFramePr/>
          <p:nvPr/>
        </p:nvGraphicFramePr>
        <p:xfrm>
          <a:off x="6096000" y="12813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{C651A10A-6817-4BE5-AA28-2BDE27B3458B}</a:tableStyleId>
              </a:tblPr>
              <a:tblGrid>
                <a:gridCol w="391800"/>
                <a:gridCol w="391800"/>
              </a:tblGrid>
              <a:tr h="478150"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77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5000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52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99275"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00" u="none" cap="none" strike="noStrike">
                          <a:solidFill>
                            <a:srgbClr val="2526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Operation (Remainder after division)</a:t>
                      </a:r>
                      <a:endParaRPr/>
                    </a:p>
                  </a:txBody>
                  <a:tcPr marT="91750" marB="917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17" name="Google Shape;317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3210" y="915035"/>
            <a:ext cx="9046845" cy="5440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Other Operators</a:t>
            </a:r>
            <a:endParaRPr/>
          </a:p>
        </p:txBody>
      </p:sp>
      <p:sp>
        <p:nvSpPr>
          <p:cNvPr id="323" name="Google Shape;323;p19"/>
          <p:cNvSpPr txBox="1"/>
          <p:nvPr>
            <p:ph idx="1" type="body"/>
          </p:nvPr>
        </p:nvSpPr>
        <p:spPr>
          <a:xfrm>
            <a:off x="107950" y="1095375"/>
            <a:ext cx="11938000" cy="5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Java also provides increment and decrement operators: ++ and -- respectively. ++ increases the value of the operand by 1, while -- decrease it by 1.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Java also provides </a:t>
            </a:r>
            <a:r>
              <a:rPr b="1" lang="en-US"/>
              <a:t>ternary operator</a:t>
            </a:r>
            <a:r>
              <a:rPr lang="en-US"/>
              <a:t> similar to that of C++.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</a:t>
            </a:r>
            <a:r>
              <a:rPr b="1" lang="en-US"/>
              <a:t>instanceof</a:t>
            </a:r>
            <a:r>
              <a:rPr lang="en-US"/>
              <a:t> operator checks whether an object is an instanceof a particular class.</a:t>
            </a:r>
            <a:endParaRPr/>
          </a:p>
        </p:txBody>
      </p:sp>
      <p:sp>
        <p:nvSpPr>
          <p:cNvPr id="324" name="Google Shape;3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325" name="Google Shape;32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6" name="Google Shape;326;p19"/>
          <p:cNvSpPr txBox="1"/>
          <p:nvPr/>
        </p:nvSpPr>
        <p:spPr>
          <a:xfrm>
            <a:off x="2493645" y="3108960"/>
            <a:ext cx="7166610" cy="34131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Main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public static void main(String[] args)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String str = "Programiz";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boolean result;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result = str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instanceof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String;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System.out.println("Is str an object of String? " + result);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Basic Output in Java</a:t>
            </a:r>
            <a:endParaRPr/>
          </a:p>
        </p:txBody>
      </p:sp>
      <p:sp>
        <p:nvSpPr>
          <p:cNvPr id="332" name="Google Shape;332;p20"/>
          <p:cNvSpPr txBox="1"/>
          <p:nvPr>
            <p:ph idx="1" type="body"/>
          </p:nvPr>
        </p:nvSpPr>
        <p:spPr>
          <a:xfrm>
            <a:off x="107950" y="1095375"/>
            <a:ext cx="11938000" cy="5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can use any of the following.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Difference between println(), print() and printf():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print()</a:t>
            </a:r>
            <a:r>
              <a:rPr lang="en-US"/>
              <a:t> - It prints string inside the quotes.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println()</a:t>
            </a:r>
            <a:r>
              <a:rPr lang="en-US"/>
              <a:t> - It prints string inside the quotes similar like print() method. Then the cursor moves to the beginning of the next line.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printf()</a:t>
            </a:r>
            <a:r>
              <a:rPr lang="en-US"/>
              <a:t> - It provides string formatting (similar to C/C++).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Try this one and see the difference.</a:t>
            </a:r>
            <a:endParaRPr/>
          </a:p>
        </p:txBody>
      </p:sp>
      <p:sp>
        <p:nvSpPr>
          <p:cNvPr id="333" name="Google Shape;33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334" name="Google Shape;33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7478395" y="1010920"/>
            <a:ext cx="3349625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System.out.println(); 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System.out.print(); 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System.out.printf();</a:t>
            </a:r>
            <a:endParaRPr/>
          </a:p>
        </p:txBody>
      </p:sp>
      <p:sp>
        <p:nvSpPr>
          <p:cNvPr id="336" name="Google Shape;336;p20"/>
          <p:cNvSpPr txBox="1"/>
          <p:nvPr/>
        </p:nvSpPr>
        <p:spPr>
          <a:xfrm>
            <a:off x="6952615" y="4206875"/>
            <a:ext cx="4680585" cy="232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Output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static void main(String[] args) {</a:t>
            </a:r>
            <a:endParaRPr/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d = 10;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System.out.println("1. println 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System.out.println("2. println 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System.out.print("1. print");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System.out.printf("2. printf %d", d);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 }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Try Yourself</a:t>
            </a:r>
            <a:endParaRPr/>
          </a:p>
        </p:txBody>
      </p:sp>
      <p:sp>
        <p:nvSpPr>
          <p:cNvPr id="342" name="Google Shape;342;p21"/>
          <p:cNvSpPr txBox="1"/>
          <p:nvPr>
            <p:ph idx="1" type="body"/>
          </p:nvPr>
        </p:nvSpPr>
        <p:spPr>
          <a:xfrm>
            <a:off x="107950" y="1095375"/>
            <a:ext cx="11938000" cy="5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43" name="Google Shape;34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344" name="Google Shape;34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21"/>
          <p:cNvSpPr txBox="1"/>
          <p:nvPr/>
        </p:nvSpPr>
        <p:spPr>
          <a:xfrm>
            <a:off x="212090" y="1900555"/>
            <a:ext cx="5210810" cy="318706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Variables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static void main(String[] args)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Double number = -10.6;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System.out.println(5);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System.out.println(number);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346" name="Google Shape;346;p21"/>
          <p:cNvSpPr txBox="1"/>
          <p:nvPr/>
        </p:nvSpPr>
        <p:spPr>
          <a:xfrm>
            <a:off x="5422900" y="1900555"/>
            <a:ext cx="6158865" cy="318643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PrintVariables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static void main(String[] args)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Double number = -10.6;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System.out.println("I am " + "awesome.");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System.out.println("Number = " + number);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Basic Input in Java</a:t>
            </a:r>
            <a:endParaRPr/>
          </a:p>
        </p:txBody>
      </p:sp>
      <p:sp>
        <p:nvSpPr>
          <p:cNvPr id="352" name="Google Shape;352;p22"/>
          <p:cNvSpPr txBox="1"/>
          <p:nvPr>
            <p:ph idx="1" type="body"/>
          </p:nvPr>
        </p:nvSpPr>
        <p:spPr>
          <a:xfrm>
            <a:off x="107950" y="1095375"/>
            <a:ext cx="11938000" cy="5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will learn to get input from user using the object of </a:t>
            </a:r>
            <a:r>
              <a:rPr b="1" lang="en-US"/>
              <a:t>Scanner</a:t>
            </a:r>
            <a:r>
              <a:rPr lang="en-US"/>
              <a:t> class.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order to use the object of Scanner, we need to import </a:t>
            </a:r>
            <a:r>
              <a:rPr b="1" lang="en-US"/>
              <a:t>java.util.Scanner</a:t>
            </a:r>
            <a:r>
              <a:rPr lang="en-US"/>
              <a:t> package.</a:t>
            </a:r>
            <a:endParaRPr/>
          </a:p>
        </p:txBody>
      </p:sp>
      <p:sp>
        <p:nvSpPr>
          <p:cNvPr id="353" name="Google Shape;35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354" name="Google Shape;35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" name="Google Shape;355;p22"/>
          <p:cNvSpPr txBox="1"/>
          <p:nvPr/>
        </p:nvSpPr>
        <p:spPr>
          <a:xfrm>
            <a:off x="3213735" y="3011805"/>
            <a:ext cx="4893310" cy="4603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java.util.Scanner;</a:t>
            </a:r>
            <a:endParaRPr/>
          </a:p>
        </p:txBody>
      </p:sp>
      <p:sp>
        <p:nvSpPr>
          <p:cNvPr id="356" name="Google Shape;356;p22"/>
          <p:cNvSpPr txBox="1"/>
          <p:nvPr/>
        </p:nvSpPr>
        <p:spPr>
          <a:xfrm>
            <a:off x="3268980" y="3709035"/>
            <a:ext cx="6511925" cy="19380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create an object of Scanner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Scanner input = new Scanner(System.in);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take input from the user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number = input.nextInt();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Basic Input in Java</a:t>
            </a:r>
            <a:endParaRPr/>
          </a:p>
        </p:txBody>
      </p:sp>
      <p:sp>
        <p:nvSpPr>
          <p:cNvPr id="362" name="Google Shape;362;p23"/>
          <p:cNvSpPr txBox="1"/>
          <p:nvPr>
            <p:ph idx="1" type="body"/>
          </p:nvPr>
        </p:nvSpPr>
        <p:spPr>
          <a:xfrm>
            <a:off x="107950" y="1095375"/>
            <a:ext cx="11938000" cy="5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63" name="Google Shape;36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364" name="Google Shape;36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5" name="Google Shape;365;p23"/>
          <p:cNvSpPr txBox="1"/>
          <p:nvPr/>
        </p:nvSpPr>
        <p:spPr>
          <a:xfrm>
            <a:off x="1163955" y="1095375"/>
            <a:ext cx="4893310" cy="532320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java.util.Scanner;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Input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static void main(String[] args)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Scanner input = new Scanner(System.in);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// Getting float input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System.out.print("Enter float: 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float myFloat =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input.nextFloat();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System.out.println("Float entered = " + myFloat);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// Getting double input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System.out.print("Enter double: 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double myDouble =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input.nextDouble();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System.out.println("Double entered = " + myDouble);</a:t>
            </a:r>
            <a:endParaRPr/>
          </a:p>
        </p:txBody>
      </p:sp>
      <p:sp>
        <p:nvSpPr>
          <p:cNvPr id="366" name="Google Shape;366;p23"/>
          <p:cNvSpPr txBox="1"/>
          <p:nvPr/>
        </p:nvSpPr>
        <p:spPr>
          <a:xfrm>
            <a:off x="6184265" y="1710690"/>
            <a:ext cx="4893310" cy="40925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// Getting String input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System.out.print("Enter text: 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String myString =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input.next();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System.out.println("Text entered = " + myString);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Getting integer inout</a:t>
            </a:r>
            <a:endParaRPr/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System.out.print("Enter an integer: ");</a:t>
            </a:r>
            <a:endParaRPr/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number =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input.nextInt();</a:t>
            </a:r>
            <a:endParaRPr/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System.out.println("You entered " + number);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4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Expressions, Statements and Blocks</a:t>
            </a:r>
            <a:endParaRPr/>
          </a:p>
        </p:txBody>
      </p:sp>
      <p:sp>
        <p:nvSpPr>
          <p:cNvPr id="372" name="Google Shape;372;p24"/>
          <p:cNvSpPr txBox="1"/>
          <p:nvPr>
            <p:ph idx="1" type="body"/>
          </p:nvPr>
        </p:nvSpPr>
        <p:spPr>
          <a:xfrm>
            <a:off x="107950" y="1095375"/>
            <a:ext cx="11938000" cy="5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Java expression consists of variables, operators, literals, and method calls.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Java, each statement is a complete unit of execution.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convert an expression into a statement by terminating the expression with a ; which are known as expression statements.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block is a group of statements (zero or more) that is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enclosed in curly braces { }.</a:t>
            </a:r>
            <a:endParaRPr/>
          </a:p>
        </p:txBody>
      </p:sp>
      <p:sp>
        <p:nvSpPr>
          <p:cNvPr id="373" name="Google Shape;37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374" name="Google Shape;37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8883650" y="3825875"/>
            <a:ext cx="2076450" cy="171577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expression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=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statement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= 10;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Try it yourself</a:t>
            </a:r>
            <a:endParaRPr/>
          </a:p>
        </p:txBody>
      </p:sp>
      <p:sp>
        <p:nvSpPr>
          <p:cNvPr id="381" name="Google Shape;381;p25"/>
          <p:cNvSpPr txBox="1"/>
          <p:nvPr>
            <p:ph idx="1" type="body"/>
          </p:nvPr>
        </p:nvSpPr>
        <p:spPr>
          <a:xfrm>
            <a:off x="107950" y="1095375"/>
            <a:ext cx="11938000" cy="5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Write a java program to calculate discount price and the amount of savings per purchase for the following problem.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Suppose, you went to a Business Fair. You will buy a book worth of 45 taka and a gift box which is 100 taka. The shopkeeper can give you 12% and 18% discount on each item. You will buy both items together.    </a:t>
            </a:r>
            <a:endParaRPr/>
          </a:p>
        </p:txBody>
      </p:sp>
      <p:sp>
        <p:nvSpPr>
          <p:cNvPr id="382" name="Google Shape;3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383" name="Google Shape;38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/>
          <p:nvPr>
            <p:ph type="title"/>
          </p:nvPr>
        </p:nvSpPr>
        <p:spPr>
          <a:xfrm>
            <a:off x="107950" y="112395"/>
            <a:ext cx="119380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References</a:t>
            </a:r>
            <a:endParaRPr/>
          </a:p>
        </p:txBody>
      </p:sp>
      <p:sp>
        <p:nvSpPr>
          <p:cNvPr id="389" name="Google Shape;389;p26"/>
          <p:cNvSpPr txBox="1"/>
          <p:nvPr>
            <p:ph idx="1" type="body"/>
          </p:nvPr>
        </p:nvSpPr>
        <p:spPr>
          <a:xfrm>
            <a:off x="107950" y="1095375"/>
            <a:ext cx="11938000" cy="5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Java - The Complete Reference by Herbert Schildt	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https://www.geeksforgeeks.org/java/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https://www.w3schools.com/java/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https://www.javatpoint.com/java-tutorial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https://www.tutorialspoint.com/java/index.htm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https://www.programiz.com/java-programming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https://github.com/Rafiquzzaman420/Free-Programming-Books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YouTube Channel - </a:t>
            </a:r>
            <a:r>
              <a:rPr b="1" lang="en-US"/>
              <a:t>thenewboston</a:t>
            </a:r>
            <a:endParaRPr/>
          </a:p>
        </p:txBody>
      </p:sp>
      <p:sp>
        <p:nvSpPr>
          <p:cNvPr id="390" name="Google Shape;39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10/15/2025</a:t>
            </a:r>
            <a:endParaRPr/>
          </a:p>
        </p:txBody>
      </p:sp>
      <p:sp>
        <p:nvSpPr>
          <p:cNvPr id="391" name="Google Shape;39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2024-07-25T04:50:00Z</dcterms:created>
  <dc:creator>Asus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4588D1D0F14243D8ACB173A6E82B2CFC_12</vt:lpwstr>
  </property>
  <property fmtid="{D5CDD505-2E9C-101B-9397-08002B2CF9AE}" pid="3" name="KSOProductBuildVer">
    <vt:lpwstr>1033-12.2.0.17562</vt:lpwstr>
  </property>
</Properties>
</file>