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70" r:id="rId15"/>
    <p:sldId id="26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5" d="100"/>
          <a:sy n="45" d="100"/>
        </p:scale>
        <p:origin x="-188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162AA7-8D0B-4C82-8BCF-74441A42F1E0}" type="datetimeFigureOut">
              <a:rPr lang="en-US" smtClean="0"/>
              <a:t>05/03/25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527AC8CF-2A27-4EB3-85F7-853FF251C873}" type="slidenum">
              <a:rPr lang="en-US" smtClean="0"/>
              <a:t>‹#›</a:t>
            </a:fld>
            <a:endParaRPr 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62AA7-8D0B-4C82-8BCF-74441A42F1E0}" type="datetimeFigureOut">
              <a:rPr lang="en-US" smtClean="0"/>
              <a:t>05/03/25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162AA7-8D0B-4C82-8BCF-74441A42F1E0}" type="datetimeFigureOut">
              <a:rPr lang="en-US" smtClean="0"/>
              <a:t>05/03/25</a:t>
            </a:fld>
            <a:endParaRPr 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7AC8CF-2A27-4EB3-85F7-853FF251C873}" type="slidenum">
              <a:rPr lang="en-US" smtClean="0"/>
              <a:t>‹#›</a:t>
            </a:fld>
            <a:endParaRPr 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8162AA7-8D0B-4C82-8BCF-74441A42F1E0}" type="datetimeFigureOut">
              <a:rPr lang="en-US" smtClean="0"/>
              <a:t>05/03/25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8162AA7-8D0B-4C82-8BCF-74441A42F1E0}" type="datetimeFigureOut">
              <a:rPr lang="en-US" smtClean="0"/>
              <a:t>05/03/25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162AA7-8D0B-4C82-8BCF-74441A42F1E0}" type="datetimeFigureOut">
              <a:rPr lang="en-US" smtClean="0"/>
              <a:t>05/03/25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C8162AA7-8D0B-4C82-8BCF-74441A42F1E0}" type="datetimeFigureOut">
              <a:rPr lang="en-US" smtClean="0"/>
              <a:t>05/03/25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8162AA7-8D0B-4C82-8BCF-74441A42F1E0}" type="datetimeFigureOut">
              <a:rPr lang="en-US" smtClean="0"/>
              <a:t>05/03/25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7AC8CF-2A27-4EB3-85F7-853FF251C873}" type="slidenum">
              <a:rPr lang="en-US" smtClean="0"/>
              <a:t>‹#›</a:t>
            </a:fld>
            <a:endParaRPr 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C8162AA7-8D0B-4C82-8BCF-74441A42F1E0}" type="datetimeFigureOut">
              <a:rPr lang="en-US" smtClean="0"/>
              <a:t>05/03/25</a:t>
            </a:fld>
            <a:endParaRPr lang="en-US"/>
          </a:p>
        </p:txBody>
      </p:sp>
      <p:sp>
        <p:nvSpPr>
          <p:cNvPr id="7" name="Slide Number Placeholder 6"/>
          <p:cNvSpPr>
            <a:spLocks noGrp="1"/>
          </p:cNvSpPr>
          <p:nvPr>
            <p:ph type="sldNum" sz="quarter" idx="12"/>
          </p:nvPr>
        </p:nvSpPr>
        <p:spPr/>
        <p:txBody>
          <a:bodyPr/>
          <a:lstStyle/>
          <a:p>
            <a:fld id="{527AC8CF-2A27-4EB3-85F7-853FF251C873}" type="slidenum">
              <a:rPr lang="en-US" smtClean="0"/>
              <a:t>‹#›</a:t>
            </a:fld>
            <a:endParaRPr 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62AA7-8D0B-4C82-8BCF-74441A42F1E0}" type="datetimeFigureOut">
              <a:rPr lang="en-US" smtClean="0"/>
              <a:t>05/03/25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8162AA7-8D0B-4C82-8BCF-74441A42F1E0}" type="datetimeFigureOut">
              <a:rPr lang="en-US" smtClean="0"/>
              <a:t>05/03/25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7AC8CF-2A27-4EB3-85F7-853FF251C87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C8162AA7-8D0B-4C82-8BCF-74441A42F1E0}" type="datetimeFigureOut">
              <a:rPr lang="en-US" smtClean="0"/>
              <a:t>05/03/25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527AC8CF-2A27-4EB3-85F7-853FF251C873}" type="slidenum">
              <a:rPr lang="en-US" smtClean="0"/>
              <a:t>‹#›</a:t>
            </a:fld>
            <a:endParaRPr 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85000" lnSpcReduction="20000"/>
          </a:bodyPr>
          <a:lstStyle/>
          <a:p>
            <a:r>
              <a:rPr lang="en-US" dirty="0" smtClean="0"/>
              <a:t>Tailoring Strategy to Fit Specific Industry and Company Situations</a:t>
            </a:r>
            <a:endParaRPr lang="en-US" dirty="0"/>
          </a:p>
        </p:txBody>
      </p:sp>
      <p:sp>
        <p:nvSpPr>
          <p:cNvPr id="2" name="Title 1"/>
          <p:cNvSpPr>
            <a:spLocks noGrp="1"/>
          </p:cNvSpPr>
          <p:nvPr>
            <p:ph type="ctrTitle"/>
          </p:nvPr>
        </p:nvSpPr>
        <p:spPr/>
        <p:txBody>
          <a:bodyPr/>
          <a:lstStyle/>
          <a:p>
            <a:r>
              <a:rPr lang="en-US" dirty="0" smtClean="0"/>
              <a:t>Chapter 6</a:t>
            </a:r>
            <a:endParaRPr lang="en-US" dirty="0"/>
          </a:p>
        </p:txBody>
      </p:sp>
    </p:spTree>
    <p:extLst>
      <p:ext uri="{BB962C8B-B14F-4D97-AF65-F5344CB8AC3E}">
        <p14:creationId xmlns:p14="http://schemas.microsoft.com/office/powerpoint/2010/main" val="19784430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Emerging Industry</a:t>
            </a:r>
            <a:endParaRPr lang="en-US" dirty="0"/>
          </a:p>
        </p:txBody>
      </p:sp>
      <p:sp>
        <p:nvSpPr>
          <p:cNvPr id="3" name="TextBox 2"/>
          <p:cNvSpPr txBox="1"/>
          <p:nvPr/>
        </p:nvSpPr>
        <p:spPr>
          <a:xfrm>
            <a:off x="457200" y="1676400"/>
            <a:ext cx="8305800" cy="5078313"/>
          </a:xfrm>
          <a:prstGeom prst="rect">
            <a:avLst/>
          </a:prstGeom>
          <a:noFill/>
        </p:spPr>
        <p:txBody>
          <a:bodyPr wrap="square" rtlCol="0">
            <a:spAutoFit/>
          </a:bodyPr>
          <a:lstStyle/>
          <a:p>
            <a:pPr algn="just"/>
            <a:r>
              <a:rPr lang="en-US" sz="3600" dirty="0" smtClean="0"/>
              <a:t>An emerging industry is an industry that is in the early stages of development. The product, service or technology that the emerging industry is formed around may not be widely known by many people, and therefore may not have an operating </a:t>
            </a:r>
            <a:r>
              <a:rPr lang="en-US" sz="3600" dirty="0" smtClean="0"/>
              <a:t>system </a:t>
            </a:r>
            <a:r>
              <a:rPr lang="en-US" sz="3600" dirty="0" smtClean="0"/>
              <a:t>or a strong customer base.</a:t>
            </a:r>
            <a:endParaRPr lang="en-US" sz="3600" dirty="0"/>
          </a:p>
        </p:txBody>
      </p:sp>
    </p:spTree>
    <p:extLst>
      <p:ext uri="{BB962C8B-B14F-4D97-AF65-F5344CB8AC3E}">
        <p14:creationId xmlns:p14="http://schemas.microsoft.com/office/powerpoint/2010/main" val="29287977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of an Emerging Industry</a:t>
            </a:r>
            <a:endParaRPr lang="en-US" dirty="0"/>
          </a:p>
        </p:txBody>
      </p:sp>
      <p:sp>
        <p:nvSpPr>
          <p:cNvPr id="3" name="Content Placeholder 2"/>
          <p:cNvSpPr>
            <a:spLocks noGrp="1"/>
          </p:cNvSpPr>
          <p:nvPr>
            <p:ph idx="1"/>
          </p:nvPr>
        </p:nvSpPr>
        <p:spPr>
          <a:xfrm>
            <a:off x="228600" y="1600200"/>
            <a:ext cx="8686800" cy="4953000"/>
          </a:xfrm>
        </p:spPr>
        <p:txBody>
          <a:bodyPr>
            <a:normAutofit/>
          </a:bodyPr>
          <a:lstStyle/>
          <a:p>
            <a:pPr marL="0" indent="0" algn="just">
              <a:buNone/>
            </a:pPr>
            <a:r>
              <a:rPr lang="en-US" b="1" dirty="0" smtClean="0">
                <a:solidFill>
                  <a:schemeClr val="accent2"/>
                </a:solidFill>
              </a:rPr>
              <a:t>1.Minimal competition</a:t>
            </a:r>
          </a:p>
          <a:p>
            <a:pPr marL="0" indent="0" algn="just">
              <a:buNone/>
            </a:pPr>
            <a:r>
              <a:rPr lang="en-US" dirty="0" smtClean="0"/>
              <a:t>An industry that is in its early stage of development may only consist of a few businesses. As a result, competition among the businesses is minimal.</a:t>
            </a:r>
          </a:p>
          <a:p>
            <a:pPr marL="0" indent="0" algn="just">
              <a:buNone/>
            </a:pPr>
            <a:r>
              <a:rPr lang="en-US" b="1" dirty="0" smtClean="0">
                <a:solidFill>
                  <a:schemeClr val="accent2"/>
                </a:solidFill>
              </a:rPr>
              <a:t>2.Lots of growth potential</a:t>
            </a:r>
          </a:p>
          <a:p>
            <a:pPr marL="0" indent="0" algn="just">
              <a:buNone/>
            </a:pPr>
            <a:r>
              <a:rPr lang="en-US" dirty="0" smtClean="0"/>
              <a:t>New industries can expand the job market by creating jobs for individuals. If the industry becomes profitable, it can continue to grow and expand. For example, 3D printers and autonomous vehicles are newly-created technologies and are considered one of the latest trends in the technological world that continue to demonstrate growth potential.</a:t>
            </a:r>
          </a:p>
          <a:p>
            <a:pPr marL="0" indent="0">
              <a:buNone/>
            </a:pPr>
            <a:endParaRPr lang="en-US" dirty="0"/>
          </a:p>
        </p:txBody>
      </p:sp>
    </p:spTree>
    <p:extLst>
      <p:ext uri="{BB962C8B-B14F-4D97-AF65-F5344CB8AC3E}">
        <p14:creationId xmlns:p14="http://schemas.microsoft.com/office/powerpoint/2010/main" val="16895342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089"/>
            <a:ext cx="9144000" cy="6740307"/>
          </a:xfrm>
          <a:prstGeom prst="rect">
            <a:avLst/>
          </a:prstGeom>
          <a:noFill/>
        </p:spPr>
        <p:txBody>
          <a:bodyPr wrap="square" rtlCol="0">
            <a:spAutoFit/>
          </a:bodyPr>
          <a:lstStyle/>
          <a:p>
            <a:pPr algn="just"/>
            <a:r>
              <a:rPr lang="en-US" sz="2400" b="1" dirty="0" smtClean="0">
                <a:solidFill>
                  <a:schemeClr val="accent2"/>
                </a:solidFill>
              </a:rPr>
              <a:t>3.High risk and high </a:t>
            </a:r>
            <a:r>
              <a:rPr lang="en-US" sz="2400" b="1" dirty="0" smtClean="0">
                <a:solidFill>
                  <a:schemeClr val="accent2"/>
                </a:solidFill>
              </a:rPr>
              <a:t>instability </a:t>
            </a:r>
            <a:r>
              <a:rPr lang="en-US" sz="2400" dirty="0" smtClean="0"/>
              <a:t>Developing </a:t>
            </a:r>
            <a:r>
              <a:rPr lang="en-US" sz="2400" dirty="0" smtClean="0"/>
              <a:t>a business in an emerging industry is risky if it cannot secure enough funding to cover costs for operations. It is also difficult to find clients or consumers because they are unfamiliar with the new product, which will make them hesitant to purchase or invest in it.</a:t>
            </a:r>
          </a:p>
          <a:p>
            <a:pPr algn="just"/>
            <a:r>
              <a:rPr lang="en-US" sz="2400" b="1" dirty="0" smtClean="0">
                <a:solidFill>
                  <a:schemeClr val="accent2"/>
                </a:solidFill>
              </a:rPr>
              <a:t>4.High </a:t>
            </a:r>
            <a:r>
              <a:rPr lang="en-US" sz="2400" b="1" dirty="0" smtClean="0">
                <a:solidFill>
                  <a:schemeClr val="accent2"/>
                </a:solidFill>
              </a:rPr>
              <a:t>prices due to the absence of economies of scale</a:t>
            </a:r>
          </a:p>
          <a:p>
            <a:pPr algn="just"/>
            <a:r>
              <a:rPr lang="en-US" sz="2400" dirty="0" smtClean="0"/>
              <a:t>Businesses can achieve economies of scale when the efficiency in their production processes allows them to produce more units of a product at a lower price. Businesses in an emerging industry lack economies of scale, as they are still in the process of creating an efficient supply chain and distribution channel.</a:t>
            </a:r>
          </a:p>
          <a:p>
            <a:pPr algn="just"/>
            <a:r>
              <a:rPr lang="en-US" sz="2400" b="1" dirty="0" smtClean="0">
                <a:solidFill>
                  <a:schemeClr val="accent2"/>
                </a:solidFill>
              </a:rPr>
              <a:t>5.Low </a:t>
            </a:r>
            <a:r>
              <a:rPr lang="en-US" sz="2400" b="1" dirty="0" smtClean="0">
                <a:solidFill>
                  <a:schemeClr val="accent2"/>
                </a:solidFill>
              </a:rPr>
              <a:t>barriers to entry</a:t>
            </a:r>
          </a:p>
          <a:p>
            <a:pPr algn="just"/>
            <a:r>
              <a:rPr lang="en-US" sz="2400" dirty="0" smtClean="0"/>
              <a:t>Entry into the market may be easy because there are few competitors. As long as companies possess adequate financial resources and the knowledge to develop a similar product, they will be able to enter the market.</a:t>
            </a:r>
          </a:p>
        </p:txBody>
      </p:sp>
    </p:spTree>
    <p:extLst>
      <p:ext uri="{BB962C8B-B14F-4D97-AF65-F5344CB8AC3E}">
        <p14:creationId xmlns:p14="http://schemas.microsoft.com/office/powerpoint/2010/main" val="3827767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664" y="1"/>
            <a:ext cx="8260672" cy="838200"/>
          </a:xfrm>
        </p:spPr>
        <p:txBody>
          <a:bodyPr>
            <a:normAutofit fontScale="90000"/>
          </a:bodyPr>
          <a:lstStyle/>
          <a:p>
            <a:r>
              <a:rPr lang="en-US" dirty="0" smtClean="0"/>
              <a:t>Barriers for Emerging Industries</a:t>
            </a:r>
            <a:endParaRPr lang="en-US" dirty="0"/>
          </a:p>
        </p:txBody>
      </p:sp>
      <p:sp>
        <p:nvSpPr>
          <p:cNvPr id="3" name="TextBox 2"/>
          <p:cNvSpPr txBox="1"/>
          <p:nvPr/>
        </p:nvSpPr>
        <p:spPr>
          <a:xfrm>
            <a:off x="0" y="609600"/>
            <a:ext cx="9144000" cy="6001643"/>
          </a:xfrm>
          <a:prstGeom prst="rect">
            <a:avLst/>
          </a:prstGeom>
          <a:noFill/>
        </p:spPr>
        <p:txBody>
          <a:bodyPr wrap="square" rtlCol="0">
            <a:spAutoFit/>
          </a:bodyPr>
          <a:lstStyle/>
          <a:p>
            <a:pPr algn="just"/>
            <a:r>
              <a:rPr lang="en-US" sz="2400" b="1" dirty="0" smtClean="0">
                <a:solidFill>
                  <a:schemeClr val="accent2"/>
                </a:solidFill>
              </a:rPr>
              <a:t>1.Lack of consumer awareness and consumer loyalty</a:t>
            </a:r>
          </a:p>
          <a:p>
            <a:pPr algn="just"/>
            <a:r>
              <a:rPr lang="en-US" sz="2400" dirty="0" smtClean="0"/>
              <a:t>A vast majority of people do not have awareness of emerging industries, so the companies involved have to invest in a lot of marketing to help potential consumers become familiar with the advantages of the new products or services.</a:t>
            </a:r>
          </a:p>
          <a:p>
            <a:pPr algn="just"/>
            <a:r>
              <a:rPr lang="en-US" sz="2400" b="1" dirty="0" smtClean="0">
                <a:solidFill>
                  <a:schemeClr val="accent2"/>
                </a:solidFill>
              </a:rPr>
              <a:t>2.Lack </a:t>
            </a:r>
            <a:r>
              <a:rPr lang="en-US" sz="2400" b="1" dirty="0" smtClean="0">
                <a:solidFill>
                  <a:schemeClr val="accent2"/>
                </a:solidFill>
              </a:rPr>
              <a:t>of financing</a:t>
            </a:r>
          </a:p>
          <a:p>
            <a:pPr algn="just"/>
            <a:r>
              <a:rPr lang="en-US" sz="2400" dirty="0" smtClean="0"/>
              <a:t>Investors may be reluctant to invest in an industry that is not yet fully developed, as there are larger financial risks associated with these companies..</a:t>
            </a:r>
          </a:p>
          <a:p>
            <a:pPr algn="just"/>
            <a:r>
              <a:rPr lang="en-US" sz="2400" dirty="0" smtClean="0"/>
              <a:t>However, entrepreneurs are gaining access to a growing number of capital sources in recent years. For example, venture capital is a form of private equity financing that is popular for new businesses. Several exchange-traded funds (ETFs) are also established for the purpose of financially supporting emerging industries.</a:t>
            </a:r>
            <a:endParaRPr lang="en-US" sz="2400" dirty="0"/>
          </a:p>
        </p:txBody>
      </p:sp>
    </p:spTree>
    <p:extLst>
      <p:ext uri="{BB962C8B-B14F-4D97-AF65-F5344CB8AC3E}">
        <p14:creationId xmlns:p14="http://schemas.microsoft.com/office/powerpoint/2010/main" val="19090552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763000" cy="5632311"/>
          </a:xfrm>
          <a:prstGeom prst="rect">
            <a:avLst/>
          </a:prstGeom>
          <a:noFill/>
        </p:spPr>
        <p:txBody>
          <a:bodyPr wrap="square" rtlCol="0">
            <a:spAutoFit/>
          </a:bodyPr>
          <a:lstStyle/>
          <a:p>
            <a:r>
              <a:rPr lang="en-US" sz="2400" b="1" dirty="0" smtClean="0">
                <a:solidFill>
                  <a:schemeClr val="accent2"/>
                </a:solidFill>
              </a:rPr>
              <a:t>3.Restrictions and regulations</a:t>
            </a:r>
          </a:p>
          <a:p>
            <a:r>
              <a:rPr lang="en-US" sz="2400" dirty="0" smtClean="0"/>
              <a:t>Since the industry is new and unfamiliar, the government may impose restrictions or regulations on business activities. It may prevent businesses from operating efficiently.</a:t>
            </a:r>
          </a:p>
          <a:p>
            <a:endParaRPr lang="en-US" sz="2400" dirty="0" smtClean="0"/>
          </a:p>
          <a:p>
            <a:r>
              <a:rPr lang="en-US" sz="2400" b="1" dirty="0" smtClean="0">
                <a:solidFill>
                  <a:schemeClr val="accent2"/>
                </a:solidFill>
              </a:rPr>
              <a:t>4.High costs of research and development</a:t>
            </a:r>
            <a:r>
              <a:rPr lang="en-US" sz="2400" dirty="0" smtClean="0"/>
              <a:t>.</a:t>
            </a:r>
          </a:p>
          <a:p>
            <a:r>
              <a:rPr lang="en-US" sz="2400" dirty="0" smtClean="0"/>
              <a:t>New businesses may not possess adequate personnel, resources, and knowledge to establish a new product. Therefore, they need to spend a lot on research and development.</a:t>
            </a:r>
          </a:p>
          <a:p>
            <a:endParaRPr lang="en-US" sz="2400" dirty="0" smtClean="0"/>
          </a:p>
          <a:p>
            <a:r>
              <a:rPr lang="en-US" sz="2400" b="1" dirty="0" smtClean="0">
                <a:solidFill>
                  <a:schemeClr val="accent2"/>
                </a:solidFill>
              </a:rPr>
              <a:t>5.Lack of suppliers</a:t>
            </a:r>
          </a:p>
          <a:p>
            <a:r>
              <a:rPr lang="en-US" sz="2400" dirty="0" smtClean="0"/>
              <a:t>Depending on what the product is, it may be difficult for suppliers to find sufficient raw materials for businesses to make the product. Therefore, suppliers may be reluctant to work with a business due to the level of difficulty in sourcing the right raw materials</a:t>
            </a:r>
            <a:r>
              <a:rPr lang="en-US" dirty="0" smtClean="0"/>
              <a:t>.</a:t>
            </a:r>
            <a:endParaRPr lang="en-US" dirty="0"/>
          </a:p>
        </p:txBody>
      </p:sp>
    </p:spTree>
    <p:extLst>
      <p:ext uri="{BB962C8B-B14F-4D97-AF65-F5344CB8AC3E}">
        <p14:creationId xmlns:p14="http://schemas.microsoft.com/office/powerpoint/2010/main" val="35846380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664" y="0"/>
            <a:ext cx="8260672" cy="1039427"/>
          </a:xfrm>
        </p:spPr>
        <p:txBody>
          <a:bodyPr>
            <a:normAutofit fontScale="90000"/>
          </a:bodyPr>
          <a:lstStyle/>
          <a:p>
            <a:r>
              <a:rPr lang="en-US" dirty="0" smtClean="0"/>
              <a:t>Potential Strategies for Emerging Industries</a:t>
            </a:r>
            <a:endParaRPr lang="en-US" dirty="0"/>
          </a:p>
        </p:txBody>
      </p:sp>
      <p:sp>
        <p:nvSpPr>
          <p:cNvPr id="3" name="TextBox 2"/>
          <p:cNvSpPr txBox="1"/>
          <p:nvPr/>
        </p:nvSpPr>
        <p:spPr>
          <a:xfrm>
            <a:off x="152400" y="1137684"/>
            <a:ext cx="8839200" cy="4955203"/>
          </a:xfrm>
          <a:prstGeom prst="rect">
            <a:avLst/>
          </a:prstGeom>
          <a:noFill/>
        </p:spPr>
        <p:txBody>
          <a:bodyPr wrap="square" rtlCol="0">
            <a:spAutoFit/>
          </a:bodyPr>
          <a:lstStyle/>
          <a:p>
            <a:pPr algn="just"/>
            <a:r>
              <a:rPr lang="en-US" sz="2400" b="1" dirty="0" smtClean="0">
                <a:solidFill>
                  <a:schemeClr val="accent2"/>
                </a:solidFill>
              </a:rPr>
              <a:t>1.Low-cost</a:t>
            </a:r>
          </a:p>
          <a:p>
            <a:pPr algn="just"/>
            <a:r>
              <a:rPr lang="en-US" sz="2000" dirty="0" smtClean="0"/>
              <a:t>A low-cost strategy for businesses to gain an advantage in the market by offering low prices in comparison to their competitors. Doing so can increase consumer demand, which can help the business increase revenue.</a:t>
            </a:r>
          </a:p>
          <a:p>
            <a:pPr algn="just"/>
            <a:r>
              <a:rPr lang="en-US" sz="2400" b="1" dirty="0" smtClean="0">
                <a:solidFill>
                  <a:schemeClr val="accent2"/>
                </a:solidFill>
              </a:rPr>
              <a:t>2.Differentiation</a:t>
            </a:r>
          </a:p>
          <a:p>
            <a:pPr algn="just"/>
            <a:r>
              <a:rPr lang="en-US" sz="2000" dirty="0" smtClean="0"/>
              <a:t>Companies can aim to provide products that are unique and different. It will set them apart from their competitors and gain a competitive advantage.</a:t>
            </a:r>
          </a:p>
          <a:p>
            <a:pPr algn="just"/>
            <a:r>
              <a:rPr lang="en-US" sz="2400" b="1" dirty="0" smtClean="0">
                <a:solidFill>
                  <a:schemeClr val="accent2"/>
                </a:solidFill>
              </a:rPr>
              <a:t>3.Strategic alliance</a:t>
            </a:r>
          </a:p>
          <a:p>
            <a:pPr algn="just"/>
            <a:r>
              <a:rPr lang="en-US" sz="2000" dirty="0" smtClean="0"/>
              <a:t>Two or more companies can form a partnership to produce a new product together. Instead of being a competitor with each other, companies can work with each other to increase profits.</a:t>
            </a:r>
          </a:p>
          <a:p>
            <a:pPr algn="just"/>
            <a:r>
              <a:rPr lang="en-US" sz="2400" b="1" dirty="0" smtClean="0">
                <a:solidFill>
                  <a:schemeClr val="accent2"/>
                </a:solidFill>
              </a:rPr>
              <a:t>4.Joint venture</a:t>
            </a:r>
          </a:p>
          <a:p>
            <a:pPr algn="just"/>
            <a:r>
              <a:rPr lang="en-US" sz="2000" dirty="0" smtClean="0"/>
              <a:t>A joint venture involves at least two companies coming together to form a separate business entity to combine assets, resources, and operations. Doing so allows companies to access a bigger market and share financial risks.</a:t>
            </a:r>
            <a:endParaRPr lang="en-US" sz="2000" dirty="0"/>
          </a:p>
        </p:txBody>
      </p:sp>
    </p:spTree>
    <p:extLst>
      <p:ext uri="{BB962C8B-B14F-4D97-AF65-F5344CB8AC3E}">
        <p14:creationId xmlns:p14="http://schemas.microsoft.com/office/powerpoint/2010/main" val="26321556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Industry Life Cycle?</a:t>
            </a:r>
            <a:endParaRPr lang="en-US" dirty="0"/>
          </a:p>
        </p:txBody>
      </p:sp>
      <p:sp>
        <p:nvSpPr>
          <p:cNvPr id="3" name="TextBox 2"/>
          <p:cNvSpPr txBox="1"/>
          <p:nvPr/>
        </p:nvSpPr>
        <p:spPr>
          <a:xfrm>
            <a:off x="152400" y="1447800"/>
            <a:ext cx="8763000" cy="5078313"/>
          </a:xfrm>
          <a:prstGeom prst="rect">
            <a:avLst/>
          </a:prstGeom>
          <a:noFill/>
        </p:spPr>
        <p:txBody>
          <a:bodyPr wrap="square" rtlCol="0">
            <a:spAutoFit/>
          </a:bodyPr>
          <a:lstStyle/>
          <a:p>
            <a:pPr algn="just"/>
            <a:r>
              <a:rPr lang="en-US" sz="3200" dirty="0" smtClean="0"/>
              <a:t>The industry life cycle refers to the life cycle portraying different stages an industry experiences during its life. The four common phases are introduction, growth, maturity, and decline. </a:t>
            </a:r>
            <a:r>
              <a:rPr lang="en-US" sz="3200" dirty="0"/>
              <a:t>The industry life cycle represents the different stages in the lifespan of an industry, indicating the emergence, rise, and decline in </a:t>
            </a:r>
            <a:r>
              <a:rPr lang="en-US" sz="3200" dirty="0" smtClean="0"/>
              <a:t>popularity. There </a:t>
            </a:r>
            <a:r>
              <a:rPr lang="en-US" sz="3200" dirty="0"/>
              <a:t>are primarily four stages: introduction, growth, maturity, and decline.</a:t>
            </a:r>
          </a:p>
          <a:p>
            <a:pPr algn="just"/>
            <a:endParaRPr lang="en-US" dirty="0" smtClean="0"/>
          </a:p>
          <a:p>
            <a:pPr algn="just"/>
            <a:endParaRPr lang="en-US" dirty="0"/>
          </a:p>
        </p:txBody>
      </p:sp>
    </p:spTree>
    <p:extLst>
      <p:ext uri="{BB962C8B-B14F-4D97-AF65-F5344CB8AC3E}">
        <p14:creationId xmlns:p14="http://schemas.microsoft.com/office/powerpoint/2010/main" val="16033405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Industry Life Cycle</a:t>
            </a:r>
            <a:endParaRPr lang="en-US" dirty="0"/>
          </a:p>
        </p:txBody>
      </p:sp>
      <p:sp>
        <p:nvSpPr>
          <p:cNvPr id="3" name="TextBox 2"/>
          <p:cNvSpPr txBox="1"/>
          <p:nvPr/>
        </p:nvSpPr>
        <p:spPr>
          <a:xfrm>
            <a:off x="152400" y="1600200"/>
            <a:ext cx="8991600" cy="1477328"/>
          </a:xfrm>
          <a:prstGeom prst="rect">
            <a:avLst/>
          </a:prstGeom>
          <a:noFill/>
        </p:spPr>
        <p:txBody>
          <a:bodyPr wrap="square" rtlCol="0">
            <a:spAutoFit/>
          </a:bodyPr>
          <a:lstStyle/>
          <a:p>
            <a:pPr algn="just"/>
            <a:r>
              <a:rPr lang="en-US" dirty="0" smtClean="0"/>
              <a:t>The industry life cycle model applies to most industries where businesses experience the four stages of the cycle. The entities enter the cycle when they develop an idea and then traverse the life cycle. Let’s look into the four stages of the life cycle.</a:t>
            </a:r>
          </a:p>
          <a:p>
            <a:pPr algn="just"/>
            <a:endParaRPr lang="en-US" dirty="0"/>
          </a:p>
          <a:p>
            <a:pPr algn="just"/>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590800"/>
            <a:ext cx="563324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92351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8479"/>
            <a:ext cx="9144000" cy="6494085"/>
          </a:xfrm>
          <a:prstGeom prst="rect">
            <a:avLst/>
          </a:prstGeom>
          <a:noFill/>
        </p:spPr>
        <p:txBody>
          <a:bodyPr wrap="square" rtlCol="0">
            <a:spAutoFit/>
          </a:bodyPr>
          <a:lstStyle/>
          <a:p>
            <a:r>
              <a:rPr lang="en-US" sz="3200" b="1" dirty="0" smtClean="0">
                <a:solidFill>
                  <a:schemeClr val="accent2"/>
                </a:solidFill>
              </a:rPr>
              <a:t>1. Introduction</a:t>
            </a:r>
          </a:p>
          <a:p>
            <a:pPr algn="just"/>
            <a:r>
              <a:rPr lang="en-US" sz="3200" dirty="0" smtClean="0"/>
              <a:t>The introduction is the starting phase of the life cycle where a new product, service, idea, or solution to a persistent problem is introduced in the market. Since it is new to the market, the level of demand, sales, and revenue is low, potential consumers are not aware of it, the product may not be a complete version, and requires wide-reaching advertisements. Most of the aspects of the new industry will be in uncertain categories like target market and business model to follow to fit in the industry</a:t>
            </a:r>
            <a:r>
              <a:rPr lang="en-US" sz="3200" dirty="0" smtClean="0"/>
              <a:t>.</a:t>
            </a:r>
            <a:endParaRPr lang="en-US" sz="3200" dirty="0" smtClean="0"/>
          </a:p>
        </p:txBody>
      </p:sp>
    </p:spTree>
    <p:extLst>
      <p:ext uri="{BB962C8B-B14F-4D97-AF65-F5344CB8AC3E}">
        <p14:creationId xmlns:p14="http://schemas.microsoft.com/office/powerpoint/2010/main" val="19555176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915400" cy="6001643"/>
          </a:xfrm>
          <a:prstGeom prst="rect">
            <a:avLst/>
          </a:prstGeom>
          <a:noFill/>
        </p:spPr>
        <p:txBody>
          <a:bodyPr wrap="square" rtlCol="0">
            <a:spAutoFit/>
          </a:bodyPr>
          <a:lstStyle/>
          <a:p>
            <a:pPr algn="just"/>
            <a:r>
              <a:rPr lang="en-US" sz="3200" dirty="0"/>
              <a:t>Some of the defining factors that the industry exhibits at its introduction phases are as follows:</a:t>
            </a:r>
          </a:p>
          <a:p>
            <a:pPr marL="342900" indent="-342900" algn="just">
              <a:buFont typeface="Wingdings" pitchFamily="2" charset="2"/>
              <a:buChar char="v"/>
            </a:pPr>
            <a:r>
              <a:rPr lang="en-US" sz="3200" dirty="0"/>
              <a:t>Few innovators are creating the industry</a:t>
            </a:r>
          </a:p>
          <a:p>
            <a:pPr marL="342900" indent="-342900" algn="just">
              <a:buFont typeface="Wingdings" pitchFamily="2" charset="2"/>
              <a:buChar char="v"/>
            </a:pPr>
            <a:r>
              <a:rPr lang="en-US" sz="3200" dirty="0"/>
              <a:t>Competitors, substitute products, or complementary goods are less</a:t>
            </a:r>
          </a:p>
          <a:p>
            <a:pPr marL="342900" indent="-342900" algn="just">
              <a:buFont typeface="Wingdings" pitchFamily="2" charset="2"/>
              <a:buChar char="v"/>
            </a:pPr>
            <a:r>
              <a:rPr lang="en-US" sz="3200" dirty="0"/>
              <a:t>The industry works to reach out to as many people as possible</a:t>
            </a:r>
          </a:p>
          <a:p>
            <a:pPr marL="342900" indent="-342900" algn="just">
              <a:buFont typeface="Wingdings" pitchFamily="2" charset="2"/>
              <a:buChar char="v"/>
            </a:pPr>
            <a:r>
              <a:rPr lang="en-US" sz="3200" dirty="0"/>
              <a:t>Marketing and advertising are done aggressively to create awareness</a:t>
            </a:r>
          </a:p>
          <a:p>
            <a:pPr marL="342900" indent="-342900" algn="just">
              <a:buFont typeface="Wingdings" pitchFamily="2" charset="2"/>
              <a:buChar char="v"/>
            </a:pPr>
            <a:r>
              <a:rPr lang="en-US" sz="3200" dirty="0"/>
              <a:t>Discounts offers and rewards are given to the product to attract customers</a:t>
            </a:r>
            <a:r>
              <a:rPr lang="en-US" dirty="0"/>
              <a:t>.</a:t>
            </a:r>
          </a:p>
        </p:txBody>
      </p:sp>
    </p:spTree>
    <p:extLst>
      <p:ext uri="{BB962C8B-B14F-4D97-AF65-F5344CB8AC3E}">
        <p14:creationId xmlns:p14="http://schemas.microsoft.com/office/powerpoint/2010/main" val="5304061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2400"/>
            <a:ext cx="9144000" cy="7078861"/>
          </a:xfrm>
          <a:prstGeom prst="rect">
            <a:avLst/>
          </a:prstGeom>
          <a:noFill/>
        </p:spPr>
        <p:txBody>
          <a:bodyPr wrap="square" rtlCol="0">
            <a:spAutoFit/>
          </a:bodyPr>
          <a:lstStyle/>
          <a:p>
            <a:pPr algn="just"/>
            <a:r>
              <a:rPr lang="en-US" sz="2800" b="1" dirty="0" smtClean="0">
                <a:solidFill>
                  <a:schemeClr val="accent2"/>
                </a:solidFill>
              </a:rPr>
              <a:t>2.Growth</a:t>
            </a:r>
          </a:p>
          <a:p>
            <a:pPr algn="just"/>
            <a:r>
              <a:rPr lang="en-US" sz="2400" dirty="0" smtClean="0"/>
              <a:t>The second stage of the Industry life cycle is the growth phase. During the growth phase, consumers start to identify and show interest in the industry's offerings. The supply and demand increase. Companies grow organically; they gain and increase market share.</a:t>
            </a:r>
          </a:p>
          <a:p>
            <a:pPr algn="just"/>
            <a:r>
              <a:rPr lang="en-US" sz="2400" dirty="0" smtClean="0"/>
              <a:t>A dynamic environment is not uncommon for the industries during the growth stage. Also, the atmosphere is filled with opportunities, pro activeness specifically in the strategy-making process, is crucial for growth. The companies in the industry now have appropriate business models and process</a:t>
            </a:r>
            <a:r>
              <a:rPr lang="en-US" sz="2400" dirty="0" smtClean="0"/>
              <a:t>.</a:t>
            </a:r>
            <a:endParaRPr lang="en-US" sz="2400" dirty="0" smtClean="0"/>
          </a:p>
          <a:p>
            <a:pPr marL="285750" indent="-285750" algn="just">
              <a:buFont typeface="Wingdings" pitchFamily="2" charset="2"/>
              <a:buChar char="v"/>
            </a:pPr>
            <a:r>
              <a:rPr lang="en-US" sz="2400" dirty="0" smtClean="0"/>
              <a:t>Spend of research and development</a:t>
            </a:r>
          </a:p>
          <a:p>
            <a:pPr marL="285750" indent="-285750" algn="just">
              <a:buFont typeface="Wingdings" pitchFamily="2" charset="2"/>
              <a:buChar char="v"/>
            </a:pPr>
            <a:r>
              <a:rPr lang="en-US" sz="2400" dirty="0" smtClean="0"/>
              <a:t>Producers try to optimize the existing offerings</a:t>
            </a:r>
          </a:p>
          <a:p>
            <a:pPr marL="285750" indent="-285750" algn="just">
              <a:buFont typeface="Wingdings" pitchFamily="2" charset="2"/>
              <a:buChar char="v"/>
            </a:pPr>
            <a:r>
              <a:rPr lang="en-US" sz="2400" dirty="0" smtClean="0"/>
              <a:t>Focus on organic growth &amp; geographical growth</a:t>
            </a:r>
          </a:p>
          <a:p>
            <a:pPr marL="285750" indent="-285750" algn="just">
              <a:buFont typeface="Wingdings" pitchFamily="2" charset="2"/>
              <a:buChar char="v"/>
            </a:pPr>
            <a:r>
              <a:rPr lang="en-US" sz="2400" dirty="0" smtClean="0"/>
              <a:t>Complementary and supplementary goods emerge</a:t>
            </a:r>
          </a:p>
          <a:p>
            <a:pPr marL="285750" indent="-285750" algn="just">
              <a:buFont typeface="Wingdings" pitchFamily="2" charset="2"/>
              <a:buChar char="v"/>
            </a:pPr>
            <a:r>
              <a:rPr lang="en-US" sz="2400" dirty="0" smtClean="0"/>
              <a:t>Investment increases</a:t>
            </a:r>
          </a:p>
          <a:p>
            <a:pPr marL="285750" indent="-285750" algn="just">
              <a:buFont typeface="Wingdings" pitchFamily="2" charset="2"/>
              <a:buChar char="v"/>
            </a:pPr>
            <a:r>
              <a:rPr lang="en-US" sz="2400" dirty="0" smtClean="0"/>
              <a:t>Profit starts rising</a:t>
            </a:r>
          </a:p>
          <a:p>
            <a:endParaRPr lang="en-US" dirty="0"/>
          </a:p>
        </p:txBody>
      </p:sp>
    </p:spTree>
    <p:extLst>
      <p:ext uri="{BB962C8B-B14F-4D97-AF65-F5344CB8AC3E}">
        <p14:creationId xmlns:p14="http://schemas.microsoft.com/office/powerpoint/2010/main" val="17734174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8600"/>
            <a:ext cx="9144000" cy="6186309"/>
          </a:xfrm>
          <a:prstGeom prst="rect">
            <a:avLst/>
          </a:prstGeom>
          <a:noFill/>
        </p:spPr>
        <p:txBody>
          <a:bodyPr wrap="square" rtlCol="0">
            <a:spAutoFit/>
          </a:bodyPr>
          <a:lstStyle/>
          <a:p>
            <a:r>
              <a:rPr lang="en-US" sz="3600" b="1" dirty="0" smtClean="0">
                <a:solidFill>
                  <a:schemeClr val="accent2"/>
                </a:solidFill>
              </a:rPr>
              <a:t>3.Maturity</a:t>
            </a:r>
          </a:p>
          <a:p>
            <a:pPr algn="just"/>
            <a:r>
              <a:rPr lang="en-US" sz="3600" dirty="0" smtClean="0"/>
              <a:t>The maturity phase follows the growth phase. The focus shifted from growth to increasing the cash flow and revenue through the appropriate strategies. They don’t have to spend on R&amp;D or marketing, but competition is intense at this phase. To confront the competition, firms resort to strategies like mergers and acquisitions, economies of scale, cost reduction, competitive pricing, etc</a:t>
            </a:r>
            <a:r>
              <a:rPr lang="en-US" sz="3600" dirty="0" smtClean="0"/>
              <a:t>.</a:t>
            </a:r>
            <a:endParaRPr lang="en-US" sz="3600" dirty="0"/>
          </a:p>
        </p:txBody>
      </p:sp>
    </p:spTree>
    <p:extLst>
      <p:ext uri="{BB962C8B-B14F-4D97-AF65-F5344CB8AC3E}">
        <p14:creationId xmlns:p14="http://schemas.microsoft.com/office/powerpoint/2010/main" val="31634782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91600" cy="5509200"/>
          </a:xfrm>
          <a:prstGeom prst="rect">
            <a:avLst/>
          </a:prstGeom>
          <a:noFill/>
        </p:spPr>
        <p:txBody>
          <a:bodyPr wrap="square" rtlCol="0">
            <a:spAutoFit/>
          </a:bodyPr>
          <a:lstStyle/>
          <a:p>
            <a:pPr algn="just"/>
            <a:endParaRPr lang="en-US" sz="3200" dirty="0"/>
          </a:p>
          <a:p>
            <a:pPr marL="457200" indent="-457200">
              <a:buFont typeface="Wingdings" pitchFamily="2" charset="2"/>
              <a:buChar char="v"/>
            </a:pPr>
            <a:r>
              <a:rPr lang="en-US" sz="3200" dirty="0"/>
              <a:t>The industry is leading and enjoys maximum profit</a:t>
            </a:r>
          </a:p>
          <a:p>
            <a:pPr marL="457200" indent="-457200">
              <a:buFont typeface="Wingdings" pitchFamily="2" charset="2"/>
              <a:buChar char="v"/>
            </a:pPr>
            <a:r>
              <a:rPr lang="en-US" sz="3200" dirty="0"/>
              <a:t>Rate of growth slowdown representing the shakeout stage</a:t>
            </a:r>
          </a:p>
          <a:p>
            <a:pPr marL="457200" indent="-457200">
              <a:buFont typeface="Wingdings" pitchFamily="2" charset="2"/>
              <a:buChar char="v"/>
            </a:pPr>
            <a:r>
              <a:rPr lang="en-US" sz="3200" dirty="0"/>
              <a:t>Intense competitive pressure and resources are constrained</a:t>
            </a:r>
          </a:p>
          <a:p>
            <a:pPr marL="457200" indent="-457200">
              <a:buFont typeface="Wingdings" pitchFamily="2" charset="2"/>
              <a:buChar char="v"/>
            </a:pPr>
            <a:r>
              <a:rPr lang="en-US" sz="3200" dirty="0"/>
              <a:t>Dominant designs or improvisations occurs, adding more stress to compete</a:t>
            </a:r>
          </a:p>
          <a:p>
            <a:pPr marL="457200" indent="-457200">
              <a:buFont typeface="Wingdings" pitchFamily="2" charset="2"/>
              <a:buChar char="v"/>
            </a:pPr>
            <a:r>
              <a:rPr lang="en-US" sz="3200" dirty="0"/>
              <a:t>Competitively aggressive firms exhibit high performance</a:t>
            </a:r>
            <a:endParaRPr lang="en-US" sz="3200" dirty="0"/>
          </a:p>
        </p:txBody>
      </p:sp>
    </p:spTree>
    <p:extLst>
      <p:ext uri="{BB962C8B-B14F-4D97-AF65-F5344CB8AC3E}">
        <p14:creationId xmlns:p14="http://schemas.microsoft.com/office/powerpoint/2010/main" val="26526659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42" y="0"/>
            <a:ext cx="9144000" cy="6124754"/>
          </a:xfrm>
          <a:prstGeom prst="rect">
            <a:avLst/>
          </a:prstGeom>
          <a:noFill/>
        </p:spPr>
        <p:txBody>
          <a:bodyPr wrap="square" rtlCol="0">
            <a:spAutoFit/>
          </a:bodyPr>
          <a:lstStyle/>
          <a:p>
            <a:pPr algn="just"/>
            <a:r>
              <a:rPr lang="en-US" sz="2800" b="1" dirty="0" smtClean="0">
                <a:solidFill>
                  <a:schemeClr val="accent2"/>
                </a:solidFill>
              </a:rPr>
              <a:t>Decline</a:t>
            </a:r>
          </a:p>
          <a:p>
            <a:pPr algn="just"/>
            <a:r>
              <a:rPr lang="en-US" sz="2800" dirty="0" smtClean="0"/>
              <a:t>After experiencing growth and maturity, the industry moves to a declining phase. At this phase, many companies in the industry face difficulty surviving or prolonging the successful period due to no growth and intense competition. Therefore, they have to find strategies apt for the phase to sustain.</a:t>
            </a:r>
          </a:p>
          <a:p>
            <a:pPr marL="457200" indent="-457200" algn="just">
              <a:buFont typeface="Wingdings" pitchFamily="2" charset="2"/>
              <a:buChar char="v"/>
            </a:pPr>
            <a:r>
              <a:rPr lang="en-US" sz="2800" dirty="0" smtClean="0"/>
              <a:t>The weaker competitors are forced out of the market</a:t>
            </a:r>
          </a:p>
          <a:p>
            <a:pPr marL="457200" indent="-457200" algn="just">
              <a:buFont typeface="Wingdings" pitchFamily="2" charset="2"/>
              <a:buChar char="v"/>
            </a:pPr>
            <a:r>
              <a:rPr lang="en-US" sz="2800" dirty="0" smtClean="0"/>
              <a:t>May witness a steep fall in income </a:t>
            </a:r>
          </a:p>
          <a:p>
            <a:pPr marL="457200" indent="-457200" algn="just">
              <a:buFont typeface="Wingdings" pitchFamily="2" charset="2"/>
              <a:buChar char="v"/>
            </a:pPr>
            <a:r>
              <a:rPr lang="en-US" sz="2800" dirty="0" smtClean="0"/>
              <a:t>The negative impact of factors like market competition, substitutes, consumer behavior, consumer psychology signifies</a:t>
            </a:r>
          </a:p>
          <a:p>
            <a:pPr marL="457200" indent="-457200" algn="just">
              <a:buFont typeface="Wingdings" pitchFamily="2" charset="2"/>
              <a:buChar char="v"/>
            </a:pPr>
            <a:r>
              <a:rPr lang="en-US" sz="2800" dirty="0" smtClean="0"/>
              <a:t>The decline phase can be delayed using rebranding techniques, large-scale improvements, and attractive rewards</a:t>
            </a:r>
            <a:endParaRPr lang="en-US" sz="2800" dirty="0"/>
          </a:p>
        </p:txBody>
      </p:sp>
    </p:spTree>
    <p:extLst>
      <p:ext uri="{BB962C8B-B14F-4D97-AF65-F5344CB8AC3E}">
        <p14:creationId xmlns:p14="http://schemas.microsoft.com/office/powerpoint/2010/main" val="1123822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99</TotalTime>
  <Words>1368</Words>
  <Application>Microsoft Office PowerPoint</Application>
  <PresentationFormat>On-screen Show (4:3)</PresentationFormat>
  <Paragraphs>72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Apothecary</vt:lpstr>
      <vt:lpstr>Chapter 6</vt:lpstr>
      <vt:lpstr>Emerging Industry</vt:lpstr>
      <vt:lpstr>Characteristics of an Emerging Industry</vt:lpstr>
      <vt:lpstr>PowerPoint Presentation</vt:lpstr>
      <vt:lpstr>Barriers for Emerging Industries</vt:lpstr>
      <vt:lpstr>PowerPoint Presentation</vt:lpstr>
      <vt:lpstr>Potential Strategies for Emerging Industries</vt:lpstr>
      <vt:lpstr>What is Industry Life Cycle?</vt:lpstr>
      <vt:lpstr>Stages of Industry Life Cycle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Sraboni</dc:creator>
  <cp:lastModifiedBy>Sraboni</cp:lastModifiedBy>
  <cp:revision>7</cp:revision>
  <dcterms:created xsi:type="dcterms:W3CDTF">2025-05-02T07:05:52Z</dcterms:created>
  <dcterms:modified xsi:type="dcterms:W3CDTF">2025-05-03T05:03:38Z</dcterms:modified>
</cp:coreProperties>
</file>