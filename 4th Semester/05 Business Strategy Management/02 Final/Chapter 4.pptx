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67" r:id="rId14"/>
    <p:sldId id="271"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A7376FD-032B-4F76-918E-38EE7E0E6CE7}" type="datetimeFigureOut">
              <a:rPr lang="en-US" smtClean="0"/>
              <a:t>2/15/2025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1555107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7376FD-032B-4F76-918E-38EE7E0E6CE7}"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2319761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7376FD-032B-4F76-918E-38EE7E0E6CE7}"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3716875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7376FD-032B-4F76-918E-38EE7E0E6CE7}" type="datetimeFigureOut">
              <a:rPr lang="en-US" smtClean="0"/>
              <a:t>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1160845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A7376FD-032B-4F76-918E-38EE7E0E6CE7}" type="datetimeFigureOut">
              <a:rPr lang="en-US" smtClean="0"/>
              <a:t>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3952701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A7376FD-032B-4F76-918E-38EE7E0E6CE7}" type="datetimeFigureOut">
              <a:rPr lang="en-US" smtClean="0"/>
              <a:t>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2593670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7376FD-032B-4F76-918E-38EE7E0E6CE7}" type="datetimeFigureOut">
              <a:rPr lang="en-US" smtClean="0"/>
              <a:t>2/15/2025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51082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7376FD-032B-4F76-918E-38EE7E0E6CE7}" type="datetimeFigureOut">
              <a:rPr lang="en-US" smtClean="0"/>
              <a:t>2/15/2025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1791014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7376FD-032B-4F76-918E-38EE7E0E6CE7}" type="datetimeFigureOut">
              <a:rPr lang="en-US" smtClean="0"/>
              <a:t>2/15/2025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2510935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7376FD-032B-4F76-918E-38EE7E0E6CE7}" type="datetimeFigureOut">
              <a:rPr lang="en-US" smtClean="0"/>
              <a:t>2/15/2025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2658124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A7376FD-032B-4F76-918E-38EE7E0E6CE7}"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3310647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A7376FD-032B-4F76-918E-38EE7E0E6CE7}"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24375864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7376FD-032B-4F76-918E-38EE7E0E6CE7}"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32651858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A7376FD-032B-4F76-918E-38EE7E0E6CE7}" type="datetimeFigureOut">
              <a:rPr lang="en-US" smtClean="0"/>
              <a:t>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2251120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A7376FD-032B-4F76-918E-38EE7E0E6CE7}" type="datetimeFigureOut">
              <a:rPr lang="en-US" smtClean="0"/>
              <a:t>2/15/2025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30519887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A7376FD-032B-4F76-918E-38EE7E0E6CE7}"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12576989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A7376FD-032B-4F76-918E-38EE7E0E6CE7}"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D76BCF3-3FE9-494A-9151-21B7D51ECAE5}" type="slidenum">
              <a:rPr lang="en-US" smtClean="0"/>
              <a:t>‹#›</a:t>
            </a:fld>
            <a:endParaRPr lang="en-US"/>
          </a:p>
        </p:txBody>
      </p:sp>
    </p:spTree>
    <p:extLst>
      <p:ext uri="{BB962C8B-B14F-4D97-AF65-F5344CB8AC3E}">
        <p14:creationId xmlns:p14="http://schemas.microsoft.com/office/powerpoint/2010/main" val="2631786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A7376FD-032B-4F76-918E-38EE7E0E6CE7}" type="datetimeFigureOut">
              <a:rPr lang="en-US" smtClean="0"/>
              <a:t>2/15/2025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D76BCF3-3FE9-494A-9151-21B7D51ECAE5}" type="slidenum">
              <a:rPr lang="en-US" smtClean="0"/>
              <a:t>‹#›</a:t>
            </a:fld>
            <a:endParaRPr lang="en-US"/>
          </a:p>
        </p:txBody>
      </p:sp>
    </p:spTree>
    <p:extLst>
      <p:ext uri="{BB962C8B-B14F-4D97-AF65-F5344CB8AC3E}">
        <p14:creationId xmlns:p14="http://schemas.microsoft.com/office/powerpoint/2010/main" val="24211779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65F48-7C1E-4F37-5D8B-CA58B1896F18}"/>
              </a:ext>
            </a:extLst>
          </p:cNvPr>
          <p:cNvSpPr>
            <a:spLocks noGrp="1"/>
          </p:cNvSpPr>
          <p:nvPr>
            <p:ph type="ctrTitle"/>
          </p:nvPr>
        </p:nvSpPr>
        <p:spPr/>
        <p:txBody>
          <a:bodyPr/>
          <a:lstStyle/>
          <a:p>
            <a:r>
              <a:rPr lang="en-US" dirty="0"/>
              <a:t>Chapter 4 </a:t>
            </a:r>
          </a:p>
        </p:txBody>
      </p:sp>
      <p:sp>
        <p:nvSpPr>
          <p:cNvPr id="3" name="Subtitle 2">
            <a:extLst>
              <a:ext uri="{FF2B5EF4-FFF2-40B4-BE49-F238E27FC236}">
                <a16:creationId xmlns:a16="http://schemas.microsoft.com/office/drawing/2014/main" id="{0AE49E78-C4F3-7DD7-CBC6-B9AE3A4EB839}"/>
              </a:ext>
            </a:extLst>
          </p:cNvPr>
          <p:cNvSpPr>
            <a:spLocks noGrp="1"/>
          </p:cNvSpPr>
          <p:nvPr>
            <p:ph type="subTitle" idx="1"/>
          </p:nvPr>
        </p:nvSpPr>
        <p:spPr/>
        <p:txBody>
          <a:bodyPr/>
          <a:lstStyle/>
          <a:p>
            <a:r>
              <a:rPr lang="en-US" dirty="0"/>
              <a:t>Evaluating Company Resources And Competitive Capabilities </a:t>
            </a:r>
          </a:p>
        </p:txBody>
      </p:sp>
    </p:spTree>
    <p:extLst>
      <p:ext uri="{BB962C8B-B14F-4D97-AF65-F5344CB8AC3E}">
        <p14:creationId xmlns:p14="http://schemas.microsoft.com/office/powerpoint/2010/main" val="1635993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416F8-AB5C-CD3F-A79A-AC56AD0F2A04}"/>
              </a:ext>
            </a:extLst>
          </p:cNvPr>
          <p:cNvSpPr>
            <a:spLocks noGrp="1"/>
          </p:cNvSpPr>
          <p:nvPr>
            <p:ph type="title"/>
          </p:nvPr>
        </p:nvSpPr>
        <p:spPr/>
        <p:txBody>
          <a:bodyPr/>
          <a:lstStyle/>
          <a:p>
            <a:pPr algn="ctr"/>
            <a:r>
              <a:rPr lang="en-US" b="1" dirty="0"/>
              <a:t>Meaning of competitive advantage </a:t>
            </a:r>
          </a:p>
        </p:txBody>
      </p:sp>
      <p:sp>
        <p:nvSpPr>
          <p:cNvPr id="3" name="Content Placeholder 2">
            <a:extLst>
              <a:ext uri="{FF2B5EF4-FFF2-40B4-BE49-F238E27FC236}">
                <a16:creationId xmlns:a16="http://schemas.microsoft.com/office/drawing/2014/main" id="{908D9D19-1AA3-E575-31D5-6687AEF033CD}"/>
              </a:ext>
            </a:extLst>
          </p:cNvPr>
          <p:cNvSpPr>
            <a:spLocks noGrp="1"/>
          </p:cNvSpPr>
          <p:nvPr>
            <p:ph idx="1"/>
          </p:nvPr>
        </p:nvSpPr>
        <p:spPr/>
        <p:txBody>
          <a:bodyPr/>
          <a:lstStyle/>
          <a:p>
            <a:pPr marL="0" indent="0" algn="just">
              <a:buNone/>
            </a:pPr>
            <a:r>
              <a:rPr lang="en-US" dirty="0"/>
              <a:t>Competitive advantage refers to factors that allow a company to produce goods or services better or more cheaply than its rivals. These factors allow the productive entity to generate more sales or superior margins compared to its market rivals. Competitive advantages are attributed to a variety of factors including cost structure, branding, the quality of product offerings, the distribution network, intellectual property, and customer service. </a:t>
            </a:r>
          </a:p>
        </p:txBody>
      </p:sp>
    </p:spTree>
    <p:extLst>
      <p:ext uri="{BB962C8B-B14F-4D97-AF65-F5344CB8AC3E}">
        <p14:creationId xmlns:p14="http://schemas.microsoft.com/office/powerpoint/2010/main" val="3516148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275F-E4A8-A044-F48F-E4EEFD8BC2D4}"/>
              </a:ext>
            </a:extLst>
          </p:cNvPr>
          <p:cNvSpPr>
            <a:spLocks noGrp="1"/>
          </p:cNvSpPr>
          <p:nvPr>
            <p:ph type="title"/>
          </p:nvPr>
        </p:nvSpPr>
        <p:spPr/>
        <p:txBody>
          <a:bodyPr/>
          <a:lstStyle/>
          <a:p>
            <a:pPr algn="ctr"/>
            <a:r>
              <a:rPr lang="en-US" b="1" dirty="0"/>
              <a:t>Competitive Advantage Areas </a:t>
            </a:r>
          </a:p>
        </p:txBody>
      </p:sp>
      <p:sp>
        <p:nvSpPr>
          <p:cNvPr id="3" name="Content Placeholder 2">
            <a:extLst>
              <a:ext uri="{FF2B5EF4-FFF2-40B4-BE49-F238E27FC236}">
                <a16:creationId xmlns:a16="http://schemas.microsoft.com/office/drawing/2014/main" id="{EFC5A932-915D-7BD2-89A6-F1935E611CA9}"/>
              </a:ext>
            </a:extLst>
          </p:cNvPr>
          <p:cNvSpPr>
            <a:spLocks noGrp="1"/>
          </p:cNvSpPr>
          <p:nvPr>
            <p:ph idx="1"/>
          </p:nvPr>
        </p:nvSpPr>
        <p:spPr/>
        <p:txBody>
          <a:bodyPr/>
          <a:lstStyle/>
          <a:p>
            <a:pPr marL="0" indent="0" algn="just">
              <a:buNone/>
            </a:pPr>
            <a:r>
              <a:rPr lang="en-US" dirty="0"/>
              <a:t>To build a competitive advantage, a company can use one of three main methods: </a:t>
            </a:r>
          </a:p>
          <a:p>
            <a:pPr marL="0" indent="0" algn="just">
              <a:buNone/>
            </a:pPr>
            <a:r>
              <a:rPr lang="en-US" dirty="0"/>
              <a:t>Cost: Provide offerings at the lowest price </a:t>
            </a:r>
          </a:p>
          <a:p>
            <a:pPr marL="0" indent="0" algn="just">
              <a:buNone/>
            </a:pPr>
            <a:r>
              <a:rPr lang="en-US" dirty="0"/>
              <a:t>Differentiation: Provide offerings that are superior in quality, service, or features </a:t>
            </a:r>
          </a:p>
          <a:p>
            <a:pPr marL="0" indent="0" algn="just">
              <a:buNone/>
            </a:pPr>
            <a:r>
              <a:rPr lang="en-US" dirty="0"/>
              <a:t>Specialization: Provide offerings barely personalized to a focused market </a:t>
            </a:r>
          </a:p>
        </p:txBody>
      </p:sp>
    </p:spTree>
    <p:extLst>
      <p:ext uri="{BB962C8B-B14F-4D97-AF65-F5344CB8AC3E}">
        <p14:creationId xmlns:p14="http://schemas.microsoft.com/office/powerpoint/2010/main" val="2495823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A933E-9E43-06D0-6BEE-40EAC21D0CC0}"/>
              </a:ext>
            </a:extLst>
          </p:cNvPr>
          <p:cNvSpPr>
            <a:spLocks noGrp="1"/>
          </p:cNvSpPr>
          <p:nvPr>
            <p:ph type="title"/>
          </p:nvPr>
        </p:nvSpPr>
        <p:spPr>
          <a:xfrm>
            <a:off x="1169021" y="724764"/>
            <a:ext cx="8761413" cy="706964"/>
          </a:xfrm>
        </p:spPr>
        <p:txBody>
          <a:bodyPr/>
          <a:lstStyle/>
          <a:p>
            <a:pPr algn="ctr"/>
            <a:r>
              <a:rPr lang="en-US" dirty="0"/>
              <a:t>How to build a competitive advantage </a:t>
            </a:r>
          </a:p>
        </p:txBody>
      </p:sp>
      <p:sp>
        <p:nvSpPr>
          <p:cNvPr id="3" name="Content Placeholder 2">
            <a:extLst>
              <a:ext uri="{FF2B5EF4-FFF2-40B4-BE49-F238E27FC236}">
                <a16:creationId xmlns:a16="http://schemas.microsoft.com/office/drawing/2014/main" id="{FBA63AD4-6D84-0AA2-BA27-E4E2E89A5C68}"/>
              </a:ext>
            </a:extLst>
          </p:cNvPr>
          <p:cNvSpPr>
            <a:spLocks noGrp="1"/>
          </p:cNvSpPr>
          <p:nvPr>
            <p:ph idx="1"/>
          </p:nvPr>
        </p:nvSpPr>
        <p:spPr>
          <a:xfrm>
            <a:off x="293077" y="2163248"/>
            <a:ext cx="11605846" cy="5166019"/>
          </a:xfrm>
        </p:spPr>
        <p:txBody>
          <a:bodyPr>
            <a:noAutofit/>
          </a:bodyPr>
          <a:lstStyle/>
          <a:p>
            <a:pPr marL="0" indent="0" algn="just">
              <a:buNone/>
            </a:pPr>
            <a:r>
              <a:rPr lang="en-US" sz="1600" dirty="0"/>
              <a:t>To build a competitive advantage, a company must know what sets it apart from its competitors and then focus its message, service, and products with that difference in mind. Here are several strategies companies use to build a competitive advantage: </a:t>
            </a:r>
          </a:p>
          <a:p>
            <a:pPr marL="0" indent="0" algn="just">
              <a:buNone/>
            </a:pPr>
            <a:r>
              <a:rPr lang="en-US" sz="1600" b="1" dirty="0"/>
              <a:t>Research the market: </a:t>
            </a:r>
            <a:r>
              <a:rPr lang="en-US" sz="1600" dirty="0"/>
              <a:t>Market research helps a company identify and define its target market, which can guide it in developing the most effective advantage. </a:t>
            </a:r>
          </a:p>
          <a:p>
            <a:pPr marL="0" indent="0" algn="just">
              <a:buNone/>
            </a:pPr>
            <a:r>
              <a:rPr lang="en-US" sz="1600" b="1" dirty="0"/>
              <a:t>Identify strengths: </a:t>
            </a:r>
            <a:r>
              <a:rPr lang="en-US" sz="1600" dirty="0"/>
              <a:t>A company can find its unique strengths, especially relative to competitors, by reviewing products, services, features, positioning, and branding. </a:t>
            </a:r>
          </a:p>
          <a:p>
            <a:pPr marL="0" indent="0" algn="just">
              <a:buNone/>
            </a:pPr>
            <a:r>
              <a:rPr lang="en-US" sz="1600" b="1" dirty="0"/>
              <a:t>Evaluate finances: </a:t>
            </a:r>
            <a:r>
              <a:rPr lang="en-US" sz="1600" dirty="0"/>
              <a:t>Companies can take a close look at their financial performance to spot profit centers and areas of stability, using financial statements and ratios. </a:t>
            </a:r>
          </a:p>
          <a:p>
            <a:pPr marL="0" indent="0" algn="just">
              <a:buNone/>
            </a:pPr>
            <a:r>
              <a:rPr lang="en-US" sz="1600" b="1" dirty="0"/>
              <a:t>Review operations: </a:t>
            </a:r>
            <a:r>
              <a:rPr lang="en-US" sz="1600" dirty="0"/>
              <a:t>How efficient is a company's operations? Where is it effective and where is there room for improvement? Consider customer service as well as production and supply chain management.</a:t>
            </a:r>
          </a:p>
          <a:p>
            <a:pPr marL="0" indent="0" algn="just">
              <a:buNone/>
            </a:pPr>
            <a:r>
              <a:rPr lang="en-US" sz="1600" b="1" dirty="0"/>
              <a:t>Research and development (R&amp;D): </a:t>
            </a:r>
            <a:r>
              <a:rPr lang="en-US" sz="1600" dirty="0"/>
              <a:t>Securing intellectual property prohibits competitors from using processes or know-how that the company can use to produce products competitors can't legally copy. </a:t>
            </a:r>
          </a:p>
          <a:p>
            <a:pPr marL="0" indent="0" algn="just">
              <a:buNone/>
            </a:pPr>
            <a:r>
              <a:rPr lang="en-US" sz="1600" b="1" dirty="0"/>
              <a:t>Consider human resources: </a:t>
            </a:r>
            <a:r>
              <a:rPr lang="en-US" sz="1600" dirty="0"/>
              <a:t>The talent a company can attract as employees and leadership can make an important difference in the success of the business. Evaluating company culture, hiring, and staffing practices can help.</a:t>
            </a:r>
          </a:p>
        </p:txBody>
      </p:sp>
    </p:spTree>
    <p:extLst>
      <p:ext uri="{BB962C8B-B14F-4D97-AF65-F5344CB8AC3E}">
        <p14:creationId xmlns:p14="http://schemas.microsoft.com/office/powerpoint/2010/main" val="4270715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0C1C3-8004-D8B3-BD39-1E2A925F32FF}"/>
              </a:ext>
            </a:extLst>
          </p:cNvPr>
          <p:cNvSpPr>
            <a:spLocks noGrp="1"/>
          </p:cNvSpPr>
          <p:nvPr>
            <p:ph type="title"/>
          </p:nvPr>
        </p:nvSpPr>
        <p:spPr/>
        <p:txBody>
          <a:bodyPr/>
          <a:lstStyle/>
          <a:p>
            <a:pPr algn="ctr"/>
            <a:r>
              <a:rPr lang="en-US" b="1" dirty="0"/>
              <a:t>What is industry analysis? </a:t>
            </a:r>
          </a:p>
        </p:txBody>
      </p:sp>
      <p:sp>
        <p:nvSpPr>
          <p:cNvPr id="3" name="Content Placeholder 2">
            <a:extLst>
              <a:ext uri="{FF2B5EF4-FFF2-40B4-BE49-F238E27FC236}">
                <a16:creationId xmlns:a16="http://schemas.microsoft.com/office/drawing/2014/main" id="{976CFD24-5AB1-C47A-9402-46C0EFAE22AC}"/>
              </a:ext>
            </a:extLst>
          </p:cNvPr>
          <p:cNvSpPr>
            <a:spLocks noGrp="1"/>
          </p:cNvSpPr>
          <p:nvPr>
            <p:ph idx="1"/>
          </p:nvPr>
        </p:nvSpPr>
        <p:spPr/>
        <p:txBody>
          <a:bodyPr/>
          <a:lstStyle/>
          <a:p>
            <a:pPr marL="0" indent="0" algn="just">
              <a:buNone/>
            </a:pPr>
            <a:r>
              <a:rPr lang="en-US" dirty="0"/>
              <a:t>What is industry analysis? Industry analysis is the process of evaluating an industry’s current state and future outlook. It involves examining the industry’s characteristics, competition, growth trends, key success factors, and overall attractiveness to understand profit potential. </a:t>
            </a:r>
          </a:p>
        </p:txBody>
      </p:sp>
    </p:spTree>
    <p:extLst>
      <p:ext uri="{BB962C8B-B14F-4D97-AF65-F5344CB8AC3E}">
        <p14:creationId xmlns:p14="http://schemas.microsoft.com/office/powerpoint/2010/main" val="3279071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36C0B-C4BE-B86A-8D66-420B2E822A98}"/>
              </a:ext>
            </a:extLst>
          </p:cNvPr>
          <p:cNvSpPr>
            <a:spLocks noGrp="1"/>
          </p:cNvSpPr>
          <p:nvPr>
            <p:ph type="title"/>
          </p:nvPr>
        </p:nvSpPr>
        <p:spPr/>
        <p:txBody>
          <a:bodyPr/>
          <a:lstStyle/>
          <a:p>
            <a:r>
              <a:rPr lang="en-US" dirty="0"/>
              <a:t>What are the popular frameworks of industry analysis? </a:t>
            </a:r>
          </a:p>
        </p:txBody>
      </p:sp>
      <p:pic>
        <p:nvPicPr>
          <p:cNvPr id="5" name="Content Placeholder 4">
            <a:extLst>
              <a:ext uri="{FF2B5EF4-FFF2-40B4-BE49-F238E27FC236}">
                <a16:creationId xmlns:a16="http://schemas.microsoft.com/office/drawing/2014/main" id="{79F5C89D-C93C-DA9C-8874-E01FDE873395}"/>
              </a:ext>
            </a:extLst>
          </p:cNvPr>
          <p:cNvPicPr>
            <a:picLocks noGrp="1" noChangeAspect="1"/>
          </p:cNvPicPr>
          <p:nvPr>
            <p:ph idx="1"/>
          </p:nvPr>
        </p:nvPicPr>
        <p:blipFill>
          <a:blip r:embed="rId2"/>
          <a:stretch>
            <a:fillRect/>
          </a:stretch>
        </p:blipFill>
        <p:spPr>
          <a:xfrm>
            <a:off x="2785402" y="1828800"/>
            <a:ext cx="6161649" cy="3777721"/>
          </a:xfrm>
        </p:spPr>
      </p:pic>
      <p:sp>
        <p:nvSpPr>
          <p:cNvPr id="6" name="TextBox 5">
            <a:extLst>
              <a:ext uri="{FF2B5EF4-FFF2-40B4-BE49-F238E27FC236}">
                <a16:creationId xmlns:a16="http://schemas.microsoft.com/office/drawing/2014/main" id="{F300873F-0FDF-2AA1-FE0B-C64E6846C1C1}"/>
              </a:ext>
            </a:extLst>
          </p:cNvPr>
          <p:cNvSpPr txBox="1"/>
          <p:nvPr/>
        </p:nvSpPr>
        <p:spPr>
          <a:xfrm>
            <a:off x="838199" y="5845761"/>
            <a:ext cx="10922391" cy="707886"/>
          </a:xfrm>
          <a:prstGeom prst="rect">
            <a:avLst/>
          </a:prstGeom>
          <a:noFill/>
        </p:spPr>
        <p:txBody>
          <a:bodyPr wrap="square" rtlCol="0">
            <a:spAutoFit/>
          </a:bodyPr>
          <a:lstStyle/>
          <a:p>
            <a:pPr algn="just"/>
            <a:r>
              <a:rPr lang="en-US" sz="2000" dirty="0"/>
              <a:t>The most commonly used frameworks of industry analysis includes Porter’s Five Forces, PEST analysis, SWOT analysis, BCG Growth-Share Matrix, perceptual mapping, and strategic group mapping. </a:t>
            </a:r>
          </a:p>
        </p:txBody>
      </p:sp>
    </p:spTree>
    <p:extLst>
      <p:ext uri="{BB962C8B-B14F-4D97-AF65-F5344CB8AC3E}">
        <p14:creationId xmlns:p14="http://schemas.microsoft.com/office/powerpoint/2010/main" val="458897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26FBB-E5FE-022E-4411-9E3EB072DFDD}"/>
              </a:ext>
            </a:extLst>
          </p:cNvPr>
          <p:cNvSpPr>
            <a:spLocks noGrp="1"/>
          </p:cNvSpPr>
          <p:nvPr>
            <p:ph type="title"/>
          </p:nvPr>
        </p:nvSpPr>
        <p:spPr>
          <a:xfrm>
            <a:off x="1154954" y="701753"/>
            <a:ext cx="8761413" cy="706964"/>
          </a:xfrm>
        </p:spPr>
        <p:txBody>
          <a:bodyPr/>
          <a:lstStyle/>
          <a:p>
            <a:r>
              <a:rPr lang="en-US" dirty="0"/>
              <a:t>1.Porter’s five forces </a:t>
            </a:r>
          </a:p>
        </p:txBody>
      </p:sp>
      <p:pic>
        <p:nvPicPr>
          <p:cNvPr id="5" name="Content Placeholder 4">
            <a:extLst>
              <a:ext uri="{FF2B5EF4-FFF2-40B4-BE49-F238E27FC236}">
                <a16:creationId xmlns:a16="http://schemas.microsoft.com/office/drawing/2014/main" id="{EA73C6BD-3CC1-AA4E-7DE8-704240F2FD66}"/>
              </a:ext>
            </a:extLst>
          </p:cNvPr>
          <p:cNvPicPr>
            <a:picLocks noGrp="1" noChangeAspect="1"/>
          </p:cNvPicPr>
          <p:nvPr>
            <p:ph idx="1"/>
          </p:nvPr>
        </p:nvPicPr>
        <p:blipFill>
          <a:blip r:embed="rId2"/>
          <a:stretch>
            <a:fillRect/>
          </a:stretch>
        </p:blipFill>
        <p:spPr>
          <a:xfrm>
            <a:off x="3276048" y="1408717"/>
            <a:ext cx="5639904" cy="2995917"/>
          </a:xfrm>
        </p:spPr>
      </p:pic>
      <p:sp>
        <p:nvSpPr>
          <p:cNvPr id="6" name="TextBox 5">
            <a:extLst>
              <a:ext uri="{FF2B5EF4-FFF2-40B4-BE49-F238E27FC236}">
                <a16:creationId xmlns:a16="http://schemas.microsoft.com/office/drawing/2014/main" id="{3E228368-5179-44A7-0597-5A564BAD58DC}"/>
              </a:ext>
            </a:extLst>
          </p:cNvPr>
          <p:cNvSpPr txBox="1"/>
          <p:nvPr/>
        </p:nvSpPr>
        <p:spPr>
          <a:xfrm>
            <a:off x="293696" y="4597242"/>
            <a:ext cx="11604607" cy="1938992"/>
          </a:xfrm>
          <a:prstGeom prst="rect">
            <a:avLst/>
          </a:prstGeom>
          <a:noFill/>
        </p:spPr>
        <p:txBody>
          <a:bodyPr wrap="square" rtlCol="0">
            <a:spAutoFit/>
          </a:bodyPr>
          <a:lstStyle/>
          <a:p>
            <a:pPr algn="just"/>
            <a:r>
              <a:rPr lang="en-US" sz="2000" dirty="0"/>
              <a:t>Porter’s Five Forces examines the competitiveness within an industry by looking at the threat of  new entrants, threat of substitutes, bargaining power of suppliers, bargaining power of buyers,  and rivalry among existing competitors. It provides perspective into inherent industry profit  potential shaped by competitive forces. High barriers to entry, lack of close substitute products,  dispersed suppliers and buyers with low bargaining power, and minimal competitive rivalry implies higher profit potential. Intense rivalry, easy entry, potent substitutes, and concentrated  suppliers/buyers suggest lower profitability. </a:t>
            </a:r>
          </a:p>
        </p:txBody>
      </p:sp>
    </p:spTree>
    <p:extLst>
      <p:ext uri="{BB962C8B-B14F-4D97-AF65-F5344CB8AC3E}">
        <p14:creationId xmlns:p14="http://schemas.microsoft.com/office/powerpoint/2010/main" val="1919264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435BA-1602-AB6F-429F-6D3C403D087F}"/>
              </a:ext>
            </a:extLst>
          </p:cNvPr>
          <p:cNvSpPr>
            <a:spLocks noGrp="1"/>
          </p:cNvSpPr>
          <p:nvPr>
            <p:ph type="title"/>
          </p:nvPr>
        </p:nvSpPr>
        <p:spPr/>
        <p:txBody>
          <a:bodyPr/>
          <a:lstStyle/>
          <a:p>
            <a:r>
              <a:rPr lang="en-US" dirty="0"/>
              <a:t>2. PEST analysis </a:t>
            </a:r>
          </a:p>
        </p:txBody>
      </p:sp>
      <p:sp>
        <p:nvSpPr>
          <p:cNvPr id="3" name="Content Placeholder 2">
            <a:extLst>
              <a:ext uri="{FF2B5EF4-FFF2-40B4-BE49-F238E27FC236}">
                <a16:creationId xmlns:a16="http://schemas.microsoft.com/office/drawing/2014/main" id="{C60C3854-55C0-798A-ADA5-1C3785641AC6}"/>
              </a:ext>
            </a:extLst>
          </p:cNvPr>
          <p:cNvSpPr>
            <a:spLocks noGrp="1"/>
          </p:cNvSpPr>
          <p:nvPr>
            <p:ph idx="1"/>
          </p:nvPr>
        </p:nvSpPr>
        <p:spPr>
          <a:xfrm>
            <a:off x="384516" y="2323734"/>
            <a:ext cx="11502683" cy="3134531"/>
          </a:xfrm>
        </p:spPr>
        <p:txBody>
          <a:bodyPr/>
          <a:lstStyle/>
          <a:p>
            <a:pPr marL="0" indent="0" algn="just">
              <a:buNone/>
            </a:pPr>
            <a:r>
              <a:rPr lang="en-US" dirty="0"/>
              <a:t>PEST analysis evaluates the external political, economic, socio-cultural, and technological environment. It identifies potential opportunities to tap into as well as threats to prepare for. Political factors include government stability, policies, regulation, and trade restrictions. Economic factors consider growth rates, interest rates, inflation, disposable income, and other macroeconomic conditions. Socio-cultural forces encompass demographics, income distribution, social norms, lifestyles, and public opinion. Technological factors look at innovations, adoption rates, R&amp;D trends, and developments that disrupt the industry. </a:t>
            </a:r>
          </a:p>
        </p:txBody>
      </p:sp>
    </p:spTree>
    <p:extLst>
      <p:ext uri="{BB962C8B-B14F-4D97-AF65-F5344CB8AC3E}">
        <p14:creationId xmlns:p14="http://schemas.microsoft.com/office/powerpoint/2010/main" val="4013554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1F762-5D3B-6C74-86BA-4020C115C9BA}"/>
              </a:ext>
            </a:extLst>
          </p:cNvPr>
          <p:cNvSpPr>
            <a:spLocks noGrp="1"/>
          </p:cNvSpPr>
          <p:nvPr>
            <p:ph type="title"/>
          </p:nvPr>
        </p:nvSpPr>
        <p:spPr>
          <a:xfrm>
            <a:off x="986141" y="645133"/>
            <a:ext cx="8761413" cy="706964"/>
          </a:xfrm>
        </p:spPr>
        <p:txBody>
          <a:bodyPr/>
          <a:lstStyle/>
          <a:p>
            <a:r>
              <a:rPr lang="en-US" dirty="0"/>
              <a:t>3. SWOT analysis </a:t>
            </a:r>
          </a:p>
        </p:txBody>
      </p:sp>
      <p:pic>
        <p:nvPicPr>
          <p:cNvPr id="5" name="Content Placeholder 4">
            <a:extLst>
              <a:ext uri="{FF2B5EF4-FFF2-40B4-BE49-F238E27FC236}">
                <a16:creationId xmlns:a16="http://schemas.microsoft.com/office/drawing/2014/main" id="{878DD960-2234-BDA2-6A32-521DB9680D79}"/>
              </a:ext>
            </a:extLst>
          </p:cNvPr>
          <p:cNvPicPr>
            <a:picLocks noGrp="1" noChangeAspect="1"/>
          </p:cNvPicPr>
          <p:nvPr>
            <p:ph idx="1"/>
          </p:nvPr>
        </p:nvPicPr>
        <p:blipFill>
          <a:blip r:embed="rId2"/>
          <a:stretch>
            <a:fillRect/>
          </a:stretch>
        </p:blipFill>
        <p:spPr>
          <a:xfrm>
            <a:off x="3221502" y="1352098"/>
            <a:ext cx="5630300" cy="2878718"/>
          </a:xfrm>
        </p:spPr>
      </p:pic>
      <p:sp>
        <p:nvSpPr>
          <p:cNvPr id="6" name="TextBox 5">
            <a:extLst>
              <a:ext uri="{FF2B5EF4-FFF2-40B4-BE49-F238E27FC236}">
                <a16:creationId xmlns:a16="http://schemas.microsoft.com/office/drawing/2014/main" id="{6E5FEC60-137B-5A53-2ADE-0E16D75CBB4F}"/>
              </a:ext>
            </a:extLst>
          </p:cNvPr>
          <p:cNvSpPr txBox="1"/>
          <p:nvPr/>
        </p:nvSpPr>
        <p:spPr>
          <a:xfrm>
            <a:off x="236806" y="4230816"/>
            <a:ext cx="11718388" cy="2308324"/>
          </a:xfrm>
          <a:prstGeom prst="rect">
            <a:avLst/>
          </a:prstGeom>
          <a:noFill/>
        </p:spPr>
        <p:txBody>
          <a:bodyPr wrap="square" rtlCol="0">
            <a:spAutoFit/>
          </a:bodyPr>
          <a:lstStyle/>
          <a:p>
            <a:pPr algn="just"/>
            <a:r>
              <a:rPr lang="en-US" sz="2400" dirty="0"/>
              <a:t>A SWOT analysis examines the internal strengths and weaknesses of firms in an industry along with external opportunities and threats. Strengths represent competitive advantages and distinctive capabilities. Weaknesses are deficiencies that create disadvantages. Opportunities comprise favorable external developments that are capitalized on. Threats include unfavorable industry trends and macro-environmental forces. SWOT provides perspective on internal positioning and external developments that impact strategy. </a:t>
            </a:r>
          </a:p>
        </p:txBody>
      </p:sp>
    </p:spTree>
    <p:extLst>
      <p:ext uri="{BB962C8B-B14F-4D97-AF65-F5344CB8AC3E}">
        <p14:creationId xmlns:p14="http://schemas.microsoft.com/office/powerpoint/2010/main" val="3995689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A35BD-42CF-FF9F-3CAE-8654ADFD11EC}"/>
              </a:ext>
            </a:extLst>
          </p:cNvPr>
          <p:cNvSpPr>
            <a:spLocks noGrp="1"/>
          </p:cNvSpPr>
          <p:nvPr>
            <p:ph type="title"/>
          </p:nvPr>
        </p:nvSpPr>
        <p:spPr>
          <a:xfrm>
            <a:off x="1084615" y="698327"/>
            <a:ext cx="8761413" cy="706964"/>
          </a:xfrm>
        </p:spPr>
        <p:txBody>
          <a:bodyPr/>
          <a:lstStyle/>
          <a:p>
            <a:r>
              <a:rPr lang="en-US" dirty="0"/>
              <a:t>4. BCG’s growth share</a:t>
            </a:r>
          </a:p>
        </p:txBody>
      </p:sp>
      <p:pic>
        <p:nvPicPr>
          <p:cNvPr id="5" name="Content Placeholder 4">
            <a:extLst>
              <a:ext uri="{FF2B5EF4-FFF2-40B4-BE49-F238E27FC236}">
                <a16:creationId xmlns:a16="http://schemas.microsoft.com/office/drawing/2014/main" id="{BADF2AB4-0971-85AF-73CA-AD52D9D21838}"/>
              </a:ext>
            </a:extLst>
          </p:cNvPr>
          <p:cNvPicPr>
            <a:picLocks noGrp="1" noChangeAspect="1"/>
          </p:cNvPicPr>
          <p:nvPr>
            <p:ph idx="1"/>
          </p:nvPr>
        </p:nvPicPr>
        <p:blipFill>
          <a:blip r:embed="rId2"/>
          <a:stretch>
            <a:fillRect/>
          </a:stretch>
        </p:blipFill>
        <p:spPr>
          <a:xfrm>
            <a:off x="3622339" y="1405292"/>
            <a:ext cx="5493085" cy="3110438"/>
          </a:xfrm>
        </p:spPr>
      </p:pic>
      <p:sp>
        <p:nvSpPr>
          <p:cNvPr id="6" name="TextBox 5">
            <a:extLst>
              <a:ext uri="{FF2B5EF4-FFF2-40B4-BE49-F238E27FC236}">
                <a16:creationId xmlns:a16="http://schemas.microsoft.com/office/drawing/2014/main" id="{A5E8A65C-A8CD-9F68-81AF-93B52C2AE9B3}"/>
              </a:ext>
            </a:extLst>
          </p:cNvPr>
          <p:cNvSpPr txBox="1"/>
          <p:nvPr/>
        </p:nvSpPr>
        <p:spPr>
          <a:xfrm>
            <a:off x="0" y="4707439"/>
            <a:ext cx="11983329" cy="1938992"/>
          </a:xfrm>
          <a:prstGeom prst="rect">
            <a:avLst/>
          </a:prstGeom>
          <a:noFill/>
        </p:spPr>
        <p:txBody>
          <a:bodyPr wrap="square" rtlCol="0">
            <a:spAutoFit/>
          </a:bodyPr>
          <a:lstStyle/>
          <a:p>
            <a:pPr algn="just"/>
            <a:r>
              <a:rPr lang="en-US" sz="2000" dirty="0"/>
              <a:t>The BCG Growth-Share Matrix evaluates competitive position based on market share and growth rate. Industry players are categorized as stars, cash cows, dogs, or question marks. Stars have high growth and high market share signaling opportunities. Cash cows have high share but slow growth so profits should be harvested. Dogs have low share and flat or declining growth indicating weakness. Question marks are growing rapidly but have low share implying potential if their market position is strengthened.</a:t>
            </a:r>
          </a:p>
        </p:txBody>
      </p:sp>
    </p:spTree>
    <p:extLst>
      <p:ext uri="{BB962C8B-B14F-4D97-AF65-F5344CB8AC3E}">
        <p14:creationId xmlns:p14="http://schemas.microsoft.com/office/powerpoint/2010/main" val="457259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956888-4CBA-C604-1AD9-1D1D77E3F2A7}"/>
              </a:ext>
            </a:extLst>
          </p:cNvPr>
          <p:cNvPicPr>
            <a:picLocks noChangeAspect="1"/>
          </p:cNvPicPr>
          <p:nvPr/>
        </p:nvPicPr>
        <p:blipFill>
          <a:blip r:embed="rId2"/>
          <a:stretch>
            <a:fillRect/>
          </a:stretch>
        </p:blipFill>
        <p:spPr>
          <a:xfrm>
            <a:off x="257473" y="69813"/>
            <a:ext cx="4615072" cy="3097036"/>
          </a:xfrm>
          <a:prstGeom prst="rect">
            <a:avLst/>
          </a:prstGeom>
        </p:spPr>
      </p:pic>
      <p:pic>
        <p:nvPicPr>
          <p:cNvPr id="3" name="Picture 2">
            <a:extLst>
              <a:ext uri="{FF2B5EF4-FFF2-40B4-BE49-F238E27FC236}">
                <a16:creationId xmlns:a16="http://schemas.microsoft.com/office/drawing/2014/main" id="{A8BB3B58-2910-FE93-7DB2-BA18AEE35442}"/>
              </a:ext>
            </a:extLst>
          </p:cNvPr>
          <p:cNvPicPr>
            <a:picLocks noChangeAspect="1"/>
          </p:cNvPicPr>
          <p:nvPr/>
        </p:nvPicPr>
        <p:blipFill>
          <a:blip r:embed="rId3"/>
          <a:stretch>
            <a:fillRect/>
          </a:stretch>
        </p:blipFill>
        <p:spPr>
          <a:xfrm>
            <a:off x="7337972" y="69814"/>
            <a:ext cx="4749900" cy="2901546"/>
          </a:xfrm>
          <a:prstGeom prst="rect">
            <a:avLst/>
          </a:prstGeom>
        </p:spPr>
      </p:pic>
      <p:pic>
        <p:nvPicPr>
          <p:cNvPr id="6" name="Picture 5">
            <a:extLst>
              <a:ext uri="{FF2B5EF4-FFF2-40B4-BE49-F238E27FC236}">
                <a16:creationId xmlns:a16="http://schemas.microsoft.com/office/drawing/2014/main" id="{46C583B5-2058-5114-D7EA-5E2B34F59229}"/>
              </a:ext>
            </a:extLst>
          </p:cNvPr>
          <p:cNvPicPr>
            <a:picLocks noChangeAspect="1"/>
          </p:cNvPicPr>
          <p:nvPr/>
        </p:nvPicPr>
        <p:blipFill>
          <a:blip r:embed="rId4"/>
          <a:stretch>
            <a:fillRect/>
          </a:stretch>
        </p:blipFill>
        <p:spPr>
          <a:xfrm>
            <a:off x="4220308" y="3180816"/>
            <a:ext cx="4958268" cy="3677184"/>
          </a:xfrm>
          <a:prstGeom prst="rect">
            <a:avLst/>
          </a:prstGeom>
        </p:spPr>
      </p:pic>
    </p:spTree>
    <p:extLst>
      <p:ext uri="{BB962C8B-B14F-4D97-AF65-F5344CB8AC3E}">
        <p14:creationId xmlns:p14="http://schemas.microsoft.com/office/powerpoint/2010/main" val="446301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A901-FDDB-5735-E4B9-E13B938A2009}"/>
              </a:ext>
            </a:extLst>
          </p:cNvPr>
          <p:cNvSpPr>
            <a:spLocks noGrp="1"/>
          </p:cNvSpPr>
          <p:nvPr>
            <p:ph type="title"/>
          </p:nvPr>
        </p:nvSpPr>
        <p:spPr>
          <a:xfrm>
            <a:off x="732923" y="643376"/>
            <a:ext cx="8761413" cy="706964"/>
          </a:xfrm>
        </p:spPr>
        <p:txBody>
          <a:bodyPr/>
          <a:lstStyle/>
          <a:p>
            <a:r>
              <a:rPr lang="en-US" dirty="0"/>
              <a:t>5. Perceptual mapping </a:t>
            </a:r>
          </a:p>
        </p:txBody>
      </p:sp>
      <p:pic>
        <p:nvPicPr>
          <p:cNvPr id="5" name="Content Placeholder 4">
            <a:extLst>
              <a:ext uri="{FF2B5EF4-FFF2-40B4-BE49-F238E27FC236}">
                <a16:creationId xmlns:a16="http://schemas.microsoft.com/office/drawing/2014/main" id="{F9090ED4-1AD4-B852-7CFB-CEFE37201FEE}"/>
              </a:ext>
            </a:extLst>
          </p:cNvPr>
          <p:cNvPicPr>
            <a:picLocks noGrp="1" noChangeAspect="1"/>
          </p:cNvPicPr>
          <p:nvPr>
            <p:ph idx="1"/>
          </p:nvPr>
        </p:nvPicPr>
        <p:blipFill>
          <a:blip r:embed="rId2"/>
          <a:stretch>
            <a:fillRect/>
          </a:stretch>
        </p:blipFill>
        <p:spPr>
          <a:xfrm>
            <a:off x="3245125" y="1350340"/>
            <a:ext cx="5600375" cy="3193525"/>
          </a:xfrm>
        </p:spPr>
      </p:pic>
      <p:sp>
        <p:nvSpPr>
          <p:cNvPr id="6" name="TextBox 5">
            <a:extLst>
              <a:ext uri="{FF2B5EF4-FFF2-40B4-BE49-F238E27FC236}">
                <a16:creationId xmlns:a16="http://schemas.microsoft.com/office/drawing/2014/main" id="{CC1BB743-D79E-61AA-2DA1-86B6117A8E8B}"/>
              </a:ext>
            </a:extLst>
          </p:cNvPr>
          <p:cNvSpPr txBox="1"/>
          <p:nvPr/>
        </p:nvSpPr>
        <p:spPr>
          <a:xfrm>
            <a:off x="194603" y="4647093"/>
            <a:ext cx="11802793" cy="1938992"/>
          </a:xfrm>
          <a:prstGeom prst="rect">
            <a:avLst/>
          </a:prstGeom>
          <a:noFill/>
        </p:spPr>
        <p:txBody>
          <a:bodyPr wrap="square" rtlCol="0">
            <a:spAutoFit/>
          </a:bodyPr>
          <a:lstStyle/>
          <a:p>
            <a:pPr algn="just"/>
            <a:r>
              <a:rPr lang="en-US" sz="2400" dirty="0"/>
              <a:t>Perceptual mapping displays consumer perceptions of key product attributes and preferences. Industry offerings are mapped based on attributes like price, quality, features, style, and orientation to compare positioning. Maps reveal ideal positions to target and gaps or clusters in the market. This facilitates strategic decisions on product differentiation, branding, and marketing based on consumer perceptions. </a:t>
            </a:r>
          </a:p>
        </p:txBody>
      </p:sp>
    </p:spTree>
    <p:extLst>
      <p:ext uri="{BB962C8B-B14F-4D97-AF65-F5344CB8AC3E}">
        <p14:creationId xmlns:p14="http://schemas.microsoft.com/office/powerpoint/2010/main" val="1430563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E5DF1-04F7-CF17-DCD2-C95B5A363115}"/>
              </a:ext>
            </a:extLst>
          </p:cNvPr>
          <p:cNvSpPr>
            <a:spLocks noGrp="1"/>
          </p:cNvSpPr>
          <p:nvPr>
            <p:ph type="title"/>
          </p:nvPr>
        </p:nvSpPr>
        <p:spPr>
          <a:xfrm>
            <a:off x="831287" y="755937"/>
            <a:ext cx="8761413" cy="706964"/>
          </a:xfrm>
        </p:spPr>
        <p:txBody>
          <a:bodyPr/>
          <a:lstStyle/>
          <a:p>
            <a:r>
              <a:rPr lang="en-US" dirty="0"/>
              <a:t>6. Strategic group analysis </a:t>
            </a:r>
          </a:p>
        </p:txBody>
      </p:sp>
      <p:pic>
        <p:nvPicPr>
          <p:cNvPr id="5" name="Content Placeholder 4">
            <a:extLst>
              <a:ext uri="{FF2B5EF4-FFF2-40B4-BE49-F238E27FC236}">
                <a16:creationId xmlns:a16="http://schemas.microsoft.com/office/drawing/2014/main" id="{3373DC57-7A73-6E83-E5A5-BF9FA0ABACFE}"/>
              </a:ext>
            </a:extLst>
          </p:cNvPr>
          <p:cNvPicPr>
            <a:picLocks noGrp="1" noChangeAspect="1"/>
          </p:cNvPicPr>
          <p:nvPr>
            <p:ph idx="1"/>
          </p:nvPr>
        </p:nvPicPr>
        <p:blipFill>
          <a:blip r:embed="rId2"/>
          <a:stretch>
            <a:fillRect/>
          </a:stretch>
        </p:blipFill>
        <p:spPr>
          <a:xfrm>
            <a:off x="2754114" y="1396866"/>
            <a:ext cx="6360285" cy="3217337"/>
          </a:xfrm>
        </p:spPr>
      </p:pic>
      <p:sp>
        <p:nvSpPr>
          <p:cNvPr id="6" name="TextBox 5">
            <a:extLst>
              <a:ext uri="{FF2B5EF4-FFF2-40B4-BE49-F238E27FC236}">
                <a16:creationId xmlns:a16="http://schemas.microsoft.com/office/drawing/2014/main" id="{0CCE8150-CB38-4005-F484-0FC6E8382E0D}"/>
              </a:ext>
            </a:extLst>
          </p:cNvPr>
          <p:cNvSpPr txBox="1"/>
          <p:nvPr/>
        </p:nvSpPr>
        <p:spPr>
          <a:xfrm>
            <a:off x="0" y="4439524"/>
            <a:ext cx="11887200" cy="1938992"/>
          </a:xfrm>
          <a:prstGeom prst="rect">
            <a:avLst/>
          </a:prstGeom>
          <a:noFill/>
        </p:spPr>
        <p:txBody>
          <a:bodyPr wrap="square" rtlCol="0">
            <a:spAutoFit/>
          </a:bodyPr>
          <a:lstStyle/>
          <a:p>
            <a:pPr algn="just"/>
            <a:r>
              <a:rPr lang="en-US" sz="2000" dirty="0"/>
              <a:t>Strategic group analysis divides industry players into groups based on similarities in offerings, capabilities, strategies, or other traits. Typically strategic groups reflect different competitive positions targeting certain market segments. Grouping companies reveals insights into competitive dynamics and strategic implications. Leaders want to solidify position while laggards need to reposition themselves. Applying these industry analysis frameworks leads to a comprehensive outlook to inform strategic decisions and planning. </a:t>
            </a:r>
          </a:p>
        </p:txBody>
      </p:sp>
    </p:spTree>
    <p:extLst>
      <p:ext uri="{BB962C8B-B14F-4D97-AF65-F5344CB8AC3E}">
        <p14:creationId xmlns:p14="http://schemas.microsoft.com/office/powerpoint/2010/main" val="779162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4A2B6-C164-AF76-AD8F-1DA3E2258018}"/>
              </a:ext>
            </a:extLst>
          </p:cNvPr>
          <p:cNvSpPr>
            <a:spLocks noGrp="1"/>
          </p:cNvSpPr>
          <p:nvPr>
            <p:ph type="title"/>
          </p:nvPr>
        </p:nvSpPr>
        <p:spPr/>
        <p:txBody>
          <a:bodyPr/>
          <a:lstStyle/>
          <a:p>
            <a:r>
              <a:rPr lang="en-US" dirty="0"/>
              <a:t>Define Value Chain Analysis: </a:t>
            </a:r>
          </a:p>
        </p:txBody>
      </p:sp>
      <p:sp>
        <p:nvSpPr>
          <p:cNvPr id="3" name="Content Placeholder 2">
            <a:extLst>
              <a:ext uri="{FF2B5EF4-FFF2-40B4-BE49-F238E27FC236}">
                <a16:creationId xmlns:a16="http://schemas.microsoft.com/office/drawing/2014/main" id="{AEBC0B7E-90A5-E587-0612-EAF6BFE4AD7C}"/>
              </a:ext>
            </a:extLst>
          </p:cNvPr>
          <p:cNvSpPr>
            <a:spLocks noGrp="1"/>
          </p:cNvSpPr>
          <p:nvPr>
            <p:ph idx="1"/>
          </p:nvPr>
        </p:nvSpPr>
        <p:spPr>
          <a:xfrm>
            <a:off x="381231" y="2631635"/>
            <a:ext cx="11562240" cy="3431540"/>
          </a:xfrm>
        </p:spPr>
        <p:txBody>
          <a:bodyPr/>
          <a:lstStyle/>
          <a:p>
            <a:pPr marL="0" indent="0" algn="just">
              <a:buNone/>
            </a:pPr>
            <a:r>
              <a:rPr lang="en-US" dirty="0"/>
              <a:t>Value chain analysis is a strategic process that can increase profit margins and provide a competitive advantage for companies of all sizes. Within this analysis, businesses identify areas where the value of specific production and sales activities can be increased. </a:t>
            </a:r>
          </a:p>
          <a:p>
            <a:pPr marL="0" indent="0" algn="just">
              <a:buNone/>
            </a:pPr>
            <a:endParaRPr lang="en-US" dirty="0"/>
          </a:p>
        </p:txBody>
      </p:sp>
      <p:pic>
        <p:nvPicPr>
          <p:cNvPr id="5" name="Content Placeholder 4">
            <a:extLst>
              <a:ext uri="{FF2B5EF4-FFF2-40B4-BE49-F238E27FC236}">
                <a16:creationId xmlns:a16="http://schemas.microsoft.com/office/drawing/2014/main" id="{AA811619-3619-9A57-DB80-B7C6FE8E14E0}"/>
              </a:ext>
            </a:extLst>
          </p:cNvPr>
          <p:cNvPicPr>
            <a:picLocks noChangeAspect="1"/>
          </p:cNvPicPr>
          <p:nvPr/>
        </p:nvPicPr>
        <p:blipFill>
          <a:blip r:embed="rId2"/>
          <a:stretch>
            <a:fillRect/>
          </a:stretch>
        </p:blipFill>
        <p:spPr>
          <a:xfrm>
            <a:off x="3545058" y="3629465"/>
            <a:ext cx="5008099" cy="3107150"/>
          </a:xfrm>
          <a:prstGeom prst="rect">
            <a:avLst/>
          </a:prstGeom>
        </p:spPr>
      </p:pic>
    </p:spTree>
    <p:extLst>
      <p:ext uri="{BB962C8B-B14F-4D97-AF65-F5344CB8AC3E}">
        <p14:creationId xmlns:p14="http://schemas.microsoft.com/office/powerpoint/2010/main" val="2917428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BF374-234E-9769-414B-73A0E5F6551B}"/>
              </a:ext>
            </a:extLst>
          </p:cNvPr>
          <p:cNvSpPr>
            <a:spLocks noGrp="1"/>
          </p:cNvSpPr>
          <p:nvPr>
            <p:ph type="title"/>
          </p:nvPr>
        </p:nvSpPr>
        <p:spPr/>
        <p:txBody>
          <a:bodyPr/>
          <a:lstStyle/>
          <a:p>
            <a:r>
              <a:rPr lang="en-US" dirty="0"/>
              <a:t>What are the benefits of a value chain analysis? </a:t>
            </a:r>
          </a:p>
        </p:txBody>
      </p:sp>
      <p:sp>
        <p:nvSpPr>
          <p:cNvPr id="3" name="Content Placeholder 2">
            <a:extLst>
              <a:ext uri="{FF2B5EF4-FFF2-40B4-BE49-F238E27FC236}">
                <a16:creationId xmlns:a16="http://schemas.microsoft.com/office/drawing/2014/main" id="{DDFC26BB-7FAB-2BC2-8B5F-8F57775D69D6}"/>
              </a:ext>
            </a:extLst>
          </p:cNvPr>
          <p:cNvSpPr>
            <a:spLocks noGrp="1"/>
          </p:cNvSpPr>
          <p:nvPr>
            <p:ph idx="1"/>
          </p:nvPr>
        </p:nvSpPr>
        <p:spPr/>
        <p:txBody>
          <a:bodyPr/>
          <a:lstStyle/>
          <a:p>
            <a:pPr marL="0" indent="0">
              <a:buNone/>
            </a:pPr>
            <a:r>
              <a:rPr lang="en-US" dirty="0"/>
              <a:t>• Establishes better seller management </a:t>
            </a:r>
          </a:p>
          <a:p>
            <a:pPr marL="0" indent="0">
              <a:buNone/>
            </a:pPr>
            <a:r>
              <a:rPr lang="en-US" dirty="0"/>
              <a:t>• Reduces cost and delivery times </a:t>
            </a:r>
          </a:p>
          <a:p>
            <a:pPr marL="0" indent="0">
              <a:buNone/>
            </a:pPr>
            <a:r>
              <a:rPr lang="en-US" dirty="0"/>
              <a:t>• Improves inventory </a:t>
            </a:r>
          </a:p>
          <a:p>
            <a:pPr marL="0" indent="0">
              <a:buNone/>
            </a:pPr>
            <a:r>
              <a:rPr lang="en-US" dirty="0"/>
              <a:t>• Improves customer relationships </a:t>
            </a:r>
          </a:p>
          <a:p>
            <a:pPr marL="0" indent="0">
              <a:buNone/>
            </a:pPr>
            <a:r>
              <a:rPr lang="en-US" dirty="0"/>
              <a:t>• Regulates and improves processes </a:t>
            </a:r>
          </a:p>
          <a:p>
            <a:pPr marL="0" indent="0">
              <a:buNone/>
            </a:pPr>
            <a:r>
              <a:rPr lang="en-US" dirty="0"/>
              <a:t>• Helps you gain a competitive power</a:t>
            </a:r>
          </a:p>
        </p:txBody>
      </p:sp>
    </p:spTree>
    <p:extLst>
      <p:ext uri="{BB962C8B-B14F-4D97-AF65-F5344CB8AC3E}">
        <p14:creationId xmlns:p14="http://schemas.microsoft.com/office/powerpoint/2010/main" val="22131354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87</TotalTime>
  <Words>1070</Words>
  <Application>Microsoft Office PowerPoint</Application>
  <PresentationFormat>Widescreen</PresentationFormat>
  <Paragraphs>42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Gothic</vt:lpstr>
      <vt:lpstr>Wingdings 3</vt:lpstr>
      <vt:lpstr>Ion Boardroom</vt:lpstr>
      <vt:lpstr>Chapter 4 </vt:lpstr>
      <vt:lpstr>Meaning of competitive advantage </vt:lpstr>
      <vt:lpstr>Competitive Advantage Areas </vt:lpstr>
      <vt:lpstr>How to build a competitive advantage </vt:lpstr>
      <vt:lpstr>What is industry analysis? </vt:lpstr>
      <vt:lpstr>What are the popular frameworks of industry analysis? </vt:lpstr>
      <vt:lpstr>1.Porter’s five forces </vt:lpstr>
      <vt:lpstr>2. PEST analysis </vt:lpstr>
      <vt:lpstr>3. SWOT analysis </vt:lpstr>
      <vt:lpstr>4. BCG’s growth share</vt:lpstr>
      <vt:lpstr>PowerPoint Presentation</vt:lpstr>
      <vt:lpstr>5. Perceptual mapping </vt:lpstr>
      <vt:lpstr>6. Strategic group analysis </vt:lpstr>
      <vt:lpstr>Define Value Chain Analysis: </vt:lpstr>
      <vt:lpstr>What are the benefits of a value chain analysis?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Chokher Bali</dc:creator>
  <cp:lastModifiedBy>Chokher Bali</cp:lastModifiedBy>
  <cp:revision>7</cp:revision>
  <dcterms:created xsi:type="dcterms:W3CDTF">2025-02-15T16:03:46Z</dcterms:created>
  <dcterms:modified xsi:type="dcterms:W3CDTF">2025-02-15T17:30:51Z</dcterms:modified>
</cp:coreProperties>
</file>