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Lst>
  <p:sldIdLst>
    <p:sldId id="256" r:id="rId2"/>
    <p:sldId id="257" r:id="rId3"/>
    <p:sldId id="258" r:id="rId4"/>
    <p:sldId id="259" r:id="rId5"/>
    <p:sldId id="260" r:id="rId6"/>
    <p:sldId id="263" r:id="rId7"/>
    <p:sldId id="261" r:id="rId8"/>
    <p:sldId id="262" r:id="rId9"/>
    <p:sldId id="264"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5" d="100"/>
          <a:sy n="45" d="100"/>
        </p:scale>
        <p:origin x="-1884"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en-US" smtClean="0"/>
              <a:t>Click to edit Master title style</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2967D2D3-851E-45B0-885E-C311E96C85D7}" type="datetimeFigureOut">
              <a:rPr lang="en-US" smtClean="0"/>
              <a:t>02/12/25</a:t>
            </a:fld>
            <a:endParaRPr lang="en-US"/>
          </a:p>
        </p:txBody>
      </p:sp>
      <p:sp>
        <p:nvSpPr>
          <p:cNvPr id="8" name="Slide Number Placeholder 7"/>
          <p:cNvSpPr>
            <a:spLocks noGrp="1"/>
          </p:cNvSpPr>
          <p:nvPr>
            <p:ph type="sldNum" sz="quarter" idx="11"/>
          </p:nvPr>
        </p:nvSpPr>
        <p:spPr/>
        <p:txBody>
          <a:bodyPr/>
          <a:lstStyle/>
          <a:p>
            <a:fld id="{3D3BB313-F228-4D5D-ABDA-72C73D777C35}" type="slidenum">
              <a:rPr lang="en-US" smtClean="0"/>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lstStyle/>
          <a:p>
            <a:fld id="{2967D2D3-851E-45B0-885E-C311E96C85D7}" type="datetimeFigureOut">
              <a:rPr lang="en-US" smtClean="0"/>
              <a:t>02/12/25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3BB313-F228-4D5D-ABDA-72C73D777C35}"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smtClean="0"/>
              <a:t>Click to edit Master title style</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967D2D3-851E-45B0-885E-C311E96C85D7}" type="datetimeFigureOut">
              <a:rPr lang="en-US" smtClean="0"/>
              <a:t>02/12/25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3BB313-F228-4D5D-ABDA-72C73D777C35}" type="slidenum">
              <a:rPr lang="en-US" smtClean="0"/>
              <a:t>‹#›</a:t>
            </a:fld>
            <a:endParaRPr lang="en-US"/>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2967D2D3-851E-45B0-885E-C311E96C85D7}" type="datetimeFigureOut">
              <a:rPr lang="en-US" smtClean="0"/>
              <a:t>02/12/25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3BB313-F228-4D5D-ABDA-72C73D777C35}" type="slidenum">
              <a:rPr lang="en-US" smtClean="0"/>
              <a:t>‹#›</a:t>
            </a:fld>
            <a:endParaRPr lang="en-US"/>
          </a:p>
        </p:txBody>
      </p:sp>
      <p:sp>
        <p:nvSpPr>
          <p:cNvPr id="9" name="Content Placeholder 8"/>
          <p:cNvSpPr>
            <a:spLocks noGrp="1"/>
          </p:cNvSpPr>
          <p:nvPr>
            <p:ph sz="quarter" idx="13"/>
          </p:nvPr>
        </p:nvSpPr>
        <p:spPr>
          <a:xfrm>
            <a:off x="365760" y="1600200"/>
            <a:ext cx="4041648" cy="45262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2967D2D3-851E-45B0-885E-C311E96C85D7}" type="datetimeFigureOut">
              <a:rPr lang="en-US" smtClean="0"/>
              <a:t>02/12/25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D3BB313-F228-4D5D-ABDA-72C73D777C35}" type="slidenum">
              <a:rPr lang="en-US" smtClean="0"/>
              <a:t>‹#›</a:t>
            </a:fld>
            <a:endParaRPr lang="en-US"/>
          </a:p>
        </p:txBody>
      </p:sp>
      <p:sp>
        <p:nvSpPr>
          <p:cNvPr id="11" name="Content Placeholder 10"/>
          <p:cNvSpPr>
            <a:spLocks noGrp="1"/>
          </p:cNvSpPr>
          <p:nvPr>
            <p:ph sz="quarter" idx="13"/>
          </p:nvPr>
        </p:nvSpPr>
        <p:spPr>
          <a:xfrm>
            <a:off x="457200" y="2212848"/>
            <a:ext cx="4041648" cy="391363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967D2D3-851E-45B0-885E-C311E96C85D7}" type="datetimeFigureOut">
              <a:rPr lang="en-US" smtClean="0"/>
              <a:t>02/12/25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D3BB313-F228-4D5D-ABDA-72C73D777C35}"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67D2D3-851E-45B0-885E-C311E96C85D7}" type="datetimeFigureOut">
              <a:rPr lang="en-US" smtClean="0"/>
              <a:t>02/12/25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D3BB313-F228-4D5D-ABDA-72C73D777C35}"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967D2D3-851E-45B0-885E-C311E96C85D7}" type="datetimeFigureOut">
              <a:rPr lang="en-US" smtClean="0"/>
              <a:t>02/12/25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3BB313-F228-4D5D-ABDA-72C73D777C35}"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en-US" smtClean="0"/>
              <a:t>Click to edit Master title style</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967D2D3-851E-45B0-885E-C311E96C85D7}" type="datetimeFigureOut">
              <a:rPr lang="en-US" smtClean="0"/>
              <a:t>02/12/25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3BB313-F228-4D5D-ABDA-72C73D777C35}"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967D2D3-851E-45B0-885E-C311E96C85D7}" type="datetimeFigureOut">
              <a:rPr lang="en-US" smtClean="0"/>
              <a:t>02/12/25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3BB313-F228-4D5D-ABDA-72C73D777C35}"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967D2D3-851E-45B0-885E-C311E96C85D7}" type="datetimeFigureOut">
              <a:rPr lang="en-US" smtClean="0"/>
              <a:t>02/12/25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3BB313-F228-4D5D-ABDA-72C73D777C35}"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2967D2D3-851E-45B0-885E-C311E96C85D7}" type="datetimeFigureOut">
              <a:rPr lang="en-US" smtClean="0"/>
              <a:t>02/12/25</a:t>
            </a:fld>
            <a:endParaRPr lang="en-US"/>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n-US"/>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3D3BB313-F228-4D5D-ABDA-72C73D777C35}" type="slidenum">
              <a:rPr lang="en-US" smtClean="0"/>
              <a:t>‹#›</a:t>
            </a:fld>
            <a:endParaRPr lang="en-US"/>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143000"/>
            <a:ext cx="7772400" cy="1975104"/>
          </a:xfrm>
        </p:spPr>
        <p:txBody>
          <a:bodyPr/>
          <a:lstStyle/>
          <a:p>
            <a:r>
              <a:rPr lang="en-US" dirty="0" smtClean="0"/>
              <a:t>Chapter 3</a:t>
            </a:r>
            <a:endParaRPr lang="en-US" dirty="0"/>
          </a:p>
        </p:txBody>
      </p:sp>
      <p:sp>
        <p:nvSpPr>
          <p:cNvPr id="3" name="Subtitle 2"/>
          <p:cNvSpPr>
            <a:spLocks noGrp="1"/>
          </p:cNvSpPr>
          <p:nvPr>
            <p:ph type="subTitle" idx="1"/>
          </p:nvPr>
        </p:nvSpPr>
        <p:spPr>
          <a:xfrm>
            <a:off x="1295400" y="2895600"/>
            <a:ext cx="6858000" cy="1752600"/>
          </a:xfrm>
        </p:spPr>
        <p:txBody>
          <a:bodyPr>
            <a:normAutofit/>
          </a:bodyPr>
          <a:lstStyle/>
          <a:p>
            <a:r>
              <a:rPr lang="en-US" sz="3600" b="1" dirty="0" smtClean="0">
                <a:solidFill>
                  <a:schemeClr val="tx1"/>
                </a:solidFill>
              </a:rPr>
              <a:t>Industry and Competitive Analysis</a:t>
            </a:r>
            <a:endParaRPr lang="en-US" sz="3600" b="1" dirty="0">
              <a:solidFill>
                <a:schemeClr val="tx1"/>
              </a:solidFill>
            </a:endParaRPr>
          </a:p>
        </p:txBody>
      </p:sp>
    </p:spTree>
    <p:extLst>
      <p:ext uri="{BB962C8B-B14F-4D97-AF65-F5344CB8AC3E}">
        <p14:creationId xmlns:p14="http://schemas.microsoft.com/office/powerpoint/2010/main" val="68669944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799" y="160148"/>
            <a:ext cx="8534400" cy="523220"/>
          </a:xfrm>
          <a:prstGeom prst="rect">
            <a:avLst/>
          </a:prstGeom>
          <a:noFill/>
        </p:spPr>
        <p:txBody>
          <a:bodyPr wrap="square" rtlCol="0">
            <a:spAutoFit/>
          </a:bodyPr>
          <a:lstStyle/>
          <a:p>
            <a:r>
              <a:rPr lang="en-US" sz="2800" dirty="0" smtClean="0"/>
              <a:t>Macro environmental factors</a:t>
            </a:r>
            <a:endParaRPr lang="en-US" sz="2800" dirty="0"/>
          </a:p>
        </p:txBody>
      </p:sp>
      <p:sp>
        <p:nvSpPr>
          <p:cNvPr id="3" name="TextBox 2"/>
          <p:cNvSpPr txBox="1"/>
          <p:nvPr/>
        </p:nvSpPr>
        <p:spPr>
          <a:xfrm>
            <a:off x="278218" y="700506"/>
            <a:ext cx="8713382" cy="3046988"/>
          </a:xfrm>
          <a:prstGeom prst="rect">
            <a:avLst/>
          </a:prstGeom>
          <a:noFill/>
        </p:spPr>
        <p:txBody>
          <a:bodyPr wrap="square" rtlCol="0">
            <a:spAutoFit/>
          </a:bodyPr>
          <a:lstStyle/>
          <a:p>
            <a:pPr algn="just"/>
            <a:r>
              <a:rPr lang="en-US" sz="2400" dirty="0" smtClean="0"/>
              <a:t>Macro environment refers to the major external and uncontrollable factors that influence the decision making of an organization. A company does not operate alone in its business environment, but operates in a larger context. It comprises of forces that provide opportunities, but at the same time also pose threats to company. Six components of macro environment are Demographic, Economic, Natural, Technological, Political and Cultural environments. </a:t>
            </a:r>
          </a:p>
          <a:p>
            <a:pPr algn="just"/>
            <a:endParaRPr lang="en-US" sz="2400" dirty="0"/>
          </a:p>
        </p:txBody>
      </p:sp>
      <p:pic>
        <p:nvPicPr>
          <p:cNvPr id="4" name="Picture 3" descr="No alt text provided for this image"/>
          <p:cNvPicPr/>
          <p:nvPr/>
        </p:nvPicPr>
        <p:blipFill>
          <a:blip r:embed="rId2">
            <a:extLst>
              <a:ext uri="{28A0092B-C50C-407E-A947-70E740481C1C}">
                <a14:useLocalDpi xmlns:a14="http://schemas.microsoft.com/office/drawing/2010/main" val="0"/>
              </a:ext>
            </a:extLst>
          </a:blip>
          <a:srcRect/>
          <a:stretch>
            <a:fillRect/>
          </a:stretch>
        </p:blipFill>
        <p:spPr bwMode="auto">
          <a:xfrm>
            <a:off x="2514600" y="3733800"/>
            <a:ext cx="4724399" cy="3124200"/>
          </a:xfrm>
          <a:prstGeom prst="rect">
            <a:avLst/>
          </a:prstGeom>
          <a:noFill/>
          <a:ln>
            <a:noFill/>
          </a:ln>
        </p:spPr>
      </p:pic>
    </p:spTree>
    <p:extLst>
      <p:ext uri="{BB962C8B-B14F-4D97-AF65-F5344CB8AC3E}">
        <p14:creationId xmlns:p14="http://schemas.microsoft.com/office/powerpoint/2010/main" val="31865708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58479"/>
            <a:ext cx="8915400" cy="6801862"/>
          </a:xfrm>
          <a:prstGeom prst="rect">
            <a:avLst/>
          </a:prstGeom>
          <a:noFill/>
        </p:spPr>
        <p:txBody>
          <a:bodyPr wrap="square" rtlCol="0">
            <a:spAutoFit/>
          </a:bodyPr>
          <a:lstStyle/>
          <a:p>
            <a:r>
              <a:rPr lang="en-US" sz="2000" b="1" dirty="0" smtClean="0">
                <a:effectLst>
                  <a:outerShdw blurRad="38100" dist="38100" dir="2700000" algn="tl">
                    <a:srgbClr val="000000">
                      <a:alpha val="43137"/>
                    </a:srgbClr>
                  </a:outerShdw>
                </a:effectLst>
              </a:rPr>
              <a:t>Demographic environment</a:t>
            </a:r>
          </a:p>
          <a:p>
            <a:pPr algn="just"/>
            <a:r>
              <a:rPr lang="en-US" sz="2000" dirty="0" smtClean="0"/>
              <a:t>Demography can be defined as the study of human population in context of size, density, age, location, gender, race, occupation and other statistics. The marketers have special interest in the demographic environment because it consists of people and people are the driving force for development of markets. The large and diverse demographics offer both opportunities as well as challenges for businesses.</a:t>
            </a:r>
          </a:p>
          <a:p>
            <a:endParaRPr lang="en-US" sz="2000" b="1" dirty="0" smtClean="0"/>
          </a:p>
          <a:p>
            <a:r>
              <a:rPr lang="en-US" sz="2000" b="1" dirty="0" smtClean="0">
                <a:effectLst>
                  <a:outerShdw blurRad="38100" dist="38100" dir="2700000" algn="tl">
                    <a:srgbClr val="000000">
                      <a:alpha val="43137"/>
                    </a:srgbClr>
                  </a:outerShdw>
                </a:effectLst>
              </a:rPr>
              <a:t>Economic environment</a:t>
            </a:r>
          </a:p>
          <a:p>
            <a:pPr algn="just"/>
            <a:r>
              <a:rPr lang="en-US" sz="2000" dirty="0" smtClean="0"/>
              <a:t>The economic environment consists of factors that can affect consumer purchasing power as well as the spending patterns. As an example, it is not advisable for a company to start exporting its goods to a country before having examined the citizens spending patterns. Important economic criteria includes GDP, GNI, Import duty rate, unemployment, inflation, spending patterns as well as the disposable personal income.</a:t>
            </a:r>
          </a:p>
          <a:p>
            <a:endParaRPr lang="en-US" dirty="0"/>
          </a:p>
          <a:p>
            <a:r>
              <a:rPr lang="en-US" sz="2000" b="1" dirty="0" smtClean="0">
                <a:effectLst>
                  <a:outerShdw blurRad="38100" dist="38100" dir="2700000" algn="tl">
                    <a:srgbClr val="000000">
                      <a:alpha val="43137"/>
                    </a:srgbClr>
                  </a:outerShdw>
                </a:effectLst>
              </a:rPr>
              <a:t>Natural environment</a:t>
            </a:r>
          </a:p>
          <a:p>
            <a:pPr algn="just"/>
            <a:r>
              <a:rPr lang="en-US" sz="2000" dirty="0" smtClean="0"/>
              <a:t>It refers to the natural resources or physical environment that are required as inputs by marketers or which is affected by the marketing activities. The ecological conditions have become a crucial factor to consider as the environmental concerns have grown strongly in the recent years. Example: air and water pollution, floods, droughts, etc</a:t>
            </a:r>
            <a:r>
              <a:rPr lang="en-US" dirty="0" smtClean="0"/>
              <a:t>.</a:t>
            </a:r>
          </a:p>
          <a:p>
            <a:endParaRPr lang="en-US" dirty="0"/>
          </a:p>
        </p:txBody>
      </p:sp>
    </p:spTree>
    <p:extLst>
      <p:ext uri="{BB962C8B-B14F-4D97-AF65-F5344CB8AC3E}">
        <p14:creationId xmlns:p14="http://schemas.microsoft.com/office/powerpoint/2010/main" val="40796232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2781" y="228600"/>
            <a:ext cx="8763000" cy="6247864"/>
          </a:xfrm>
          <a:prstGeom prst="rect">
            <a:avLst/>
          </a:prstGeom>
          <a:noFill/>
        </p:spPr>
        <p:txBody>
          <a:bodyPr wrap="square" rtlCol="0">
            <a:spAutoFit/>
          </a:bodyPr>
          <a:lstStyle/>
          <a:p>
            <a:r>
              <a:rPr lang="en-US" sz="2000" b="1" dirty="0" smtClean="0">
                <a:effectLst>
                  <a:outerShdw blurRad="38100" dist="38100" dir="2700000" algn="tl">
                    <a:srgbClr val="000000">
                      <a:alpha val="43137"/>
                    </a:srgbClr>
                  </a:outerShdw>
                </a:effectLst>
              </a:rPr>
              <a:t>Technological environment</a:t>
            </a:r>
          </a:p>
          <a:p>
            <a:pPr algn="just"/>
            <a:r>
              <a:rPr lang="en-US" sz="2000" dirty="0" smtClean="0"/>
              <a:t>Technology has a crucial influence in the macro environment. An organization needs to perform a thorough research on the spread and use of technology, before investing in any of marketing activities. The company needs to have an understanding of the technology penetration as well as user interface technology in the region and make plans accordingly for their communication and campaigns.</a:t>
            </a:r>
          </a:p>
          <a:p>
            <a:endParaRPr lang="en-US" sz="2000" b="1" dirty="0" smtClean="0">
              <a:effectLst>
                <a:outerShdw blurRad="38100" dist="38100" dir="2700000" algn="tl">
                  <a:srgbClr val="000000">
                    <a:alpha val="43137"/>
                  </a:srgbClr>
                </a:outerShdw>
              </a:effectLst>
            </a:endParaRPr>
          </a:p>
          <a:p>
            <a:r>
              <a:rPr lang="en-US" sz="2000" b="1" dirty="0" smtClean="0">
                <a:effectLst>
                  <a:outerShdw blurRad="38100" dist="38100" dir="2700000" algn="tl">
                    <a:srgbClr val="000000">
                      <a:alpha val="43137"/>
                    </a:srgbClr>
                  </a:outerShdw>
                </a:effectLst>
              </a:rPr>
              <a:t>Political environment</a:t>
            </a:r>
          </a:p>
          <a:p>
            <a:pPr algn="just"/>
            <a:r>
              <a:rPr lang="en-US" sz="2000" dirty="0" smtClean="0"/>
              <a:t>The developments in the political environment strongly affect the marketing decisions. This involves laws, government agencies, as well as the pressure groups that can influence or give constrains to various individuals or organizations in a given society.</a:t>
            </a:r>
          </a:p>
          <a:p>
            <a:endParaRPr lang="en-US" sz="2000" b="1" dirty="0" smtClean="0">
              <a:effectLst>
                <a:outerShdw blurRad="38100" dist="38100" dir="2700000" algn="tl">
                  <a:srgbClr val="000000">
                    <a:alpha val="43137"/>
                  </a:srgbClr>
                </a:outerShdw>
              </a:effectLst>
            </a:endParaRPr>
          </a:p>
          <a:p>
            <a:r>
              <a:rPr lang="en-US" sz="2000" b="1" dirty="0" smtClean="0">
                <a:effectLst>
                  <a:outerShdw blurRad="38100" dist="38100" dir="2700000" algn="tl">
                    <a:srgbClr val="000000">
                      <a:alpha val="43137"/>
                    </a:srgbClr>
                  </a:outerShdw>
                </a:effectLst>
              </a:rPr>
              <a:t>Cultural environment</a:t>
            </a:r>
          </a:p>
          <a:p>
            <a:pPr algn="just"/>
            <a:r>
              <a:rPr lang="en-US" sz="2000" dirty="0" smtClean="0"/>
              <a:t>The cultural environment links to factors which affects the basic values, preference, perceptions and behavior of the society. Organizations needs to understand the cultural beliefs and practices prevalent in society for marketing decision making. Failure of companies in understanding foreign cultures can lead to many cultural blunders. For example, a symbol having a positive meaning in one culture can have a negative meaning in some other culture.</a:t>
            </a:r>
          </a:p>
        </p:txBody>
      </p:sp>
    </p:spTree>
    <p:extLst>
      <p:ext uri="{BB962C8B-B14F-4D97-AF65-F5344CB8AC3E}">
        <p14:creationId xmlns:p14="http://schemas.microsoft.com/office/powerpoint/2010/main" val="269859968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716" y="1600200"/>
            <a:ext cx="8686800" cy="3416320"/>
          </a:xfrm>
          <a:prstGeom prst="rect">
            <a:avLst/>
          </a:prstGeom>
          <a:noFill/>
        </p:spPr>
        <p:txBody>
          <a:bodyPr wrap="square" rtlCol="0">
            <a:spAutoFit/>
          </a:bodyPr>
          <a:lstStyle/>
          <a:p>
            <a:pPr algn="just"/>
            <a:r>
              <a:rPr lang="en-US" sz="2400" dirty="0" smtClean="0"/>
              <a:t>In conclusion, success of any marketing campaigns is highly dependent on the micro and macro environmental factors. Any strategic marketer should have an in-depth consideration of these factors for any decision making. Considering these factors can boost the success rates of marketing campaigns for any organization as well as increase the reputation of brand in long term.</a:t>
            </a:r>
          </a:p>
          <a:p>
            <a:endParaRPr lang="en-US" sz="2400" dirty="0"/>
          </a:p>
          <a:p>
            <a:endParaRPr lang="en-US" sz="24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17169466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740282"/>
            <a:ext cx="7772400" cy="523220"/>
          </a:xfrm>
          <a:prstGeom prst="rect">
            <a:avLst/>
          </a:prstGeom>
          <a:noFill/>
        </p:spPr>
        <p:txBody>
          <a:bodyPr wrap="square" rtlCol="0">
            <a:spAutoFit/>
          </a:bodyPr>
          <a:lstStyle/>
          <a:p>
            <a:r>
              <a:rPr lang="en-US" sz="2800" b="1" dirty="0">
                <a:latin typeface="Times New Roman" pitchFamily="18" charset="0"/>
                <a:cs typeface="Times New Roman" pitchFamily="18" charset="0"/>
              </a:rPr>
              <a:t>What are core competencies?</a:t>
            </a:r>
          </a:p>
        </p:txBody>
      </p:sp>
      <p:sp>
        <p:nvSpPr>
          <p:cNvPr id="3" name="TextBox 2"/>
          <p:cNvSpPr txBox="1"/>
          <p:nvPr/>
        </p:nvSpPr>
        <p:spPr>
          <a:xfrm>
            <a:off x="304800" y="1219200"/>
            <a:ext cx="8534400" cy="5262979"/>
          </a:xfrm>
          <a:prstGeom prst="rect">
            <a:avLst/>
          </a:prstGeom>
          <a:noFill/>
        </p:spPr>
        <p:txBody>
          <a:bodyPr wrap="square" rtlCol="0">
            <a:spAutoFit/>
          </a:bodyPr>
          <a:lstStyle/>
          <a:p>
            <a:pPr algn="just"/>
            <a:r>
              <a:rPr lang="en-US" sz="2800" dirty="0"/>
              <a:t>Core competencies are the defining products, services, skills and capabilities that give a business advantages over its competitors. In other words, business core competencies are advantages that no competitor can reasonably offer or replicate. Identifying </a:t>
            </a:r>
            <a:r>
              <a:rPr lang="en-US" sz="2800" dirty="0" smtClean="0"/>
              <a:t>your company’s </a:t>
            </a:r>
            <a:r>
              <a:rPr lang="en-US" sz="2800" dirty="0"/>
              <a:t>core competencies – including its core products and most compelling competitive advantages – is an essential business strategy for proving your value to new and longtime customers. When you know your business’s core competencies, you can strengthen your company’s reputation, keep current customers, and grow your business with new sales and marketing efforts.</a:t>
            </a:r>
          </a:p>
        </p:txBody>
      </p:sp>
    </p:spTree>
    <p:extLst>
      <p:ext uri="{BB962C8B-B14F-4D97-AF65-F5344CB8AC3E}">
        <p14:creationId xmlns:p14="http://schemas.microsoft.com/office/powerpoint/2010/main" val="218426030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2019" y="369332"/>
            <a:ext cx="8763000" cy="461665"/>
          </a:xfrm>
          <a:prstGeom prst="rect">
            <a:avLst/>
          </a:prstGeom>
          <a:noFill/>
        </p:spPr>
        <p:txBody>
          <a:bodyPr wrap="square" rtlCol="0">
            <a:spAutoFit/>
          </a:bodyPr>
          <a:lstStyle/>
          <a:p>
            <a:endParaRPr lang="en-US" sz="2400" b="1" dirty="0">
              <a:effectLst>
                <a:outerShdw blurRad="38100" dist="38100" dir="2700000" algn="tl">
                  <a:srgbClr val="000000">
                    <a:alpha val="43137"/>
                  </a:srgbClr>
                </a:outerShdw>
              </a:effectLst>
            </a:endParaRPr>
          </a:p>
        </p:txBody>
      </p:sp>
      <p:sp>
        <p:nvSpPr>
          <p:cNvPr id="4" name="TextBox 3"/>
          <p:cNvSpPr txBox="1"/>
          <p:nvPr/>
        </p:nvSpPr>
        <p:spPr>
          <a:xfrm>
            <a:off x="392519" y="369332"/>
            <a:ext cx="8382000" cy="400110"/>
          </a:xfrm>
          <a:prstGeom prst="rect">
            <a:avLst/>
          </a:prstGeom>
          <a:noFill/>
        </p:spPr>
        <p:txBody>
          <a:bodyPr wrap="square" rtlCol="0">
            <a:spAutoFit/>
          </a:bodyPr>
          <a:lstStyle/>
          <a:p>
            <a:pPr algn="just"/>
            <a:endParaRPr lang="en-US" sz="2000" dirty="0"/>
          </a:p>
        </p:txBody>
      </p:sp>
      <p:sp>
        <p:nvSpPr>
          <p:cNvPr id="2" name="TextBox 1"/>
          <p:cNvSpPr txBox="1"/>
          <p:nvPr/>
        </p:nvSpPr>
        <p:spPr>
          <a:xfrm>
            <a:off x="408468" y="848265"/>
            <a:ext cx="8572500" cy="523220"/>
          </a:xfrm>
          <a:prstGeom prst="rect">
            <a:avLst/>
          </a:prstGeom>
          <a:noFill/>
        </p:spPr>
        <p:txBody>
          <a:bodyPr wrap="square" rtlCol="0">
            <a:spAutoFit/>
          </a:bodyPr>
          <a:lstStyle/>
          <a:p>
            <a:r>
              <a:rPr lang="en-US" sz="2800" b="1" dirty="0"/>
              <a:t>What are examples of core competencies in business?</a:t>
            </a:r>
          </a:p>
        </p:txBody>
      </p:sp>
      <p:sp>
        <p:nvSpPr>
          <p:cNvPr id="5" name="TextBox 4"/>
          <p:cNvSpPr txBox="1"/>
          <p:nvPr/>
        </p:nvSpPr>
        <p:spPr>
          <a:xfrm>
            <a:off x="217968" y="2819400"/>
            <a:ext cx="8763000" cy="3108543"/>
          </a:xfrm>
          <a:prstGeom prst="rect">
            <a:avLst/>
          </a:prstGeom>
          <a:noFill/>
        </p:spPr>
        <p:txBody>
          <a:bodyPr wrap="square" rtlCol="0">
            <a:spAutoFit/>
          </a:bodyPr>
          <a:lstStyle/>
          <a:p>
            <a:r>
              <a:rPr lang="en-US" sz="2800" dirty="0" smtClean="0"/>
              <a:t>Some </a:t>
            </a:r>
            <a:r>
              <a:rPr lang="en-US" sz="2800" dirty="0"/>
              <a:t>typical core competencies include the following:</a:t>
            </a:r>
          </a:p>
          <a:p>
            <a:pPr marL="285750" indent="-285750">
              <a:buFont typeface="Arial" pitchFamily="34" charset="0"/>
              <a:buChar char="•"/>
            </a:pPr>
            <a:r>
              <a:rPr lang="en-US" sz="2800" dirty="0" smtClean="0"/>
              <a:t>Consistently </a:t>
            </a:r>
            <a:r>
              <a:rPr lang="en-US" sz="2800" dirty="0"/>
              <a:t>high quality</a:t>
            </a:r>
          </a:p>
          <a:p>
            <a:pPr marL="285750" indent="-285750">
              <a:buFont typeface="Arial" pitchFamily="34" charset="0"/>
              <a:buChar char="•"/>
            </a:pPr>
            <a:r>
              <a:rPr lang="en-US" sz="2800" dirty="0" smtClean="0"/>
              <a:t>Incomparable </a:t>
            </a:r>
            <a:r>
              <a:rPr lang="en-US" sz="2800" dirty="0"/>
              <a:t>value</a:t>
            </a:r>
          </a:p>
          <a:p>
            <a:pPr marL="285750" indent="-285750">
              <a:buFont typeface="Arial" pitchFamily="34" charset="0"/>
              <a:buChar char="•"/>
            </a:pPr>
            <a:r>
              <a:rPr lang="en-US" sz="2800" dirty="0" smtClean="0"/>
              <a:t>Ceaseless </a:t>
            </a:r>
            <a:r>
              <a:rPr lang="en-US" sz="2800" dirty="0"/>
              <a:t>innovation</a:t>
            </a:r>
          </a:p>
          <a:p>
            <a:pPr marL="285750" indent="-285750">
              <a:buFont typeface="Arial" pitchFamily="34" charset="0"/>
              <a:buChar char="•"/>
            </a:pPr>
            <a:r>
              <a:rPr lang="en-US" sz="2800" dirty="0" smtClean="0"/>
              <a:t>Clever</a:t>
            </a:r>
            <a:r>
              <a:rPr lang="en-US" sz="2800" dirty="0"/>
              <a:t>, successful marketing</a:t>
            </a:r>
          </a:p>
          <a:p>
            <a:pPr marL="285750" indent="-285750">
              <a:buFont typeface="Arial" pitchFamily="34" charset="0"/>
              <a:buChar char="•"/>
            </a:pPr>
            <a:r>
              <a:rPr lang="en-US" sz="2800" dirty="0" smtClean="0"/>
              <a:t>Great </a:t>
            </a:r>
            <a:r>
              <a:rPr lang="en-US" sz="2800" dirty="0"/>
              <a:t>customer service</a:t>
            </a:r>
          </a:p>
          <a:p>
            <a:pPr marL="285750" indent="-285750">
              <a:buFont typeface="Arial" pitchFamily="34" charset="0"/>
              <a:buChar char="•"/>
            </a:pPr>
            <a:r>
              <a:rPr lang="en-US" sz="2800" dirty="0" smtClean="0"/>
              <a:t>Formidable </a:t>
            </a:r>
            <a:r>
              <a:rPr lang="en-US" sz="2800" dirty="0"/>
              <a:t>size and buying power</a:t>
            </a:r>
          </a:p>
        </p:txBody>
      </p:sp>
    </p:spTree>
    <p:extLst>
      <p:ext uri="{BB962C8B-B14F-4D97-AF65-F5344CB8AC3E}">
        <p14:creationId xmlns:p14="http://schemas.microsoft.com/office/powerpoint/2010/main" val="5304375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44000" cy="6555641"/>
          </a:xfrm>
          <a:prstGeom prst="rect">
            <a:avLst/>
          </a:prstGeom>
          <a:noFill/>
        </p:spPr>
        <p:txBody>
          <a:bodyPr wrap="square" rtlCol="0">
            <a:spAutoFit/>
          </a:bodyPr>
          <a:lstStyle/>
          <a:p>
            <a:pPr algn="just"/>
            <a:endParaRPr lang="en-US" sz="2000" dirty="0" smtClean="0"/>
          </a:p>
          <a:p>
            <a:pPr algn="just"/>
            <a:r>
              <a:rPr lang="en-US" sz="2000" b="1" dirty="0" smtClean="0"/>
              <a:t>Consistent </a:t>
            </a:r>
            <a:r>
              <a:rPr lang="en-US" sz="2000" b="1" dirty="0"/>
              <a:t>high quality: </a:t>
            </a:r>
            <a:r>
              <a:rPr lang="en-US" sz="2000" dirty="0"/>
              <a:t>Google is the world’s leading search engine and one of the </a:t>
            </a:r>
            <a:r>
              <a:rPr lang="en-US" sz="2000" dirty="0" smtClean="0"/>
              <a:t>most-used </a:t>
            </a:r>
            <a:r>
              <a:rPr lang="en-US" sz="2000" dirty="0"/>
              <a:t>email, calendar and cloud storage platforms. Its software quality </a:t>
            </a:r>
            <a:r>
              <a:rPr lang="en-US" sz="2000" dirty="0" smtClean="0"/>
              <a:t>remains consistently </a:t>
            </a:r>
            <a:r>
              <a:rPr lang="en-US" sz="2000" dirty="0"/>
              <a:t>high, no matter the tool. Whether you’re using Google Photos to access your beloved memories, Docs to create and edit text, Google Analytics to gain website insights, Google Calendar to manage your time, or Maps to get around, you likely turn to Google for its ease of use, modern look and feel, and extensive organization options</a:t>
            </a:r>
            <a:r>
              <a:rPr lang="en-US" sz="2000" dirty="0" smtClean="0"/>
              <a:t>.</a:t>
            </a:r>
          </a:p>
          <a:p>
            <a:pPr algn="just"/>
            <a:endParaRPr lang="en-US" sz="2000" b="1" dirty="0" smtClean="0"/>
          </a:p>
          <a:p>
            <a:pPr algn="just"/>
            <a:r>
              <a:rPr lang="en-US" sz="2000" b="1" dirty="0" smtClean="0"/>
              <a:t>Incomparable </a:t>
            </a:r>
            <a:r>
              <a:rPr lang="en-US" sz="2000" b="1" dirty="0"/>
              <a:t>value: </a:t>
            </a:r>
            <a:r>
              <a:rPr lang="en-US" sz="2000" dirty="0"/>
              <a:t>Many companies use Drop box for quick and simple file sharing because it makes these tasks easier and its price is widely seen as incredibly reasonable for its services. For a massive amount of cloud storage, offline file access, e-sign tools and watermarking features, business owners pay $24 per user per month. </a:t>
            </a:r>
            <a:endParaRPr lang="en-US" sz="2000" dirty="0" smtClean="0"/>
          </a:p>
          <a:p>
            <a:pPr algn="just"/>
            <a:endParaRPr lang="en-US" sz="2000" b="1" dirty="0" smtClean="0"/>
          </a:p>
          <a:p>
            <a:pPr algn="just"/>
            <a:r>
              <a:rPr lang="en-US" sz="2000" b="1" dirty="0" smtClean="0"/>
              <a:t>Ceaseless </a:t>
            </a:r>
            <a:r>
              <a:rPr lang="en-US" sz="2000" b="1" dirty="0"/>
              <a:t>innovation: </a:t>
            </a:r>
            <a:r>
              <a:rPr lang="en-US" sz="2000" dirty="0"/>
              <a:t>Whatever QuickBooks version you use, QuickBooks has been the best accounting software for decades because it constantly adds new tools and features that other platforms just don’t have. The brand’s ceaseless innovation is the crux of its competency model and a primary reason it has long been seen as the first accounting software choice for businesses of all sizes. Read our QuickBooks review to learn more.</a:t>
            </a:r>
          </a:p>
        </p:txBody>
      </p:sp>
    </p:spTree>
    <p:extLst>
      <p:ext uri="{BB962C8B-B14F-4D97-AF65-F5344CB8AC3E}">
        <p14:creationId xmlns:p14="http://schemas.microsoft.com/office/powerpoint/2010/main" val="326165283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6069" y="457200"/>
            <a:ext cx="8686800" cy="6247864"/>
          </a:xfrm>
          <a:prstGeom prst="rect">
            <a:avLst/>
          </a:prstGeom>
          <a:noFill/>
        </p:spPr>
        <p:txBody>
          <a:bodyPr wrap="square" rtlCol="0">
            <a:spAutoFit/>
          </a:bodyPr>
          <a:lstStyle/>
          <a:p>
            <a:pPr algn="just"/>
            <a:r>
              <a:rPr lang="en-US" sz="2000" b="1" dirty="0"/>
              <a:t>Clever, successful marketing: </a:t>
            </a:r>
            <a:r>
              <a:rPr lang="en-US" sz="2000" dirty="0"/>
              <a:t>Chances are good that no matter where you live, you have an abundance of department stores to choose from when you need all manner of items. Despite the competition, Target has continued to expand largely because its brand is undeniable. Marketing images of employees in red shirts, its branded mascot Bulls eye the white bull terrier, its familiar fonts, and its consistent red-and-white motif have caught the eyes of customers – and sellers – for decades</a:t>
            </a:r>
            <a:r>
              <a:rPr lang="en-US" sz="2000" dirty="0" smtClean="0"/>
              <a:t>.</a:t>
            </a:r>
          </a:p>
          <a:p>
            <a:pPr algn="just"/>
            <a:r>
              <a:rPr lang="en-US" sz="2000" b="1" dirty="0" smtClean="0"/>
              <a:t>Exciting </a:t>
            </a:r>
            <a:r>
              <a:rPr lang="en-US" sz="2000" b="1" dirty="0"/>
              <a:t>size and buying power: </a:t>
            </a:r>
            <a:r>
              <a:rPr lang="en-US" sz="2000" dirty="0"/>
              <a:t>Part of why McDonald’s has been able to expand its dominance worldwide is its size and buying power. The company is so large and has such massive buying power that it can easily afford to open new franchise locations wherever it pleases. It also has enough buying power and a large enough supply chain to purchase food at such low prices that it can sell meals at highly competitive prices</a:t>
            </a:r>
            <a:r>
              <a:rPr lang="en-US" sz="2000" dirty="0" smtClean="0"/>
              <a:t>.</a:t>
            </a:r>
          </a:p>
          <a:p>
            <a:pPr algn="just"/>
            <a:r>
              <a:rPr lang="en-US" sz="2000" b="1" dirty="0"/>
              <a:t>Great customer service: </a:t>
            </a:r>
            <a:r>
              <a:rPr lang="en-US" sz="2000" dirty="0"/>
              <a:t>Amazon is arguably the most </a:t>
            </a:r>
            <a:r>
              <a:rPr lang="en-US" sz="2000" dirty="0" smtClean="0"/>
              <a:t>universal </a:t>
            </a:r>
            <a:r>
              <a:rPr lang="en-US" sz="2000" dirty="0"/>
              <a:t>brand in the world, and its success comes in large part from its </a:t>
            </a:r>
            <a:r>
              <a:rPr lang="en-US" sz="2000" dirty="0" smtClean="0"/>
              <a:t>unmatched </a:t>
            </a:r>
            <a:r>
              <a:rPr lang="en-US" sz="2000" dirty="0"/>
              <a:t>ability to provide excellent customer service. Given that Amazon’s online marketplace lacks one defining core product and is instead a sea of options that fulfill </a:t>
            </a:r>
            <a:r>
              <a:rPr lang="en-US" sz="2000" dirty="0" smtClean="0"/>
              <a:t>countless </a:t>
            </a:r>
            <a:r>
              <a:rPr lang="en-US" sz="2000" dirty="0"/>
              <a:t>wants and needs, the company’s strategic planning has long involved an </a:t>
            </a:r>
            <a:r>
              <a:rPr lang="en-US" sz="2000" dirty="0" smtClean="0"/>
              <a:t>persistent </a:t>
            </a:r>
            <a:r>
              <a:rPr lang="en-US" sz="2000" dirty="0"/>
              <a:t>focus on customer satisfaction. Amazon Stores are also an excellent tool for businesses that want to </a:t>
            </a:r>
            <a:r>
              <a:rPr lang="en-US" sz="2000"/>
              <a:t>start </a:t>
            </a:r>
            <a:r>
              <a:rPr lang="en-US" sz="2000" smtClean="0"/>
              <a:t> selling </a:t>
            </a:r>
            <a:r>
              <a:rPr lang="en-US" sz="2000" dirty="0"/>
              <a:t>online. </a:t>
            </a:r>
          </a:p>
        </p:txBody>
      </p:sp>
    </p:spTree>
    <p:extLst>
      <p:ext uri="{BB962C8B-B14F-4D97-AF65-F5344CB8AC3E}">
        <p14:creationId xmlns:p14="http://schemas.microsoft.com/office/powerpoint/2010/main" val="275758033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275</TotalTime>
  <Words>1162</Words>
  <Application>Microsoft Office PowerPoint</Application>
  <PresentationFormat>On-screen Show (4:3)</PresentationFormat>
  <Paragraphs>40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Executive</vt:lpstr>
      <vt:lpstr>Chapter 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dc:title>
  <dc:creator>Sraboni</dc:creator>
  <cp:lastModifiedBy>Sraboni</cp:lastModifiedBy>
  <cp:revision>11</cp:revision>
  <dcterms:created xsi:type="dcterms:W3CDTF">2024-12-12T06:06:59Z</dcterms:created>
  <dcterms:modified xsi:type="dcterms:W3CDTF">2025-02-12T09:40:08Z</dcterms:modified>
</cp:coreProperties>
</file>