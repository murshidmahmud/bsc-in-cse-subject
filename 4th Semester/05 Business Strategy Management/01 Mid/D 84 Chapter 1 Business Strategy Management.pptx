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sldIdLst>
    <p:sldId id="256" r:id="rId2"/>
    <p:sldId id="257" r:id="rId3"/>
    <p:sldId id="258" r:id="rId4"/>
    <p:sldId id="259" r:id="rId5"/>
    <p:sldId id="260" r:id="rId6"/>
    <p:sldId id="261" r:id="rId7"/>
    <p:sldId id="262" r:id="rId8"/>
    <p:sldId id="263" r:id="rId9"/>
    <p:sldId id="264" r:id="rId10"/>
    <p:sldId id="265" r:id="rId11"/>
    <p:sldId id="268" r:id="rId12"/>
    <p:sldId id="267"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45" d="100"/>
          <a:sy n="45" d="100"/>
        </p:scale>
        <p:origin x="-1884"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95" name="Group 94"/>
          <p:cNvGrpSpPr/>
          <p:nvPr/>
        </p:nvGrpSpPr>
        <p:grpSpPr>
          <a:xfrm>
            <a:off x="0" y="-30477"/>
            <a:ext cx="9067800" cy="6889273"/>
            <a:chOff x="0" y="-30477"/>
            <a:chExt cx="9067800" cy="6889273"/>
          </a:xfrm>
        </p:grpSpPr>
        <p:cxnSp>
          <p:nvCxnSpPr>
            <p:cNvPr id="110" name="Straight Connector 109"/>
            <p:cNvCxnSpPr/>
            <p:nvPr/>
          </p:nvCxnSpPr>
          <p:spPr>
            <a:xfrm rot="16200000" flipH="1">
              <a:off x="-1447800" y="3352800"/>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rot="16200000" flipH="1">
              <a:off x="-1638300" y="3238500"/>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rot="5400000">
              <a:off x="-1485900" y="3238500"/>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rot="5400000">
              <a:off x="-3238500" y="3314700"/>
              <a:ext cx="6858000"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rot="16200000" flipH="1">
              <a:off x="-3314700" y="3314700"/>
              <a:ext cx="6858000"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rot="16200000" flipH="1">
              <a:off x="-1371600" y="2971800"/>
              <a:ext cx="6858000" cy="9144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rot="16200000" flipH="1">
              <a:off x="-2819400" y="3200400"/>
              <a:ext cx="6858000" cy="457200"/>
            </a:xfrm>
            <a:prstGeom prst="line">
              <a:avLst/>
            </a:prstGeom>
            <a:ln>
              <a:solidFill>
                <a:schemeClr val="accent1">
                  <a:alpha val="90000"/>
                </a:schemeClr>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rot="5400000">
              <a:off x="-2705099" y="3238500"/>
              <a:ext cx="6858000" cy="3810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rot="16200000" flipH="1">
              <a:off x="-2133600" y="3200400"/>
              <a:ext cx="6858000"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rot="16200000" flipH="1">
              <a:off x="-3124200" y="3276600"/>
              <a:ext cx="68580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rot="16200000" flipH="1">
              <a:off x="-1828799" y="3352799"/>
              <a:ext cx="6858000"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rot="16200000" flipH="1">
              <a:off x="-28194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a:xfrm rot="16200000" flipH="1">
              <a:off x="-2438400" y="3124200"/>
              <a:ext cx="6858000" cy="6096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a:xfrm rot="5400000">
              <a:off x="-1731645" y="2722245"/>
              <a:ext cx="6858000" cy="1413510"/>
            </a:xfrm>
            <a:prstGeom prst="line">
              <a:avLst/>
            </a:prstGeom>
            <a:ln>
              <a:solidFill>
                <a:schemeClr val="accent1">
                  <a:alpha val="39000"/>
                </a:scheme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a:xfrm rot="5400000">
              <a:off x="-1142048" y="3277552"/>
              <a:ext cx="6858000"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a:xfrm rot="5400000">
              <a:off x="-914400" y="3276600"/>
              <a:ext cx="68580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rot="5400000">
              <a:off x="-1855470" y="3227070"/>
              <a:ext cx="6858000"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rot="16200000" flipH="1">
              <a:off x="-2643187" y="3252788"/>
              <a:ext cx="6858000" cy="352425"/>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a:xfrm rot="16200000" flipH="1">
              <a:off x="-1954530" y="3326130"/>
              <a:ext cx="6858000" cy="205740"/>
            </a:xfrm>
            <a:prstGeom prst="line">
              <a:avLst/>
            </a:prstGeom>
            <a:ln w="5080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a:xfrm rot="16200000" flipH="1">
              <a:off x="-2362200" y="3352800"/>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a:xfrm rot="16200000" flipH="1">
              <a:off x="-21336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a:xfrm rot="16200000" flipH="1">
              <a:off x="1066800" y="3352800"/>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1" name="Straight Connector 210"/>
            <p:cNvCxnSpPr/>
            <p:nvPr/>
          </p:nvCxnSpPr>
          <p:spPr>
            <a:xfrm rot="16200000" flipH="1">
              <a:off x="876300" y="3238500"/>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2" name="Straight Connector 211"/>
            <p:cNvCxnSpPr/>
            <p:nvPr/>
          </p:nvCxnSpPr>
          <p:spPr>
            <a:xfrm rot="5400000">
              <a:off x="1028700" y="3238500"/>
              <a:ext cx="6858000" cy="3810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p:cNvCxnSpPr/>
            <p:nvPr/>
          </p:nvCxnSpPr>
          <p:spPr>
            <a:xfrm rot="5400000">
              <a:off x="-723900" y="3314700"/>
              <a:ext cx="6858000"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p:cNvCxnSpPr/>
            <p:nvPr/>
          </p:nvCxnSpPr>
          <p:spPr>
            <a:xfrm rot="16200000" flipH="1">
              <a:off x="-800100" y="3314700"/>
              <a:ext cx="6858000"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5" name="Straight Connector 214"/>
            <p:cNvCxnSpPr/>
            <p:nvPr/>
          </p:nvCxnSpPr>
          <p:spPr>
            <a:xfrm rot="5400000">
              <a:off x="-152400" y="3429000"/>
              <a:ext cx="6858000" cy="1588"/>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p:cNvCxnSpPr/>
            <p:nvPr/>
          </p:nvCxnSpPr>
          <p:spPr>
            <a:xfrm rot="16200000" flipH="1">
              <a:off x="-304800" y="3200400"/>
              <a:ext cx="6858000" cy="4572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p:cNvCxnSpPr/>
            <p:nvPr/>
          </p:nvCxnSpPr>
          <p:spPr>
            <a:xfrm rot="5400000">
              <a:off x="-190499" y="3238500"/>
              <a:ext cx="6858000" cy="381000"/>
            </a:xfrm>
            <a:prstGeom prst="line">
              <a:avLst/>
            </a:prstGeom>
            <a:ln w="5080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p:cNvCxnSpPr/>
            <p:nvPr/>
          </p:nvCxnSpPr>
          <p:spPr>
            <a:xfrm rot="16200000" flipH="1">
              <a:off x="381000" y="3200400"/>
              <a:ext cx="6858000"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p:cNvCxnSpPr/>
            <p:nvPr/>
          </p:nvCxnSpPr>
          <p:spPr>
            <a:xfrm rot="16200000" flipH="1">
              <a:off x="-609600" y="3276600"/>
              <a:ext cx="68580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0" name="Straight Connector 219"/>
            <p:cNvCxnSpPr/>
            <p:nvPr/>
          </p:nvCxnSpPr>
          <p:spPr>
            <a:xfrm rot="16200000" flipH="1">
              <a:off x="685801" y="3352799"/>
              <a:ext cx="6858000" cy="152401"/>
            </a:xfrm>
            <a:prstGeom prst="line">
              <a:avLst/>
            </a:prstGeom>
            <a:ln w="5080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p:cNvCxnSpPr/>
            <p:nvPr/>
          </p:nvCxnSpPr>
          <p:spPr>
            <a:xfrm rot="16200000" flipH="1">
              <a:off x="-3048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22" name="Straight Connector 221"/>
            <p:cNvCxnSpPr/>
            <p:nvPr/>
          </p:nvCxnSpPr>
          <p:spPr>
            <a:xfrm rot="5400000">
              <a:off x="-1028700" y="3314700"/>
              <a:ext cx="6858000" cy="2286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p:cNvCxnSpPr/>
            <p:nvPr/>
          </p:nvCxnSpPr>
          <p:spPr>
            <a:xfrm rot="5400000">
              <a:off x="782955" y="2722245"/>
              <a:ext cx="6858000" cy="1413510"/>
            </a:xfrm>
            <a:prstGeom prst="line">
              <a:avLst/>
            </a:prstGeom>
            <a:ln>
              <a:solidFill>
                <a:schemeClr val="accent1">
                  <a:alpha val="39000"/>
                </a:schemeClr>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p:cNvCxnSpPr/>
            <p:nvPr/>
          </p:nvCxnSpPr>
          <p:spPr>
            <a:xfrm rot="5400000">
              <a:off x="1372552" y="3277552"/>
              <a:ext cx="6858000"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25" name="Straight Connector 224"/>
            <p:cNvCxnSpPr/>
            <p:nvPr/>
          </p:nvCxnSpPr>
          <p:spPr>
            <a:xfrm rot="5400000">
              <a:off x="1600200" y="3352800"/>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6" name="Straight Connector 225"/>
            <p:cNvCxnSpPr/>
            <p:nvPr/>
          </p:nvCxnSpPr>
          <p:spPr>
            <a:xfrm rot="5400000">
              <a:off x="659130" y="3227070"/>
              <a:ext cx="6858000"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27" name="Straight Connector 226"/>
            <p:cNvCxnSpPr/>
            <p:nvPr/>
          </p:nvCxnSpPr>
          <p:spPr>
            <a:xfrm rot="16200000" flipH="1">
              <a:off x="-128587" y="3252788"/>
              <a:ext cx="6858000" cy="352425"/>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228" name="Straight Connector 227"/>
            <p:cNvCxnSpPr/>
            <p:nvPr/>
          </p:nvCxnSpPr>
          <p:spPr>
            <a:xfrm rot="16200000" flipH="1">
              <a:off x="560070" y="3326130"/>
              <a:ext cx="6858000"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9" name="Straight Connector 228"/>
            <p:cNvCxnSpPr/>
            <p:nvPr/>
          </p:nvCxnSpPr>
          <p:spPr>
            <a:xfrm rot="16200000" flipH="1">
              <a:off x="152400" y="3352800"/>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0" name="Straight Connector 229"/>
            <p:cNvCxnSpPr/>
            <p:nvPr/>
          </p:nvCxnSpPr>
          <p:spPr>
            <a:xfrm rot="16200000" flipH="1">
              <a:off x="3810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37" name="Straight Connector 236"/>
            <p:cNvCxnSpPr/>
            <p:nvPr/>
          </p:nvCxnSpPr>
          <p:spPr>
            <a:xfrm rot="16200000" flipH="1">
              <a:off x="2743200" y="3352801"/>
              <a:ext cx="6858000" cy="152400"/>
            </a:xfrm>
            <a:prstGeom prst="line">
              <a:avLst/>
            </a:prstGeom>
            <a:ln w="5080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p:nvCxnSpPr>
          <p:spPr>
            <a:xfrm rot="16200000" flipH="1">
              <a:off x="2095501" y="3238501"/>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9" name="Straight Connector 238"/>
            <p:cNvCxnSpPr/>
            <p:nvPr/>
          </p:nvCxnSpPr>
          <p:spPr>
            <a:xfrm rot="5400000">
              <a:off x="2705100" y="3238501"/>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0" name="Straight Connector 239"/>
            <p:cNvCxnSpPr/>
            <p:nvPr/>
          </p:nvCxnSpPr>
          <p:spPr>
            <a:xfrm rot="5400000">
              <a:off x="1828801" y="3276600"/>
              <a:ext cx="6857999" cy="3048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p:cNvCxnSpPr/>
            <p:nvPr/>
          </p:nvCxnSpPr>
          <p:spPr>
            <a:xfrm rot="16200000" flipH="1">
              <a:off x="1066800" y="3200402"/>
              <a:ext cx="6858000"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p:cNvCxnSpPr/>
            <p:nvPr/>
          </p:nvCxnSpPr>
          <p:spPr>
            <a:xfrm rot="16200000" flipH="1">
              <a:off x="2362201" y="3352800"/>
              <a:ext cx="6858000"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243" name="Straight Connector 242"/>
            <p:cNvCxnSpPr/>
            <p:nvPr/>
          </p:nvCxnSpPr>
          <p:spPr>
            <a:xfrm rot="5400000">
              <a:off x="2646045" y="2722246"/>
              <a:ext cx="6858000" cy="1413510"/>
            </a:xfrm>
            <a:prstGeom prst="line">
              <a:avLst/>
            </a:prstGeom>
            <a:ln>
              <a:solidFill>
                <a:schemeClr val="accent1">
                  <a:alpha val="56000"/>
                </a:schemeClr>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p:cNvCxnSpPr/>
            <p:nvPr/>
          </p:nvCxnSpPr>
          <p:spPr>
            <a:xfrm rot="5400000">
              <a:off x="3048952" y="3277553"/>
              <a:ext cx="6858000"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45" name="Straight Connector 244"/>
            <p:cNvCxnSpPr/>
            <p:nvPr/>
          </p:nvCxnSpPr>
          <p:spPr>
            <a:xfrm rot="5400000">
              <a:off x="2895600" y="3276601"/>
              <a:ext cx="68580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6" name="Straight Connector 245"/>
            <p:cNvCxnSpPr/>
            <p:nvPr/>
          </p:nvCxnSpPr>
          <p:spPr>
            <a:xfrm rot="5400000">
              <a:off x="2388870" y="3227071"/>
              <a:ext cx="6858000"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47" name="Straight Connector 246"/>
            <p:cNvCxnSpPr/>
            <p:nvPr/>
          </p:nvCxnSpPr>
          <p:spPr>
            <a:xfrm rot="16200000" flipH="1">
              <a:off x="2236470" y="3326131"/>
              <a:ext cx="6858000"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rot="16200000" flipH="1">
              <a:off x="1752600" y="3352801"/>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9" name="Straight Connector 248"/>
            <p:cNvCxnSpPr/>
            <p:nvPr/>
          </p:nvCxnSpPr>
          <p:spPr>
            <a:xfrm rot="16200000" flipH="1">
              <a:off x="19812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50" name="Straight Connector 249"/>
            <p:cNvCxnSpPr/>
            <p:nvPr/>
          </p:nvCxnSpPr>
          <p:spPr>
            <a:xfrm rot="5400000">
              <a:off x="3467100" y="3314701"/>
              <a:ext cx="6858000"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p:cNvCxnSpPr/>
            <p:nvPr/>
          </p:nvCxnSpPr>
          <p:spPr>
            <a:xfrm rot="16200000" flipH="1">
              <a:off x="3467099" y="3314701"/>
              <a:ext cx="6858000"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2" name="Straight Connector 251"/>
            <p:cNvCxnSpPr/>
            <p:nvPr/>
          </p:nvCxnSpPr>
          <p:spPr>
            <a:xfrm rot="5400000">
              <a:off x="4038600" y="3429001"/>
              <a:ext cx="6858000" cy="1588"/>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53" name="Straight Connector 252"/>
            <p:cNvCxnSpPr/>
            <p:nvPr/>
          </p:nvCxnSpPr>
          <p:spPr>
            <a:xfrm rot="16200000" flipH="1">
              <a:off x="3886200" y="3200401"/>
              <a:ext cx="6858000" cy="457200"/>
            </a:xfrm>
            <a:prstGeom prst="line">
              <a:avLst/>
            </a:prstGeom>
            <a:ln>
              <a:solidFill>
                <a:schemeClr val="accent1">
                  <a:alpha val="90000"/>
                </a:schemeClr>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rot="5400000">
              <a:off x="4000501" y="3238501"/>
              <a:ext cx="6858000" cy="3810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rot="16200000" flipH="1">
              <a:off x="4572000" y="3200401"/>
              <a:ext cx="6858000"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rot="16200000" flipH="1">
              <a:off x="37338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58" name="Straight Connector 257"/>
            <p:cNvCxnSpPr/>
            <p:nvPr/>
          </p:nvCxnSpPr>
          <p:spPr>
            <a:xfrm rot="5400000">
              <a:off x="3619500" y="3314700"/>
              <a:ext cx="6858000" cy="2286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p:nvCxnSpPr>
          <p:spPr>
            <a:xfrm rot="16200000" flipH="1">
              <a:off x="4214813" y="3252788"/>
              <a:ext cx="6858000" cy="352425"/>
            </a:xfrm>
            <a:prstGeom prst="line">
              <a:avLst/>
            </a:prstGeom>
            <a:ln w="15875">
              <a:solidFill>
                <a:schemeClr val="accent1">
                  <a:alpha val="72000"/>
                </a:schemeClr>
              </a:solidFill>
            </a:ln>
          </p:spPr>
          <p:style>
            <a:lnRef idx="1">
              <a:schemeClr val="accent1"/>
            </a:lnRef>
            <a:fillRef idx="0">
              <a:schemeClr val="accent1"/>
            </a:fillRef>
            <a:effectRef idx="0">
              <a:schemeClr val="accent1"/>
            </a:effectRef>
            <a:fontRef idx="minor">
              <a:schemeClr val="tx1"/>
            </a:fontRef>
          </p:style>
        </p:cxnSp>
        <p:cxnSp>
          <p:nvCxnSpPr>
            <p:cNvPr id="260" name="Straight Connector 259"/>
            <p:cNvCxnSpPr/>
            <p:nvPr/>
          </p:nvCxnSpPr>
          <p:spPr>
            <a:xfrm rot="16200000" flipH="1">
              <a:off x="4751070" y="3326131"/>
              <a:ext cx="6858000"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1" name="Straight Connector 260"/>
            <p:cNvCxnSpPr/>
            <p:nvPr/>
          </p:nvCxnSpPr>
          <p:spPr>
            <a:xfrm rot="16200000" flipH="1">
              <a:off x="4343400" y="3352801"/>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2" name="Straight Connector 261"/>
            <p:cNvCxnSpPr/>
            <p:nvPr/>
          </p:nvCxnSpPr>
          <p:spPr>
            <a:xfrm rot="16200000" flipH="1">
              <a:off x="4572000" y="3352801"/>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64" name="Straight Connector 263"/>
            <p:cNvCxnSpPr/>
            <p:nvPr/>
          </p:nvCxnSpPr>
          <p:spPr>
            <a:xfrm rot="16200000" flipH="1">
              <a:off x="5257800" y="3352802"/>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5" name="Straight Connector 264"/>
            <p:cNvCxnSpPr/>
            <p:nvPr/>
          </p:nvCxnSpPr>
          <p:spPr>
            <a:xfrm rot="16200000" flipH="1">
              <a:off x="5067300" y="3238502"/>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6" name="Straight Connector 265"/>
            <p:cNvCxnSpPr/>
            <p:nvPr/>
          </p:nvCxnSpPr>
          <p:spPr>
            <a:xfrm rot="5400000">
              <a:off x="5219700" y="3238502"/>
              <a:ext cx="6858000" cy="381000"/>
            </a:xfrm>
            <a:prstGeom prst="line">
              <a:avLst/>
            </a:prstGeom>
            <a:ln w="5080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p:cNvCxnSpPr/>
            <p:nvPr/>
          </p:nvCxnSpPr>
          <p:spPr>
            <a:xfrm rot="16200000" flipH="1">
              <a:off x="4876801" y="3352801"/>
              <a:ext cx="6858000"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268" name="Straight Connector 267"/>
            <p:cNvCxnSpPr/>
            <p:nvPr/>
          </p:nvCxnSpPr>
          <p:spPr>
            <a:xfrm rot="5400000">
              <a:off x="5527994" y="3318196"/>
              <a:ext cx="6888479" cy="191133"/>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rot="5400000">
              <a:off x="4850130" y="3227072"/>
              <a:ext cx="6858000" cy="40386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rot="16200000" flipH="1">
              <a:off x="4751070" y="3326132"/>
              <a:ext cx="6858000"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8" name="Straight Connector 277"/>
            <p:cNvCxnSpPr/>
            <p:nvPr/>
          </p:nvCxnSpPr>
          <p:spPr>
            <a:xfrm rot="5400000">
              <a:off x="5562599" y="3429001"/>
              <a:ext cx="6858002" cy="1588"/>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3" name="Straight Connector 282"/>
            <p:cNvCxnSpPr/>
            <p:nvPr/>
          </p:nvCxnSpPr>
          <p:spPr>
            <a:xfrm rot="5400000">
              <a:off x="2552700" y="3390900"/>
              <a:ext cx="6858000" cy="76200"/>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289" name="Straight Connector 288"/>
            <p:cNvCxnSpPr/>
            <p:nvPr/>
          </p:nvCxnSpPr>
          <p:spPr>
            <a:xfrm rot="16200000" flipH="1">
              <a:off x="3048000" y="3352800"/>
              <a:ext cx="6858000" cy="1524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292" name="Straight Connector 291"/>
            <p:cNvCxnSpPr/>
            <p:nvPr/>
          </p:nvCxnSpPr>
          <p:spPr>
            <a:xfrm rot="16200000" flipH="1">
              <a:off x="3238500" y="3238500"/>
              <a:ext cx="6858000" cy="381000"/>
            </a:xfrm>
            <a:prstGeom prst="line">
              <a:avLst/>
            </a:prstGeom>
            <a:ln w="19050">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94" name="Straight Connector 293"/>
            <p:cNvCxnSpPr/>
            <p:nvPr/>
          </p:nvCxnSpPr>
          <p:spPr>
            <a:xfrm rot="5400000">
              <a:off x="2133600" y="3276600"/>
              <a:ext cx="6858000" cy="3048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p:cNvCxnSpPr/>
            <p:nvPr/>
          </p:nvCxnSpPr>
          <p:spPr>
            <a:xfrm rot="16200000" flipH="1">
              <a:off x="3148013" y="3252789"/>
              <a:ext cx="6858000" cy="352425"/>
            </a:xfrm>
            <a:prstGeom prst="line">
              <a:avLst/>
            </a:prstGeom>
            <a:ln w="15875">
              <a:solidFill>
                <a:schemeClr val="accent1">
                  <a:alpha val="72000"/>
                </a:schemeClr>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p:cNvCxnSpPr/>
            <p:nvPr/>
          </p:nvCxnSpPr>
          <p:spPr>
            <a:xfrm rot="5400000">
              <a:off x="3771900" y="3238500"/>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2" name="Straight Connector 301"/>
            <p:cNvCxnSpPr/>
            <p:nvPr/>
          </p:nvCxnSpPr>
          <p:spPr>
            <a:xfrm rot="5400000">
              <a:off x="4229100" y="2933700"/>
              <a:ext cx="6858000" cy="990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307" name="Straight Connector 306"/>
            <p:cNvCxnSpPr/>
            <p:nvPr/>
          </p:nvCxnSpPr>
          <p:spPr>
            <a:xfrm rot="16200000" flipH="1">
              <a:off x="1371600" y="3200403"/>
              <a:ext cx="6858000"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grpSp>
      <p:sp>
        <p:nvSpPr>
          <p:cNvPr id="4" name="Date Placeholder 3"/>
          <p:cNvSpPr>
            <a:spLocks noGrp="1"/>
          </p:cNvSpPr>
          <p:nvPr>
            <p:ph type="dt" sz="half" idx="10"/>
          </p:nvPr>
        </p:nvSpPr>
        <p:spPr/>
        <p:txBody>
          <a:bodyPr/>
          <a:lstStyle/>
          <a:p>
            <a:fld id="{B087BCBB-B803-4E09-A20A-3CFAAD846E39}" type="datetimeFigureOut">
              <a:rPr lang="en-US" smtClean="0"/>
              <a:t>12/11/24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9B6D0B-1537-4F88-9BCB-A3F613636C26}" type="slidenum">
              <a:rPr lang="en-US" smtClean="0"/>
              <a:t>‹#›</a:t>
            </a:fld>
            <a:endParaRPr lang="en-US"/>
          </a:p>
        </p:txBody>
      </p:sp>
      <p:sp>
        <p:nvSpPr>
          <p:cNvPr id="113" name="Rectangle 112"/>
          <p:cNvSpPr/>
          <p:nvPr/>
        </p:nvSpPr>
        <p:spPr>
          <a:xfrm>
            <a:off x="0" y="1905000"/>
            <a:ext cx="4953000" cy="3124200"/>
          </a:xfrm>
          <a:prstGeom prst="rect">
            <a:avLst/>
          </a:prstGeom>
          <a:solidFill>
            <a:schemeClr val="accent1"/>
          </a:solidFill>
          <a:ln>
            <a:noFill/>
          </a:ln>
          <a:effectLst>
            <a:outerShdw blurRad="50800" dist="38100" dir="27000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a:solidFill>
                <a:prstClr val="white"/>
              </a:solidFill>
              <a:latin typeface="Tw Cen MT"/>
              <a:ea typeface="+mn-ea"/>
              <a:cs typeface="+mn-cs"/>
            </a:endParaRPr>
          </a:p>
        </p:txBody>
      </p:sp>
      <p:grpSp>
        <p:nvGrpSpPr>
          <p:cNvPr id="94" name="Group 93"/>
          <p:cNvGrpSpPr/>
          <p:nvPr/>
        </p:nvGrpSpPr>
        <p:grpSpPr>
          <a:xfrm>
            <a:off x="0" y="2057400"/>
            <a:ext cx="4801394" cy="2820988"/>
            <a:chOff x="0" y="2057400"/>
            <a:chExt cx="4801394" cy="2820988"/>
          </a:xfrm>
        </p:grpSpPr>
        <p:cxnSp>
          <p:nvCxnSpPr>
            <p:cNvPr id="117" name="Straight Connector 116"/>
            <p:cNvCxnSpPr/>
            <p:nvPr/>
          </p:nvCxnSpPr>
          <p:spPr>
            <a:xfrm>
              <a:off x="0" y="2057400"/>
              <a:ext cx="480060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a:xfrm>
              <a:off x="0" y="4876800"/>
              <a:ext cx="480060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p:nvCxnSpPr>
          <p:spPr>
            <a:xfrm rot="5400000">
              <a:off x="3391694" y="3467100"/>
              <a:ext cx="2818606" cy="79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228600" y="2130425"/>
            <a:ext cx="4419600" cy="1600327"/>
          </a:xfrm>
        </p:spPr>
        <p:txBody>
          <a:bodyPr anchor="b">
            <a:normAutofit/>
          </a:bodyPr>
          <a:lstStyle>
            <a:lvl1pPr algn="l">
              <a:defRPr sz="3600" b="1" cap="none" spc="40" baseline="0">
                <a:ln w="13335" cmpd="sng">
                  <a:solidFill>
                    <a:schemeClr val="accent1">
                      <a:lumMod val="50000"/>
                    </a:schemeClr>
                  </a:solidFill>
                  <a:prstDash val="solid"/>
                </a:ln>
                <a:solidFill>
                  <a:schemeClr val="accent6">
                    <a:tint val="1000"/>
                  </a:schemeClr>
                </a:solidFill>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28600" y="3733800"/>
            <a:ext cx="4419600" cy="1066800"/>
          </a:xfrm>
        </p:spPr>
        <p:txBody>
          <a:bodyPr>
            <a:normAutofit/>
          </a:bodyPr>
          <a:lstStyle>
            <a:lvl1pPr marL="0" indent="0" algn="l">
              <a:buNone/>
              <a:defRPr sz="22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087BCBB-B803-4E09-A20A-3CFAAD846E39}" type="datetimeFigureOut">
              <a:rPr lang="en-US" smtClean="0"/>
              <a:t>12/11/24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9B6D0B-1537-4F88-9BCB-A3F613636C26}"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grpSp>
        <p:nvGrpSpPr>
          <p:cNvPr id="7" name="Group 92"/>
          <p:cNvGrpSpPr/>
          <p:nvPr/>
        </p:nvGrpSpPr>
        <p:grpSpPr>
          <a:xfrm>
            <a:off x="1" y="-30478"/>
            <a:ext cx="9067799" cy="4846320"/>
            <a:chOff x="1" y="-30477"/>
            <a:chExt cx="9067799" cy="4526277"/>
          </a:xfrm>
        </p:grpSpPr>
        <p:cxnSp>
          <p:nvCxnSpPr>
            <p:cNvPr id="8" name="Straight Connector 7"/>
            <p:cNvCxnSpPr/>
            <p:nvPr/>
          </p:nvCxnSpPr>
          <p:spPr>
            <a:xfrm rot="16200000" flipH="1">
              <a:off x="-27166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6200000" flipH="1">
              <a:off x="-462165"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5400000">
              <a:off x="-309765"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5400000">
              <a:off x="-2062365" y="2128112"/>
              <a:ext cx="4505731"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16200000" flipH="1">
              <a:off x="-2138565" y="2128112"/>
              <a:ext cx="4505731"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rot="16200000" flipH="1">
              <a:off x="-195465" y="1785212"/>
              <a:ext cx="4505731" cy="9144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6200000" flipH="1">
              <a:off x="-1643265" y="2013812"/>
              <a:ext cx="4505731" cy="457200"/>
            </a:xfrm>
            <a:prstGeom prst="line">
              <a:avLst/>
            </a:prstGeom>
            <a:ln>
              <a:solidFill>
                <a:schemeClr val="accent1">
                  <a:alpha val="9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5400000">
              <a:off x="-1528964" y="2051912"/>
              <a:ext cx="4505731" cy="3810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6200000" flipH="1">
              <a:off x="-957465" y="2013812"/>
              <a:ext cx="4505731"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6200000" flipH="1">
              <a:off x="-1948065" y="2090012"/>
              <a:ext cx="4505731"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6200000" flipH="1">
              <a:off x="-652664" y="2166211"/>
              <a:ext cx="4505731" cy="152401"/>
            </a:xfrm>
            <a:prstGeom prst="line">
              <a:avLst/>
            </a:prstGeom>
            <a:ln w="5715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16200000" flipH="1">
              <a:off x="-164326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16200000" flipH="1">
              <a:off x="-1790700" y="2019300"/>
              <a:ext cx="4495800" cy="4572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rot="5400000">
              <a:off x="-555510" y="1535657"/>
              <a:ext cx="4505731" cy="1413510"/>
            </a:xfrm>
            <a:prstGeom prst="line">
              <a:avLst/>
            </a:prstGeom>
            <a:ln>
              <a:solidFill>
                <a:schemeClr val="accent1">
                  <a:alpha val="39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5400000">
              <a:off x="34087" y="2090964"/>
              <a:ext cx="4505731"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rot="5400000">
              <a:off x="261735" y="2090012"/>
              <a:ext cx="4505731"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5400000">
              <a:off x="-679335" y="2040482"/>
              <a:ext cx="4505731"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16200000" flipH="1">
              <a:off x="-1467052" y="2066200"/>
              <a:ext cx="4505731" cy="352425"/>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16200000" flipH="1">
              <a:off x="-778395" y="2139542"/>
              <a:ext cx="4505731"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16200000" flipH="1">
              <a:off x="-118606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rot="16200000" flipH="1">
              <a:off x="-95746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16200000" flipH="1">
              <a:off x="224293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16200000" flipH="1">
              <a:off x="2052435"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a:off x="2204835" y="2051912"/>
              <a:ext cx="4505731" cy="3810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5400000">
              <a:off x="452235" y="2128112"/>
              <a:ext cx="4505731"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rot="16200000" flipH="1">
              <a:off x="376035" y="2128112"/>
              <a:ext cx="4505731"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5400000">
              <a:off x="1023735" y="2242139"/>
              <a:ext cx="4505731" cy="1588"/>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rot="16200000" flipH="1">
              <a:off x="871335" y="2013812"/>
              <a:ext cx="4505731" cy="4572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rot="5400000">
              <a:off x="985636" y="2051912"/>
              <a:ext cx="4505731" cy="3810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rot="16200000" flipH="1">
              <a:off x="1557135" y="2013812"/>
              <a:ext cx="4505731"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rot="16200000" flipH="1">
              <a:off x="566535" y="2090012"/>
              <a:ext cx="4505731"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rot="16200000" flipH="1">
              <a:off x="1861936" y="2166211"/>
              <a:ext cx="4505731"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16200000" flipH="1">
              <a:off x="87133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rot="5400000">
              <a:off x="147435" y="2128112"/>
              <a:ext cx="4505731" cy="2286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rot="5400000">
              <a:off x="1959090" y="1535657"/>
              <a:ext cx="4505731" cy="1413510"/>
            </a:xfrm>
            <a:prstGeom prst="line">
              <a:avLst/>
            </a:prstGeom>
            <a:ln>
              <a:solidFill>
                <a:schemeClr val="accent1">
                  <a:alpha val="39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rot="5400000">
              <a:off x="2548687" y="2090964"/>
              <a:ext cx="4505731"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rot="5400000">
              <a:off x="277633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rot="5400000">
              <a:off x="1835265" y="2040482"/>
              <a:ext cx="4505731"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rot="16200000" flipH="1">
              <a:off x="1047548" y="2066200"/>
              <a:ext cx="4505731" cy="352425"/>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rot="16200000" flipH="1">
              <a:off x="1736205" y="2139542"/>
              <a:ext cx="4505731"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rot="16200000" flipH="1">
              <a:off x="132853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rot="16200000" flipH="1">
              <a:off x="155713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rot="16200000" flipH="1">
              <a:off x="3919335" y="2166212"/>
              <a:ext cx="4505731" cy="152400"/>
            </a:xfrm>
            <a:prstGeom prst="line">
              <a:avLst/>
            </a:prstGeom>
            <a:ln w="5715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rot="16200000" flipH="1">
              <a:off x="3271636"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rot="5400000">
              <a:off x="3881235"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rot="5400000">
              <a:off x="3004936" y="2090012"/>
              <a:ext cx="4505730" cy="3048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rot="16200000" flipH="1">
              <a:off x="2242935" y="2013813"/>
              <a:ext cx="4505731"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rot="16200000" flipH="1">
              <a:off x="3538336" y="2166212"/>
              <a:ext cx="4505731"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rot="5400000">
              <a:off x="3822180" y="1535657"/>
              <a:ext cx="4505731" cy="1413510"/>
            </a:xfrm>
            <a:prstGeom prst="line">
              <a:avLst/>
            </a:prstGeom>
            <a:ln>
              <a:solidFill>
                <a:schemeClr val="accent1">
                  <a:alpha val="56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rot="5400000">
              <a:off x="4225087" y="2090965"/>
              <a:ext cx="4505731"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rot="5400000">
              <a:off x="4071735" y="2090012"/>
              <a:ext cx="4505731"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rot="5400000">
              <a:off x="3565005" y="2040482"/>
              <a:ext cx="4505731"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rot="16200000" flipH="1">
              <a:off x="3412605" y="2139542"/>
              <a:ext cx="4505731"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rot="16200000" flipH="1">
              <a:off x="2928735" y="2166212"/>
              <a:ext cx="4505731" cy="152400"/>
            </a:xfrm>
            <a:prstGeom prst="line">
              <a:avLst/>
            </a:prstGeom>
            <a:ln w="5715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rot="16200000" flipH="1">
              <a:off x="308113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rot="5400000">
              <a:off x="4643235" y="2128112"/>
              <a:ext cx="4505731"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rot="16200000" flipH="1">
              <a:off x="4643234" y="2128112"/>
              <a:ext cx="4505731"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rot="5400000">
              <a:off x="5214735" y="2242140"/>
              <a:ext cx="4505731" cy="1588"/>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rot="16200000" flipH="1">
              <a:off x="5062335" y="2013812"/>
              <a:ext cx="4505731" cy="457200"/>
            </a:xfrm>
            <a:prstGeom prst="line">
              <a:avLst/>
            </a:prstGeom>
            <a:ln>
              <a:solidFill>
                <a:schemeClr val="accent1">
                  <a:alpha val="90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rot="5400000">
              <a:off x="5176636" y="2051912"/>
              <a:ext cx="4505731" cy="3810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rot="16200000" flipH="1">
              <a:off x="5748135" y="2013813"/>
              <a:ext cx="4505731"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rot="16200000" flipH="1">
              <a:off x="490993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rot="5400000">
              <a:off x="4795635" y="2128112"/>
              <a:ext cx="4505731" cy="2286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rot="16200000" flipH="1">
              <a:off x="5390948" y="2066200"/>
              <a:ext cx="4505731" cy="352425"/>
            </a:xfrm>
            <a:prstGeom prst="line">
              <a:avLst/>
            </a:prstGeom>
            <a:ln w="15875">
              <a:solidFill>
                <a:schemeClr val="accent1">
                  <a:alpha val="72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rot="16200000" flipH="1">
              <a:off x="5927205" y="2139542"/>
              <a:ext cx="4505731"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rot="16200000" flipH="1">
              <a:off x="551953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rot="16200000" flipH="1">
              <a:off x="574813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rot="16200000" flipH="1">
              <a:off x="6433935" y="2166213"/>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rot="16200000" flipH="1">
              <a:off x="6243435" y="2051913"/>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rot="5400000">
              <a:off x="6395835" y="2051913"/>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rot="16200000" flipH="1">
              <a:off x="6052936" y="2166212"/>
              <a:ext cx="4505731"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rot="5400000">
              <a:off x="6709356" y="2136834"/>
              <a:ext cx="4525755" cy="191133"/>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rot="5400000">
              <a:off x="6026265" y="2040483"/>
              <a:ext cx="4505731" cy="40386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rot="16200000" flipH="1">
              <a:off x="5927205" y="2139543"/>
              <a:ext cx="4505731"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rot="5400000">
              <a:off x="6738734" y="2242140"/>
              <a:ext cx="4505732" cy="1588"/>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rot="5400000">
              <a:off x="3728835" y="2204312"/>
              <a:ext cx="4505731" cy="76200"/>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rot="16200000" flipH="1">
              <a:off x="4224135" y="2166212"/>
              <a:ext cx="4505731" cy="1524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rot="16200000" flipH="1">
              <a:off x="4414635" y="2051912"/>
              <a:ext cx="4505731" cy="381000"/>
            </a:xfrm>
            <a:prstGeom prst="line">
              <a:avLst/>
            </a:prstGeom>
            <a:ln w="19050">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rot="5400000">
              <a:off x="3309735" y="2090012"/>
              <a:ext cx="4505731" cy="3048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rot="16200000" flipH="1">
              <a:off x="4324148" y="2066200"/>
              <a:ext cx="4505731" cy="352425"/>
            </a:xfrm>
            <a:prstGeom prst="line">
              <a:avLst/>
            </a:prstGeom>
            <a:ln w="15875">
              <a:solidFill>
                <a:schemeClr val="accent1">
                  <a:alpha val="72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rot="5400000">
              <a:off x="4948035"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rot="5400000">
              <a:off x="5405235" y="1747112"/>
              <a:ext cx="4505731" cy="990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rot="16200000" flipH="1">
              <a:off x="2547735" y="2013814"/>
              <a:ext cx="4505731"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grpSp>
      <p:sp>
        <p:nvSpPr>
          <p:cNvPr id="94" name="Rectangle 93"/>
          <p:cNvSpPr/>
          <p:nvPr/>
        </p:nvSpPr>
        <p:spPr>
          <a:xfrm>
            <a:off x="0" y="4311168"/>
            <a:ext cx="9144000" cy="1905000"/>
          </a:xfrm>
          <a:prstGeom prst="rect">
            <a:avLst/>
          </a:pr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a:solidFill>
                <a:prstClr val="white"/>
              </a:solidFill>
              <a:latin typeface="Tw Cen MT"/>
              <a:ea typeface="+mn-ea"/>
              <a:cs typeface="+mn-cs"/>
            </a:endParaRPr>
          </a:p>
        </p:txBody>
      </p:sp>
      <p:cxnSp>
        <p:nvCxnSpPr>
          <p:cNvPr id="96" name="Straight Connector 95"/>
          <p:cNvCxnSpPr/>
          <p:nvPr/>
        </p:nvCxnSpPr>
        <p:spPr>
          <a:xfrm>
            <a:off x="0" y="4387368"/>
            <a:ext cx="914400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a:off x="0" y="6138380"/>
            <a:ext cx="914400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ext Placeholder 2"/>
          <p:cNvSpPr>
            <a:spLocks noGrp="1"/>
          </p:cNvSpPr>
          <p:nvPr>
            <p:ph type="body" idx="1"/>
          </p:nvPr>
        </p:nvSpPr>
        <p:spPr>
          <a:xfrm>
            <a:off x="457200" y="5621364"/>
            <a:ext cx="8305800" cy="414649"/>
          </a:xfrm>
        </p:spPr>
        <p:txBody>
          <a:bodyPr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95" name="Title 94"/>
          <p:cNvSpPr>
            <a:spLocks noGrp="1"/>
          </p:cNvSpPr>
          <p:nvPr>
            <p:ph type="title"/>
          </p:nvPr>
        </p:nvSpPr>
        <p:spPr>
          <a:xfrm>
            <a:off x="457200" y="4463568"/>
            <a:ext cx="8305800" cy="1143000"/>
          </a:xfrm>
        </p:spPr>
        <p:txBody>
          <a:bodyPr/>
          <a:lstStyle/>
          <a:p>
            <a:r>
              <a:rPr lang="en-US" smtClean="0"/>
              <a:t>Click to edit Master title style</a:t>
            </a:r>
            <a:endParaRPr lang="en-US"/>
          </a:p>
        </p:txBody>
      </p:sp>
      <p:sp>
        <p:nvSpPr>
          <p:cNvPr id="2" name="Date Placeholder 1"/>
          <p:cNvSpPr>
            <a:spLocks noGrp="1"/>
          </p:cNvSpPr>
          <p:nvPr>
            <p:ph type="dt" sz="half" idx="10"/>
          </p:nvPr>
        </p:nvSpPr>
        <p:spPr/>
        <p:txBody>
          <a:bodyPr/>
          <a:lstStyle/>
          <a:p>
            <a:fld id="{B087BCBB-B803-4E09-A20A-3CFAAD846E39}" type="datetimeFigureOut">
              <a:rPr lang="en-US" smtClean="0"/>
              <a:t>12/11/24</a:t>
            </a:fld>
            <a:endParaRPr lang="en-US"/>
          </a:p>
        </p:txBody>
      </p:sp>
      <p:sp>
        <p:nvSpPr>
          <p:cNvPr id="91" name="Footer Placeholder 90"/>
          <p:cNvSpPr>
            <a:spLocks noGrp="1"/>
          </p:cNvSpPr>
          <p:nvPr>
            <p:ph type="ftr" sz="quarter" idx="11"/>
          </p:nvPr>
        </p:nvSpPr>
        <p:spPr/>
        <p:txBody>
          <a:bodyPr/>
          <a:lstStyle/>
          <a:p>
            <a:endParaRPr lang="en-US"/>
          </a:p>
        </p:txBody>
      </p:sp>
      <p:sp>
        <p:nvSpPr>
          <p:cNvPr id="92" name="Slide Number Placeholder 91"/>
          <p:cNvSpPr>
            <a:spLocks noGrp="1"/>
          </p:cNvSpPr>
          <p:nvPr>
            <p:ph type="sldNum" sz="quarter" idx="12"/>
          </p:nvPr>
        </p:nvSpPr>
        <p:spPr/>
        <p:txBody>
          <a:bodyPr/>
          <a:lstStyle/>
          <a:p>
            <a:fld id="{9C9B6D0B-1537-4F88-9BCB-A3F613636C26}"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087BCBB-B803-4E09-A20A-3CFAAD846E39}" type="datetimeFigureOut">
              <a:rPr lang="en-US" smtClean="0"/>
              <a:t>12/11/24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9B6D0B-1537-4F88-9BCB-A3F613636C2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lgn="ctr">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lgn="ctr">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087BCBB-B803-4E09-A20A-3CFAAD846E39}" type="datetimeFigureOut">
              <a:rPr lang="en-US" smtClean="0"/>
              <a:t>12/11/24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9B6D0B-1537-4F88-9BCB-A3F613636C26}"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087BCBB-B803-4E09-A20A-3CFAAD846E39}" type="datetimeFigureOut">
              <a:rPr lang="en-US" smtClean="0"/>
              <a:t>12/11/24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9B6D0B-1537-4F88-9BCB-A3F613636C2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87BCBB-B803-4E09-A20A-3CFAAD846E39}" type="datetimeFigureOut">
              <a:rPr lang="en-US" smtClean="0"/>
              <a:t>12/11/24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C9B6D0B-1537-4F88-9BCB-A3F613636C2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200400" y="273050"/>
            <a:ext cx="54864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087BCBB-B803-4E09-A20A-3CFAAD846E39}" type="datetimeFigureOut">
              <a:rPr lang="en-US" smtClean="0"/>
              <a:t>12/11/24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9B6D0B-1537-4F88-9BCB-A3F613636C26}" type="slidenum">
              <a:rPr lang="en-US" smtClean="0"/>
              <a:t>‹#›</a:t>
            </a:fld>
            <a:endParaRPr lang="en-US"/>
          </a:p>
        </p:txBody>
      </p:sp>
      <p:sp>
        <p:nvSpPr>
          <p:cNvPr id="37" name="Rectangle 36"/>
          <p:cNvSpPr/>
          <p:nvPr/>
        </p:nvSpPr>
        <p:spPr>
          <a:xfrm>
            <a:off x="0" y="1563624"/>
            <a:ext cx="2761488" cy="3313176"/>
          </a:xfrm>
          <a:prstGeom prst="rect">
            <a:avLst/>
          </a:prstGeom>
          <a:solidFill>
            <a:schemeClr val="accent1"/>
          </a:solidFill>
          <a:ln>
            <a:noFill/>
          </a:ln>
          <a:effectLst>
            <a:outerShdw blurRad="50800" dist="38100" dir="27000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a:solidFill>
                <a:prstClr val="white"/>
              </a:solidFill>
              <a:latin typeface="Tw Cen MT"/>
              <a:ea typeface="+mn-ea"/>
              <a:cs typeface="+mn-cs"/>
            </a:endParaRPr>
          </a:p>
        </p:txBody>
      </p:sp>
      <p:cxnSp>
        <p:nvCxnSpPr>
          <p:cNvPr id="39" name="Straight Connector 38"/>
          <p:cNvCxnSpPr/>
          <p:nvPr/>
        </p:nvCxnSpPr>
        <p:spPr>
          <a:xfrm rot="5400000">
            <a:off x="1128157" y="3221339"/>
            <a:ext cx="3017520" cy="79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0" y="1712976"/>
            <a:ext cx="265176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0" y="4733544"/>
            <a:ext cx="265176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2400" y="1901952"/>
            <a:ext cx="2377440" cy="1371600"/>
          </a:xfrm>
        </p:spPr>
        <p:txBody>
          <a:bodyPr anchor="b">
            <a:normAutofit/>
          </a:bodyPr>
          <a:lstStyle>
            <a:lvl1pPr algn="l" defTabSz="914400" rtl="0" eaLnBrk="1" latinLnBrk="0" hangingPunct="1">
              <a:spcBef>
                <a:spcPct val="0"/>
              </a:spcBef>
              <a:buNone/>
              <a:tabLst>
                <a:tab pos="3830638" algn="l"/>
              </a:tabLst>
              <a:defRPr lang="en-US" sz="2600" b="1" kern="1200" cap="none" spc="20" baseline="0" dirty="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latin typeface="+mj-lt"/>
                <a:ea typeface="+mj-ea"/>
                <a:cs typeface="+mj-cs"/>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152400" y="3273552"/>
            <a:ext cx="2377440" cy="1371600"/>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3200400" y="381000"/>
            <a:ext cx="5562600" cy="5638800"/>
          </a:xfrm>
          <a:solidFill>
            <a:schemeClr val="bg2"/>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5" name="Date Placeholder 4"/>
          <p:cNvSpPr>
            <a:spLocks noGrp="1"/>
          </p:cNvSpPr>
          <p:nvPr>
            <p:ph type="dt" sz="half" idx="10"/>
          </p:nvPr>
        </p:nvSpPr>
        <p:spPr/>
        <p:txBody>
          <a:bodyPr/>
          <a:lstStyle/>
          <a:p>
            <a:fld id="{B087BCBB-B803-4E09-A20A-3CFAAD846E39}" type="datetimeFigureOut">
              <a:rPr lang="en-US" smtClean="0"/>
              <a:t>12/11/24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9B6D0B-1537-4F88-9BCB-A3F613636C26}" type="slidenum">
              <a:rPr lang="en-US" smtClean="0"/>
              <a:t>‹#›</a:t>
            </a:fld>
            <a:endParaRPr lang="en-US"/>
          </a:p>
        </p:txBody>
      </p:sp>
      <p:sp>
        <p:nvSpPr>
          <p:cNvPr id="33" name="Rectangle 32"/>
          <p:cNvSpPr/>
          <p:nvPr/>
        </p:nvSpPr>
        <p:spPr>
          <a:xfrm>
            <a:off x="0" y="1563624"/>
            <a:ext cx="2761488" cy="3313176"/>
          </a:xfrm>
          <a:prstGeom prst="rect">
            <a:avLst/>
          </a:prstGeom>
          <a:solidFill>
            <a:schemeClr val="accent1"/>
          </a:solidFill>
          <a:ln>
            <a:noFill/>
          </a:ln>
          <a:effectLst>
            <a:outerShdw blurRad="50800" dist="38100" dir="27000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a:solidFill>
                <a:prstClr val="white"/>
              </a:solidFill>
              <a:latin typeface="Tw Cen MT"/>
              <a:ea typeface="+mn-ea"/>
              <a:cs typeface="+mn-cs"/>
            </a:endParaRPr>
          </a:p>
        </p:txBody>
      </p:sp>
      <p:cxnSp>
        <p:nvCxnSpPr>
          <p:cNvPr id="34" name="Straight Connector 33"/>
          <p:cNvCxnSpPr/>
          <p:nvPr/>
        </p:nvCxnSpPr>
        <p:spPr>
          <a:xfrm rot="5400000">
            <a:off x="1128157" y="3221339"/>
            <a:ext cx="3017520" cy="79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0" y="1712976"/>
            <a:ext cx="265176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0" y="4733544"/>
            <a:ext cx="265176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5448" y="1905000"/>
            <a:ext cx="2377440" cy="1371600"/>
          </a:xfrm>
        </p:spPr>
        <p:txBody>
          <a:bodyPr anchor="b">
            <a:normAutofit/>
          </a:bodyPr>
          <a:lstStyle>
            <a:lvl1pPr algn="l">
              <a:defRPr sz="2600" b="1" cap="none" spc="20" baseline="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152400" y="3276600"/>
            <a:ext cx="2377440" cy="1371600"/>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087BCBB-B803-4E09-A20A-3CFAAD846E39}" type="datetimeFigureOut">
              <a:rPr lang="en-US" smtClean="0"/>
              <a:t>12/11/24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9B6D0B-1537-4F88-9BCB-A3F613636C2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087BCBB-B803-4E09-A20A-3CFAAD846E39}" type="datetimeFigureOut">
              <a:rPr lang="en-US" smtClean="0"/>
              <a:t>12/11/24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9B6D0B-1537-4F88-9BCB-A3F613636C26}"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90" name="Rectangle 189"/>
          <p:cNvSpPr/>
          <p:nvPr/>
        </p:nvSpPr>
        <p:spPr>
          <a:xfrm>
            <a:off x="149352" y="137160"/>
            <a:ext cx="8869680" cy="6583680"/>
          </a:xfrm>
          <a:prstGeom prst="rect">
            <a:avLst/>
          </a:prstGeom>
          <a:noFill/>
          <a:ln w="19050" cmpd="sng">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a:solidFill>
                <a:prstClr val="white"/>
              </a:solidFill>
              <a:latin typeface="Tw Cen MT"/>
              <a:ea typeface="+mn-ea"/>
              <a:cs typeface="+mn-cs"/>
            </a:endParaRPr>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57200" y="6312408"/>
            <a:ext cx="2133600" cy="365125"/>
          </a:xfrm>
          <a:prstGeom prst="rect">
            <a:avLst/>
          </a:prstGeom>
        </p:spPr>
        <p:txBody>
          <a:bodyPr vert="horz" lIns="91440" tIns="45720" rIns="91440" bIns="45720" rtlCol="0" anchor="ctr"/>
          <a:lstStyle>
            <a:lvl1pPr algn="l">
              <a:defRPr sz="1200">
                <a:solidFill>
                  <a:schemeClr val="tx2"/>
                </a:solidFill>
              </a:defRPr>
            </a:lvl1pPr>
          </a:lstStyle>
          <a:p>
            <a:fld id="{B087BCBB-B803-4E09-A20A-3CFAAD846E39}" type="datetimeFigureOut">
              <a:rPr lang="en-US" smtClean="0"/>
              <a:t>12/11/24</a:t>
            </a:fld>
            <a:endParaRPr lang="en-US"/>
          </a:p>
        </p:txBody>
      </p:sp>
      <p:sp>
        <p:nvSpPr>
          <p:cNvPr id="5" name="Footer Placeholder 4"/>
          <p:cNvSpPr>
            <a:spLocks noGrp="1"/>
          </p:cNvSpPr>
          <p:nvPr>
            <p:ph type="ftr" sz="quarter" idx="3"/>
          </p:nvPr>
        </p:nvSpPr>
        <p:spPr>
          <a:xfrm>
            <a:off x="2831123" y="6312408"/>
            <a:ext cx="3481754" cy="365125"/>
          </a:xfrm>
          <a:prstGeom prst="rect">
            <a:avLst/>
          </a:prstGeom>
        </p:spPr>
        <p:txBody>
          <a:bodyPr vert="horz" lIns="91440" tIns="45720" rIns="91440" bIns="45720" rtlCol="0" anchor="ctr"/>
          <a:lstStyle>
            <a:lvl1pPr algn="ctr">
              <a:defRPr sz="1200">
                <a:solidFill>
                  <a:schemeClr val="tx2"/>
                </a:solidFill>
              </a:defRPr>
            </a:lvl1pPr>
          </a:lstStyle>
          <a:p>
            <a:endParaRPr lang="en-US"/>
          </a:p>
        </p:txBody>
      </p:sp>
      <p:sp>
        <p:nvSpPr>
          <p:cNvPr id="6" name="Slide Number Placeholder 5"/>
          <p:cNvSpPr>
            <a:spLocks noGrp="1"/>
          </p:cNvSpPr>
          <p:nvPr>
            <p:ph type="sldNum" sz="quarter" idx="4"/>
          </p:nvPr>
        </p:nvSpPr>
        <p:spPr>
          <a:xfrm>
            <a:off x="6553200" y="6312408"/>
            <a:ext cx="2133600" cy="365125"/>
          </a:xfrm>
          <a:prstGeom prst="rect">
            <a:avLst/>
          </a:prstGeom>
        </p:spPr>
        <p:txBody>
          <a:bodyPr vert="horz" lIns="91440" tIns="45720" rIns="91440" bIns="45720" rtlCol="0" anchor="ctr"/>
          <a:lstStyle>
            <a:lvl1pPr algn="r">
              <a:defRPr sz="1200">
                <a:solidFill>
                  <a:schemeClr val="tx2"/>
                </a:solidFill>
              </a:defRPr>
            </a:lvl1pPr>
          </a:lstStyle>
          <a:p>
            <a:fld id="{9C9B6D0B-1537-4F88-9BCB-A3F613636C26}"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defTabSz="914400" rtl="0" eaLnBrk="1" latinLnBrk="0" hangingPunct="1">
        <a:spcBef>
          <a:spcPct val="0"/>
        </a:spcBef>
        <a:buNone/>
        <a:tabLst>
          <a:tab pos="3830638" algn="l"/>
        </a:tabLst>
        <a:defRPr sz="3600" b="1" kern="1200" cap="none" spc="50">
          <a:ln w="13335" cmpd="sng">
            <a:solidFill>
              <a:schemeClr val="accent1">
                <a:lumMod val="50000"/>
              </a:schemeClr>
            </a:solidFill>
            <a:prstDash val="solid"/>
          </a:ln>
          <a:solidFill>
            <a:schemeClr val="accent6">
              <a:tint val="1000"/>
            </a:schemeClr>
          </a:solidFill>
          <a:effectLst/>
          <a:latin typeface="+mj-lt"/>
          <a:ea typeface="+mj-ea"/>
          <a:cs typeface="+mj-cs"/>
        </a:defRPr>
      </a:lvl1pPr>
    </p:titleStyle>
    <p:bodyStyle>
      <a:lvl1pPr marL="274320" indent="-274320" algn="l" defTabSz="914400" rtl="0" eaLnBrk="1" latinLnBrk="0" hangingPunct="1">
        <a:spcBef>
          <a:spcPct val="20000"/>
        </a:spcBef>
        <a:buClr>
          <a:schemeClr val="accent1">
            <a:lumMod val="60000"/>
            <a:lumOff val="40000"/>
          </a:schemeClr>
        </a:buClr>
        <a:buFont typeface="Arial" pitchFamily="34" charset="0"/>
        <a:buChar char="•"/>
        <a:defRPr sz="2400" kern="1200">
          <a:solidFill>
            <a:schemeClr val="tx2"/>
          </a:solidFill>
          <a:latin typeface="+mn-lt"/>
          <a:ea typeface="+mn-ea"/>
          <a:cs typeface="+mn-cs"/>
        </a:defRPr>
      </a:lvl1pPr>
      <a:lvl2pPr marL="548640" indent="-182880" algn="l" defTabSz="914400" rtl="0" eaLnBrk="1" latinLnBrk="0" hangingPunct="1">
        <a:spcBef>
          <a:spcPct val="20000"/>
        </a:spcBef>
        <a:buClr>
          <a:schemeClr val="accent1">
            <a:lumMod val="60000"/>
            <a:lumOff val="40000"/>
          </a:schemeClr>
        </a:buClr>
        <a:buFont typeface="Arial" pitchFamily="34" charset="0"/>
        <a:buChar char="•"/>
        <a:defRPr sz="2000" kern="1200">
          <a:solidFill>
            <a:schemeClr val="tx1"/>
          </a:solidFill>
          <a:latin typeface="+mn-lt"/>
          <a:ea typeface="+mn-ea"/>
          <a:cs typeface="+mn-cs"/>
        </a:defRPr>
      </a:lvl2pPr>
      <a:lvl3pPr marL="91440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3pPr>
      <a:lvl4pPr marL="118872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4pPr>
      <a:lvl5pPr marL="1463040" indent="-228600" algn="l" defTabSz="914400" rtl="0" eaLnBrk="1" latinLnBrk="0" hangingPunct="1">
        <a:spcBef>
          <a:spcPct val="20000"/>
        </a:spcBef>
        <a:buClr>
          <a:schemeClr val="accent4"/>
        </a:buClr>
        <a:buFont typeface="Arial" pitchFamily="34" charset="0"/>
        <a:buChar char="•"/>
        <a:defRPr sz="1600" kern="1200" baseline="0">
          <a:solidFill>
            <a:schemeClr val="tx2"/>
          </a:solidFill>
          <a:latin typeface="+mn-lt"/>
          <a:ea typeface="+mn-ea"/>
          <a:cs typeface="+mn-cs"/>
        </a:defRPr>
      </a:lvl5pPr>
      <a:lvl6pPr marL="1691640" indent="-182880" algn="l" defTabSz="914400" rtl="0" eaLnBrk="1" latinLnBrk="0" hangingPunct="1">
        <a:spcBef>
          <a:spcPct val="20000"/>
        </a:spcBef>
        <a:buClr>
          <a:schemeClr val="accent5"/>
        </a:buClr>
        <a:buFont typeface="Arial" pitchFamily="34" charset="0"/>
        <a:buChar char="•"/>
        <a:defRPr sz="1600" kern="1200">
          <a:solidFill>
            <a:schemeClr val="tx1"/>
          </a:solidFill>
          <a:latin typeface="+mn-lt"/>
          <a:ea typeface="+mn-ea"/>
          <a:cs typeface="+mn-cs"/>
        </a:defRPr>
      </a:lvl6pPr>
      <a:lvl7pPr marL="1920240" indent="-182880" algn="l" defTabSz="914400" rtl="0" eaLnBrk="1" latinLnBrk="0" hangingPunct="1">
        <a:spcBef>
          <a:spcPct val="20000"/>
        </a:spcBef>
        <a:buClr>
          <a:schemeClr val="accent6"/>
        </a:buClr>
        <a:buFont typeface="Arial" pitchFamily="34" charset="0"/>
        <a:buChar char="•"/>
        <a:defRPr sz="1600" kern="1200">
          <a:solidFill>
            <a:schemeClr val="tx1"/>
          </a:solidFill>
          <a:latin typeface="+mn-lt"/>
          <a:ea typeface="+mn-ea"/>
          <a:cs typeface="+mn-cs"/>
        </a:defRPr>
      </a:lvl7pPr>
      <a:lvl8pPr marL="2148840" indent="-182880" algn="l" defTabSz="914400" rtl="0" eaLnBrk="1" latinLnBrk="0" hangingPunct="1">
        <a:spcBef>
          <a:spcPct val="20000"/>
        </a:spcBef>
        <a:buClr>
          <a:schemeClr val="accent3"/>
        </a:buClr>
        <a:buFont typeface="Arial" pitchFamily="34" charset="0"/>
        <a:buChar char="•"/>
        <a:defRPr sz="1600" kern="1200">
          <a:solidFill>
            <a:schemeClr val="tx1"/>
          </a:solidFill>
          <a:latin typeface="+mn-lt"/>
          <a:ea typeface="+mn-ea"/>
          <a:cs typeface="+mn-cs"/>
        </a:defRPr>
      </a:lvl8pPr>
      <a:lvl9pPr marL="2377440" indent="-182880" algn="l" defTabSz="914400" rtl="0" eaLnBrk="1" latinLnBrk="0" hangingPunct="1">
        <a:spcBef>
          <a:spcPct val="20000"/>
        </a:spcBef>
        <a:buClr>
          <a:schemeClr val="accent6"/>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t>Business Strategy Management</a:t>
            </a:r>
            <a:endParaRPr lang="en-US" dirty="0"/>
          </a:p>
        </p:txBody>
      </p:sp>
      <p:sp>
        <p:nvSpPr>
          <p:cNvPr id="3" name="Subtitle 2"/>
          <p:cNvSpPr>
            <a:spLocks noGrp="1"/>
          </p:cNvSpPr>
          <p:nvPr>
            <p:ph type="subTitle" idx="1"/>
          </p:nvPr>
        </p:nvSpPr>
        <p:spPr/>
        <p:txBody>
          <a:bodyPr/>
          <a:lstStyle/>
          <a:p>
            <a:r>
              <a:rPr lang="en-US" b="1" dirty="0" smtClean="0"/>
              <a:t>Course Code- 0413-202</a:t>
            </a:r>
            <a:endParaRPr lang="en-US" b="1" dirty="0"/>
          </a:p>
        </p:txBody>
      </p:sp>
    </p:spTree>
    <p:extLst>
      <p:ext uri="{BB962C8B-B14F-4D97-AF65-F5344CB8AC3E}">
        <p14:creationId xmlns:p14="http://schemas.microsoft.com/office/powerpoint/2010/main" val="142204244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609600"/>
            <a:ext cx="8534400" cy="6955750"/>
          </a:xfrm>
          <a:prstGeom prst="rect">
            <a:avLst/>
          </a:prstGeom>
          <a:noFill/>
        </p:spPr>
        <p:txBody>
          <a:bodyPr wrap="square" rtlCol="0">
            <a:spAutoFit/>
          </a:bodyPr>
          <a:lstStyle/>
          <a:p>
            <a:pPr algn="just"/>
            <a:r>
              <a:rPr lang="en-US" sz="3200" dirty="0" smtClean="0"/>
              <a:t>Define strategic Management</a:t>
            </a:r>
          </a:p>
          <a:p>
            <a:pPr algn="just"/>
            <a:endParaRPr lang="en-US" dirty="0"/>
          </a:p>
          <a:p>
            <a:pPr algn="just"/>
            <a:r>
              <a:rPr lang="en-US" sz="2400" dirty="0" smtClean="0"/>
              <a:t>Strategic management is the process of formulating and implementing strategies to achieve the goals and objectives of an organization.</a:t>
            </a:r>
          </a:p>
          <a:p>
            <a:pPr algn="just"/>
            <a:r>
              <a:rPr lang="en-US" sz="2400" dirty="0" smtClean="0"/>
              <a:t># Example of Strategic Management</a:t>
            </a:r>
          </a:p>
          <a:p>
            <a:pPr marL="342900" indent="-342900" algn="just">
              <a:buFont typeface="Arial" pitchFamily="34" charset="0"/>
              <a:buChar char="•"/>
            </a:pPr>
            <a:r>
              <a:rPr lang="en-US" sz="2400" b="1" dirty="0" smtClean="0">
                <a:effectLst>
                  <a:outerShdw blurRad="38100" dist="38100" dir="2700000" algn="tl">
                    <a:srgbClr val="000000">
                      <a:alpha val="43137"/>
                    </a:srgbClr>
                  </a:outerShdw>
                </a:effectLst>
              </a:rPr>
              <a:t>Strong Market Entry:</a:t>
            </a:r>
            <a:r>
              <a:rPr lang="en-US" sz="2400" b="1" dirty="0" smtClean="0">
                <a:solidFill>
                  <a:srgbClr val="00B0F0"/>
                </a:solidFill>
                <a:effectLst>
                  <a:outerShdw blurRad="38100" dist="38100" dir="2700000" algn="tl">
                    <a:srgbClr val="000000">
                      <a:alpha val="43137"/>
                    </a:srgbClr>
                  </a:outerShdw>
                </a:effectLst>
              </a:rPr>
              <a:t> </a:t>
            </a:r>
            <a:r>
              <a:rPr lang="en-US" sz="2400" dirty="0" smtClean="0"/>
              <a:t>Amazon entered the Indian market with significant investment and long-term vision, demonstrating its commitment to success. They strategically focused on building a robust logistics infrastructure, expanding product offerings, and offering competitive pricing.</a:t>
            </a:r>
          </a:p>
          <a:p>
            <a:pPr marL="342900" indent="-342900" algn="just">
              <a:buFont typeface="Arial" pitchFamily="34" charset="0"/>
              <a:buChar char="•"/>
            </a:pPr>
            <a:r>
              <a:rPr lang="en-US" sz="2400" b="1" dirty="0" smtClean="0">
                <a:effectLst>
                  <a:outerShdw blurRad="38100" dist="38100" dir="2700000" algn="tl">
                    <a:srgbClr val="000000">
                      <a:alpha val="43137"/>
                    </a:srgbClr>
                  </a:outerShdw>
                </a:effectLst>
              </a:rPr>
              <a:t>Customer-Centric Approach: </a:t>
            </a:r>
            <a:r>
              <a:rPr lang="en-US" sz="2400" dirty="0" smtClean="0"/>
              <a:t>Amazon prioritized providing exceptional customer experience by offering fast and reliable delivery, easy returns, and a wide range of products. They leveraged their global expertise in e-commerce to create a seamless online shopping experience for Indian customers.</a:t>
            </a:r>
          </a:p>
          <a:p>
            <a:endParaRPr lang="en-US" sz="2400" dirty="0" smtClean="0"/>
          </a:p>
          <a:p>
            <a:endParaRPr lang="en-US" dirty="0" smtClean="0"/>
          </a:p>
          <a:p>
            <a:endParaRPr lang="en-US" dirty="0"/>
          </a:p>
        </p:txBody>
      </p:sp>
    </p:spTree>
    <p:extLst>
      <p:ext uri="{BB962C8B-B14F-4D97-AF65-F5344CB8AC3E}">
        <p14:creationId xmlns:p14="http://schemas.microsoft.com/office/powerpoint/2010/main" val="31546593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304800"/>
            <a:ext cx="8534400" cy="4832092"/>
          </a:xfrm>
          <a:prstGeom prst="rect">
            <a:avLst/>
          </a:prstGeom>
          <a:noFill/>
        </p:spPr>
        <p:txBody>
          <a:bodyPr wrap="square" rtlCol="0">
            <a:spAutoFit/>
          </a:bodyPr>
          <a:lstStyle/>
          <a:p>
            <a:pPr marL="457200" indent="-457200" algn="just">
              <a:buFont typeface="Arial" pitchFamily="34" charset="0"/>
              <a:buChar char="•"/>
            </a:pPr>
            <a:r>
              <a:rPr lang="en-US" sz="2800" b="1" dirty="0" smtClean="0">
                <a:effectLst>
                  <a:outerShdw blurRad="38100" dist="38100" dir="2700000" algn="tl">
                    <a:srgbClr val="000000">
                      <a:alpha val="43137"/>
                    </a:srgbClr>
                  </a:outerShdw>
                </a:effectLst>
              </a:rPr>
              <a:t>Continuous Innovation: </a:t>
            </a:r>
            <a:r>
              <a:rPr lang="en-US" sz="2800" dirty="0" smtClean="0"/>
              <a:t>Amazon introduced innovative features and services tailored to the Indian market, such as Hindi language support, regional content, and localized payment options. They constantly adapted their offerings based on customer feedback and market trends.</a:t>
            </a:r>
          </a:p>
          <a:p>
            <a:pPr marL="457200" indent="-457200" algn="just">
              <a:buFont typeface="Arial" pitchFamily="34" charset="0"/>
              <a:buChar char="•"/>
            </a:pPr>
            <a:r>
              <a:rPr lang="en-US" sz="2800" b="1" dirty="0" smtClean="0">
                <a:effectLst>
                  <a:outerShdw blurRad="38100" dist="38100" dir="2700000" algn="tl">
                    <a:srgbClr val="000000">
                      <a:alpha val="43137"/>
                    </a:srgbClr>
                  </a:outerShdw>
                </a:effectLst>
              </a:rPr>
              <a:t>Competitive Pricing: </a:t>
            </a:r>
            <a:r>
              <a:rPr lang="en-US" sz="2800" dirty="0" smtClean="0"/>
              <a:t>Amazon employed a competitive pricing strategy to attract customers, offering discounts and deals on popular products. They leveraged their global scale and supply chain efficiencies to provide cost-effective solutions.</a:t>
            </a:r>
            <a:endParaRPr lang="en-US" sz="2800" dirty="0"/>
          </a:p>
        </p:txBody>
      </p:sp>
    </p:spTree>
    <p:extLst>
      <p:ext uri="{BB962C8B-B14F-4D97-AF65-F5344CB8AC3E}">
        <p14:creationId xmlns:p14="http://schemas.microsoft.com/office/powerpoint/2010/main" val="17288763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381000"/>
            <a:ext cx="8610600" cy="6124754"/>
          </a:xfrm>
          <a:prstGeom prst="rect">
            <a:avLst/>
          </a:prstGeom>
          <a:noFill/>
        </p:spPr>
        <p:txBody>
          <a:bodyPr wrap="square" rtlCol="0">
            <a:spAutoFit/>
          </a:bodyPr>
          <a:lstStyle/>
          <a:p>
            <a:pPr marL="457200" indent="-457200" algn="just">
              <a:buFont typeface="Arial" pitchFamily="34" charset="0"/>
              <a:buChar char="•"/>
            </a:pPr>
            <a:r>
              <a:rPr lang="en-US" sz="2800" b="1" dirty="0" smtClean="0">
                <a:effectLst>
                  <a:outerShdw blurRad="38100" dist="38100" dir="2700000" algn="tl">
                    <a:srgbClr val="000000">
                      <a:alpha val="43137"/>
                    </a:srgbClr>
                  </a:outerShdw>
                </a:effectLst>
              </a:rPr>
              <a:t>Strategic Partnerships: </a:t>
            </a:r>
            <a:r>
              <a:rPr lang="en-US" sz="2800" dirty="0" smtClean="0"/>
              <a:t>Amazon forged partnerships with local retailers, brands, and small businesses, enabling them to expand their product range and offer exclusive deals. This approach helped them tap into the vast Indian market and build trust among local sellers.</a:t>
            </a:r>
          </a:p>
          <a:p>
            <a:pPr marL="457200" indent="-457200" algn="just">
              <a:buFont typeface="Arial" pitchFamily="34" charset="0"/>
              <a:buChar char="•"/>
            </a:pPr>
            <a:r>
              <a:rPr lang="en-US" sz="2800" b="1" dirty="0" smtClean="0">
                <a:effectLst>
                  <a:outerShdw blurRad="38100" dist="38100" dir="2700000" algn="tl">
                    <a:srgbClr val="000000">
                      <a:alpha val="43137"/>
                    </a:srgbClr>
                  </a:outerShdw>
                </a:effectLst>
              </a:rPr>
              <a:t>Investments in Technology:</a:t>
            </a:r>
            <a:r>
              <a:rPr lang="en-US" sz="2800" b="1" dirty="0" smtClean="0">
                <a:solidFill>
                  <a:srgbClr val="00B0F0"/>
                </a:solidFill>
                <a:effectLst>
                  <a:outerShdw blurRad="38100" dist="38100" dir="2700000" algn="tl">
                    <a:srgbClr val="000000">
                      <a:alpha val="43137"/>
                    </a:srgbClr>
                  </a:outerShdw>
                </a:effectLst>
              </a:rPr>
              <a:t> </a:t>
            </a:r>
            <a:r>
              <a:rPr lang="en-US" sz="2800" dirty="0" smtClean="0"/>
              <a:t>Amazon significantly invested in technology and data analytics to enhance customer personalization, improve operational efficiency, and drive insights for strategic decision-making.</a:t>
            </a:r>
          </a:p>
          <a:p>
            <a:pPr algn="just"/>
            <a:r>
              <a:rPr lang="en-US" sz="2800" dirty="0" smtClean="0"/>
              <a:t>These strategies allowed Amazon to differentiate itself, gain market share, and gradually surpass local players like </a:t>
            </a:r>
            <a:r>
              <a:rPr lang="en-US" sz="2800" dirty="0" err="1" smtClean="0"/>
              <a:t>Snapdeal</a:t>
            </a:r>
            <a:r>
              <a:rPr lang="en-US" sz="2800" dirty="0" smtClean="0"/>
              <a:t> and </a:t>
            </a:r>
            <a:r>
              <a:rPr lang="en-US" sz="2800" dirty="0" err="1" smtClean="0"/>
              <a:t>Flipkart</a:t>
            </a:r>
            <a:r>
              <a:rPr lang="en-US" sz="2800" dirty="0" smtClean="0"/>
              <a:t> in terms of customer trust, brand recognition, and market dominance.</a:t>
            </a:r>
            <a:endParaRPr lang="en-US" sz="2800" dirty="0"/>
          </a:p>
        </p:txBody>
      </p:sp>
    </p:spTree>
    <p:extLst>
      <p:ext uri="{BB962C8B-B14F-4D97-AF65-F5344CB8AC3E}">
        <p14:creationId xmlns:p14="http://schemas.microsoft.com/office/powerpoint/2010/main" val="272575304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800" y="381000"/>
            <a:ext cx="8686800" cy="6001643"/>
          </a:xfrm>
          <a:prstGeom prst="rect">
            <a:avLst/>
          </a:prstGeom>
          <a:noFill/>
        </p:spPr>
        <p:txBody>
          <a:bodyPr wrap="square" rtlCol="0">
            <a:spAutoFit/>
          </a:bodyPr>
          <a:lstStyle/>
          <a:p>
            <a:pPr algn="just"/>
            <a:r>
              <a:rPr lang="en-US" sz="2400" b="1" dirty="0" smtClean="0"/>
              <a:t># Task of Strategic Management</a:t>
            </a:r>
          </a:p>
          <a:p>
            <a:pPr algn="just"/>
            <a:r>
              <a:rPr lang="en-US" sz="2400" dirty="0" smtClean="0"/>
              <a:t>The strategy-making, strategy-implementing process consists of five inter-related managerial tasks:</a:t>
            </a:r>
          </a:p>
          <a:p>
            <a:pPr algn="just"/>
            <a:r>
              <a:rPr lang="en-US" sz="2400" dirty="0" smtClean="0"/>
              <a:t>1.Deciding what business the company will be in and forming a strategic vision  of where the organization needs to be headed - in effect, setting  the organization with a sense of purpose, providing long-term direction, an  establishing a clear mission to be achieved.</a:t>
            </a:r>
          </a:p>
          <a:p>
            <a:pPr algn="just"/>
            <a:r>
              <a:rPr lang="en-US" sz="2400" dirty="0" smtClean="0"/>
              <a:t>2.Converting the strategic vision and mission into measurable objectives and performance targets.</a:t>
            </a:r>
          </a:p>
          <a:p>
            <a:pPr algn="just"/>
            <a:r>
              <a:rPr lang="en-US" sz="2400" dirty="0" smtClean="0"/>
              <a:t>3.Crafting a strategy to achieve the desired results.</a:t>
            </a:r>
          </a:p>
          <a:p>
            <a:pPr algn="just"/>
            <a:r>
              <a:rPr lang="en-US" sz="2400" dirty="0" smtClean="0"/>
              <a:t>4.Implementing and executing the chosen strategy efficiently and effectively.</a:t>
            </a:r>
          </a:p>
          <a:p>
            <a:pPr algn="just"/>
            <a:r>
              <a:rPr lang="en-US" sz="2400" dirty="0" smtClean="0"/>
              <a:t>5.Evaluating performance, reviewing new developments, and initiating corrective   adjustments in long-term direction, objectives, strategy, or implementation in the light of actual experience, changing conditions, new ideas, and new opportunities.</a:t>
            </a:r>
            <a:endParaRPr lang="en-US" sz="2400" dirty="0"/>
          </a:p>
        </p:txBody>
      </p:sp>
    </p:spTree>
    <p:extLst>
      <p:ext uri="{BB962C8B-B14F-4D97-AF65-F5344CB8AC3E}">
        <p14:creationId xmlns:p14="http://schemas.microsoft.com/office/powerpoint/2010/main" val="279666349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04800"/>
            <a:ext cx="8229600" cy="6370975"/>
          </a:xfrm>
          <a:prstGeom prst="rect">
            <a:avLst/>
          </a:prstGeom>
          <a:noFill/>
        </p:spPr>
        <p:txBody>
          <a:bodyPr wrap="square" rtlCol="0">
            <a:spAutoFit/>
          </a:bodyPr>
          <a:lstStyle/>
          <a:p>
            <a:pPr algn="just"/>
            <a:r>
              <a:rPr lang="en-US" sz="2400" b="1" dirty="0" smtClean="0"/>
              <a:t># Strategic management process</a:t>
            </a:r>
          </a:p>
          <a:p>
            <a:pPr algn="just"/>
            <a:r>
              <a:rPr lang="en-US" sz="2400" dirty="0" smtClean="0"/>
              <a:t>The strategic management process can be broken down into five key stages. </a:t>
            </a:r>
          </a:p>
          <a:p>
            <a:pPr algn="just"/>
            <a:endParaRPr lang="en-US" sz="2400" dirty="0" smtClean="0"/>
          </a:p>
          <a:p>
            <a:pPr algn="just"/>
            <a:r>
              <a:rPr lang="en-US" sz="2400" b="1" dirty="0" smtClean="0">
                <a:effectLst>
                  <a:outerShdw blurRad="38100" dist="38100" dir="2700000" algn="tl">
                    <a:srgbClr val="000000">
                      <a:alpha val="43137"/>
                    </a:srgbClr>
                  </a:outerShdw>
                </a:effectLst>
              </a:rPr>
              <a:t>1. Goal-setting</a:t>
            </a:r>
          </a:p>
          <a:p>
            <a:pPr algn="just"/>
            <a:r>
              <a:rPr lang="en-US" sz="2400" dirty="0" smtClean="0"/>
              <a:t>First thing’s first. Where do you want to go? Effective goal-setting involves understanding what your organization stands for and what it wants to achieve. For this, you’ll need your company mission, vision, and long-term objectives.</a:t>
            </a:r>
          </a:p>
          <a:p>
            <a:pPr algn="just"/>
            <a:r>
              <a:rPr lang="en-US" sz="2400" dirty="0" smtClean="0"/>
              <a:t>Begin by revisiting and deeply understanding your organization’s mission and vision. These are values that encapsulate the essence of what your organization is and aspires to be. </a:t>
            </a:r>
          </a:p>
          <a:p>
            <a:pPr algn="just"/>
            <a:r>
              <a:rPr lang="en-US" sz="2400" dirty="0" smtClean="0"/>
              <a:t>Think about how your goals can reflect and advance these fundamental principles in the long term. These values act as a guiding compass and should be evident in every goal you set. For example, if ‘innovation’ is a core value, your goals should reflect a commitment to new ideas. </a:t>
            </a:r>
            <a:endParaRPr lang="en-US" sz="2400" dirty="0"/>
          </a:p>
        </p:txBody>
      </p:sp>
    </p:spTree>
    <p:extLst>
      <p:ext uri="{BB962C8B-B14F-4D97-AF65-F5344CB8AC3E}">
        <p14:creationId xmlns:p14="http://schemas.microsoft.com/office/powerpoint/2010/main" val="178047964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304800"/>
            <a:ext cx="8534400" cy="6247864"/>
          </a:xfrm>
          <a:prstGeom prst="rect">
            <a:avLst/>
          </a:prstGeom>
          <a:noFill/>
        </p:spPr>
        <p:txBody>
          <a:bodyPr wrap="square" rtlCol="0">
            <a:spAutoFit/>
          </a:bodyPr>
          <a:lstStyle/>
          <a:p>
            <a:pPr algn="just"/>
            <a:r>
              <a:rPr lang="en-US" sz="2000" dirty="0" smtClean="0"/>
              <a:t>Questions for goal-setting </a:t>
            </a:r>
          </a:p>
          <a:p>
            <a:pPr algn="just"/>
            <a:r>
              <a:rPr lang="en-US" sz="2000" dirty="0" smtClean="0"/>
              <a:t>•	What are our key priorities, and how do they align with our mission and vision?</a:t>
            </a:r>
          </a:p>
          <a:p>
            <a:pPr algn="just"/>
            <a:r>
              <a:rPr lang="en-US" sz="2000" dirty="0" smtClean="0"/>
              <a:t>•	How do our proposed goals reinforce our values?</a:t>
            </a:r>
          </a:p>
          <a:p>
            <a:pPr algn="just"/>
            <a:r>
              <a:rPr lang="en-US" sz="2000" dirty="0" smtClean="0"/>
              <a:t>•	Are these goals ambitious yet achievable?</a:t>
            </a:r>
          </a:p>
          <a:p>
            <a:pPr algn="just"/>
            <a:r>
              <a:rPr lang="en-US" sz="2000" dirty="0" smtClean="0"/>
              <a:t>•	How will these goals impact our employees, customers, and stakeholders?</a:t>
            </a:r>
          </a:p>
          <a:p>
            <a:pPr algn="just"/>
            <a:r>
              <a:rPr lang="en-US" sz="2000" dirty="0" smtClean="0"/>
              <a:t>•	How will we measure the success of these goals?</a:t>
            </a:r>
          </a:p>
          <a:p>
            <a:pPr algn="just"/>
            <a:r>
              <a:rPr lang="en-US" sz="2000" b="1" dirty="0" smtClean="0">
                <a:effectLst>
                  <a:outerShdw blurRad="38100" dist="38100" dir="2700000" algn="tl">
                    <a:srgbClr val="000000">
                      <a:alpha val="43137"/>
                    </a:srgbClr>
                  </a:outerShdw>
                </a:effectLst>
              </a:rPr>
              <a:t>2. Analysis</a:t>
            </a:r>
          </a:p>
          <a:p>
            <a:pPr algn="just"/>
            <a:r>
              <a:rPr lang="en-US" sz="2000" dirty="0" smtClean="0"/>
              <a:t>You need to know what you’re working with and what you’re up against. This involves looking inside your organization to understand your strengths and weaknesses and looking outside at the market and competitors to identify opportunities and threats.  SWOT diagram will come in handy here. Use a template to make the process headache-free. </a:t>
            </a:r>
          </a:p>
          <a:p>
            <a:pPr algn="just"/>
            <a:r>
              <a:rPr lang="en-US" sz="2000" dirty="0" smtClean="0"/>
              <a:t>3. Strategy formulation</a:t>
            </a:r>
          </a:p>
          <a:p>
            <a:pPr algn="just"/>
            <a:r>
              <a:rPr lang="en-US" sz="2000" dirty="0" smtClean="0"/>
              <a:t>Here’s where you map your route. Based on what you’ve learned from your analysis, you work out how you’re going to reach your goals. </a:t>
            </a:r>
          </a:p>
          <a:p>
            <a:pPr algn="just"/>
            <a:r>
              <a:rPr lang="en-US" sz="2000" dirty="0" smtClean="0"/>
              <a:t>This could involve diversification, market penetration, product development, partnerships, cost leadership, or differentiation strategies, among others. The secret is to generate multiple options that align with the results of your SWOT diagram. </a:t>
            </a:r>
          </a:p>
        </p:txBody>
      </p:sp>
    </p:spTree>
    <p:extLst>
      <p:ext uri="{BB962C8B-B14F-4D97-AF65-F5344CB8AC3E}">
        <p14:creationId xmlns:p14="http://schemas.microsoft.com/office/powerpoint/2010/main" val="168564077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304800"/>
            <a:ext cx="8382000" cy="6247864"/>
          </a:xfrm>
          <a:prstGeom prst="rect">
            <a:avLst/>
          </a:prstGeom>
          <a:noFill/>
        </p:spPr>
        <p:txBody>
          <a:bodyPr wrap="square" rtlCol="0">
            <a:spAutoFit/>
          </a:bodyPr>
          <a:lstStyle/>
          <a:p>
            <a:r>
              <a:rPr lang="en-US" sz="2000" dirty="0" smtClean="0"/>
              <a:t>Not every strategy you mastermind will be viable. So as part of this step, you’ll need to critically assess the pros and cons of each option. Considerations include feasibility, value alignment, resource availability, market trends, and potential risks and rewards. Ask around so you get a range of perspectives and insight. Once you’ve gathered all you need, run it past management and decide on a strategy or mix of strategies that will best serve your goals. </a:t>
            </a:r>
          </a:p>
          <a:p>
            <a:r>
              <a:rPr lang="en-US" sz="2000" b="1" dirty="0" smtClean="0">
                <a:effectLst>
                  <a:outerShdw blurRad="38100" dist="38100" dir="2700000" algn="tl">
                    <a:srgbClr val="000000">
                      <a:alpha val="43137"/>
                    </a:srgbClr>
                  </a:outerShdw>
                </a:effectLst>
              </a:rPr>
              <a:t>4. Strategy implementation</a:t>
            </a:r>
          </a:p>
          <a:p>
            <a:r>
              <a:rPr lang="en-US" sz="2000" dirty="0" smtClean="0"/>
              <a:t>Now, it’s time to put all that planning into action. The implementation stage involves allocating resources, assigning tasks, and making sure everyone in your organization knows what they’re supposed to be doing. </a:t>
            </a:r>
          </a:p>
          <a:p>
            <a:pPr algn="just"/>
            <a:r>
              <a:rPr lang="en-US" sz="2000" dirty="0" smtClean="0"/>
              <a:t>Using project management software can make this stage a lot easier. Instead of creating spreadsheets and sending out emails like wedding invites, simply add all your deadlines and tasks to a cloud-based timeline, then assign tasks and let the software do the heavy lifting when it comes to tracking. </a:t>
            </a:r>
          </a:p>
          <a:p>
            <a:pPr algn="just"/>
            <a:r>
              <a:rPr lang="en-US" sz="2000" b="1" dirty="0" smtClean="0">
                <a:effectLst>
                  <a:outerShdw blurRad="38100" dist="38100" dir="2700000" algn="tl">
                    <a:srgbClr val="000000">
                      <a:alpha val="43137"/>
                    </a:srgbClr>
                  </a:outerShdw>
                </a:effectLst>
              </a:rPr>
              <a:t>5. Evaluation and control</a:t>
            </a:r>
          </a:p>
          <a:p>
            <a:pPr algn="just"/>
            <a:r>
              <a:rPr lang="en-US" sz="2000" dirty="0" smtClean="0"/>
              <a:t>As you move along, you need to check you’re still on the right path. This stage is about monitoring your progress, comparing it with your plan, and making adjustments like the captain of a ship. Maybe you’ve hit some unexpected challenges, or maybe there are new opportunities you hadn’t considered before. The more you check, the more you’ll know.</a:t>
            </a:r>
            <a:endParaRPr lang="en-US" sz="2000" dirty="0"/>
          </a:p>
        </p:txBody>
      </p:sp>
    </p:spTree>
    <p:extLst>
      <p:ext uri="{BB962C8B-B14F-4D97-AF65-F5344CB8AC3E}">
        <p14:creationId xmlns:p14="http://schemas.microsoft.com/office/powerpoint/2010/main" val="362889434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458200" cy="2215991"/>
          </a:xfrm>
          <a:prstGeom prst="rect">
            <a:avLst/>
          </a:prstGeom>
          <a:noFill/>
        </p:spPr>
        <p:txBody>
          <a:bodyPr wrap="square" rtlCol="0">
            <a:spAutoFit/>
          </a:bodyPr>
          <a:lstStyle/>
          <a:p>
            <a:pPr algn="just"/>
            <a:r>
              <a:rPr lang="en-US" sz="2400" b="1" dirty="0" smtClean="0"/>
              <a:t># What Is a Stakeholder?</a:t>
            </a:r>
          </a:p>
          <a:p>
            <a:pPr algn="just"/>
            <a:r>
              <a:rPr lang="en-US" sz="2400" dirty="0" smtClean="0"/>
              <a:t>A stakeholder is an individual or a group of individuals with an interest, often financial, in the success of a business. The primary stakeholders in a corporation include its investors, employees, customers, and suppliers.</a:t>
            </a:r>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2286000"/>
            <a:ext cx="4056063"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3505200" y="5943600"/>
            <a:ext cx="3370263" cy="369332"/>
          </a:xfrm>
          <a:prstGeom prst="rect">
            <a:avLst/>
          </a:prstGeom>
          <a:noFill/>
        </p:spPr>
        <p:txBody>
          <a:bodyPr wrap="square" rtlCol="0">
            <a:spAutoFit/>
          </a:bodyPr>
          <a:lstStyle/>
          <a:p>
            <a:pPr algn="ctr"/>
            <a:r>
              <a:rPr lang="en-US" b="1" dirty="0" smtClean="0">
                <a:effectLst>
                  <a:outerShdw blurRad="38100" dist="38100" dir="2700000" algn="tl">
                    <a:srgbClr val="000000">
                      <a:alpha val="43137"/>
                    </a:srgbClr>
                  </a:outerShdw>
                </a:effectLst>
              </a:rPr>
              <a:t>Fig. Types of Stakeholders</a:t>
            </a:r>
            <a:endParaRPr lang="en-US"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74149980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800" y="228600"/>
            <a:ext cx="8534400" cy="6001643"/>
          </a:xfrm>
          <a:prstGeom prst="rect">
            <a:avLst/>
          </a:prstGeom>
          <a:noFill/>
        </p:spPr>
        <p:txBody>
          <a:bodyPr wrap="square" rtlCol="0">
            <a:spAutoFit/>
          </a:bodyPr>
          <a:lstStyle/>
          <a:p>
            <a:pPr algn="just"/>
            <a:r>
              <a:rPr lang="en-US" sz="2400" b="1" dirty="0" smtClean="0">
                <a:effectLst>
                  <a:outerShdw blurRad="38100" dist="38100" dir="2700000" algn="tl">
                    <a:srgbClr val="000000">
                      <a:alpha val="43137"/>
                    </a:srgbClr>
                  </a:outerShdw>
                </a:effectLst>
              </a:rPr>
              <a:t>#Types of Stakeholders</a:t>
            </a:r>
          </a:p>
          <a:p>
            <a:pPr algn="just"/>
            <a:r>
              <a:rPr lang="en-US" sz="2400" b="1" dirty="0" smtClean="0">
                <a:effectLst>
                  <a:outerShdw blurRad="38100" dist="38100" dir="2700000" algn="tl">
                    <a:srgbClr val="000000">
                      <a:alpha val="43137"/>
                    </a:srgbClr>
                  </a:outerShdw>
                </a:effectLst>
              </a:rPr>
              <a:t>Customers</a:t>
            </a:r>
          </a:p>
          <a:p>
            <a:pPr algn="just"/>
            <a:r>
              <a:rPr lang="en-US" sz="2400" b="1" i="1" dirty="0" smtClean="0">
                <a:solidFill>
                  <a:srgbClr val="00B050"/>
                </a:solidFill>
              </a:rPr>
              <a:t>Stake: Product/service quality and value</a:t>
            </a:r>
          </a:p>
          <a:p>
            <a:pPr algn="just"/>
            <a:r>
              <a:rPr lang="en-US" sz="2400" dirty="0" smtClean="0"/>
              <a:t>Many would argue that businesses exist to serve their customers. Customers are actually stakeholders of a business, in that they are impacted by the quality of service/products and their value. For example, passengers traveling on an airplane literally have their lives in the of transportation, mining, oil and gas, construction, etc.). company’s hands when flying with the airline.</a:t>
            </a:r>
          </a:p>
          <a:p>
            <a:pPr algn="just"/>
            <a:r>
              <a:rPr lang="en-US" sz="2400" b="1" dirty="0" smtClean="0">
                <a:effectLst>
                  <a:outerShdw blurRad="38100" dist="38100" dir="2700000" algn="tl">
                    <a:srgbClr val="000000">
                      <a:alpha val="43137"/>
                    </a:srgbClr>
                  </a:outerShdw>
                </a:effectLst>
              </a:rPr>
              <a:t>Employees</a:t>
            </a:r>
          </a:p>
          <a:p>
            <a:pPr algn="just"/>
            <a:r>
              <a:rPr lang="en-US" sz="2400" b="1" i="1" dirty="0" smtClean="0">
                <a:solidFill>
                  <a:srgbClr val="00B050"/>
                </a:solidFill>
              </a:rPr>
              <a:t>Stake: Employment income and safety</a:t>
            </a:r>
          </a:p>
          <a:p>
            <a:pPr algn="just"/>
            <a:r>
              <a:rPr lang="en-US" sz="2400" dirty="0" smtClean="0"/>
              <a:t>Employees have a direct stake in the company in that they earn an income to support themselves, along with other benefits (both monetary and non-monetary). Depending on the nature of the business, employees may also have a health and safety interest (for example, in the industries </a:t>
            </a:r>
          </a:p>
        </p:txBody>
      </p:sp>
    </p:spTree>
    <p:extLst>
      <p:ext uri="{BB962C8B-B14F-4D97-AF65-F5344CB8AC3E}">
        <p14:creationId xmlns:p14="http://schemas.microsoft.com/office/powerpoint/2010/main" val="52080777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304800"/>
            <a:ext cx="8610600" cy="5632311"/>
          </a:xfrm>
          <a:prstGeom prst="rect">
            <a:avLst/>
          </a:prstGeom>
          <a:noFill/>
        </p:spPr>
        <p:txBody>
          <a:bodyPr wrap="square" rtlCol="0">
            <a:spAutoFit/>
          </a:bodyPr>
          <a:lstStyle/>
          <a:p>
            <a:pPr algn="just"/>
            <a:r>
              <a:rPr lang="en-US" sz="2400" b="1" dirty="0" smtClean="0">
                <a:effectLst>
                  <a:outerShdw blurRad="38100" dist="38100" dir="2700000" algn="tl">
                    <a:srgbClr val="000000">
                      <a:alpha val="43137"/>
                    </a:srgbClr>
                  </a:outerShdw>
                </a:effectLst>
              </a:rPr>
              <a:t>Investors</a:t>
            </a:r>
          </a:p>
          <a:p>
            <a:pPr algn="just"/>
            <a:r>
              <a:rPr lang="en-US" sz="2400" b="1" i="1" dirty="0" smtClean="0">
                <a:solidFill>
                  <a:srgbClr val="00B050"/>
                </a:solidFill>
              </a:rPr>
              <a:t>Stake: Financial returns</a:t>
            </a:r>
          </a:p>
          <a:p>
            <a:pPr algn="just"/>
            <a:r>
              <a:rPr lang="en-US" sz="2400" dirty="0" smtClean="0"/>
              <a:t>Investors include both shareholders and debt holders. Shareholders invest capital in the business and expect to earn a certain rate of return on that invested capital. Investors are commonly concerned with the concept of shareholder value. Lumped in with this group are all other providers of capital, such as lenders and potential acquirers. All shareholders are inherently stakeholders, but stakeholders are not inherently shareholders.</a:t>
            </a:r>
          </a:p>
          <a:p>
            <a:pPr algn="just"/>
            <a:r>
              <a:rPr lang="en-US" sz="2400" b="1" dirty="0" smtClean="0">
                <a:effectLst>
                  <a:outerShdw blurRad="38100" dist="38100" dir="2700000" algn="tl">
                    <a:srgbClr val="000000">
                      <a:alpha val="43137"/>
                    </a:srgbClr>
                  </a:outerShdw>
                </a:effectLst>
              </a:rPr>
              <a:t>Suppliers and Vendors</a:t>
            </a:r>
          </a:p>
          <a:p>
            <a:pPr algn="just"/>
            <a:r>
              <a:rPr lang="en-US" sz="2400" b="1" i="1" dirty="0" smtClean="0">
                <a:solidFill>
                  <a:srgbClr val="00B050"/>
                </a:solidFill>
              </a:rPr>
              <a:t>Stake: Revenues and safety</a:t>
            </a:r>
          </a:p>
          <a:p>
            <a:pPr algn="just"/>
            <a:r>
              <a:rPr lang="en-US" sz="2400" dirty="0" smtClean="0"/>
              <a:t>Suppliers and vendors sell goods and/or services to a business and rely on it for revenue generation and on-going income. In many industries, suppliers also have their health and safety on the line, as they may be directly involved in the company’s operations.</a:t>
            </a:r>
            <a:endParaRPr lang="en-US" sz="2400" dirty="0"/>
          </a:p>
        </p:txBody>
      </p:sp>
    </p:spTree>
    <p:extLst>
      <p:ext uri="{BB962C8B-B14F-4D97-AF65-F5344CB8AC3E}">
        <p14:creationId xmlns:p14="http://schemas.microsoft.com/office/powerpoint/2010/main" val="84392793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304800"/>
            <a:ext cx="8458200" cy="6370975"/>
          </a:xfrm>
          <a:prstGeom prst="rect">
            <a:avLst/>
          </a:prstGeom>
          <a:noFill/>
        </p:spPr>
        <p:txBody>
          <a:bodyPr wrap="square" rtlCol="0">
            <a:spAutoFit/>
          </a:bodyPr>
          <a:lstStyle/>
          <a:p>
            <a:pPr algn="just"/>
            <a:r>
              <a:rPr lang="en-US" sz="2400" b="1" dirty="0">
                <a:effectLst>
                  <a:outerShdw blurRad="38100" dist="38100" dir="2700000" algn="tl">
                    <a:srgbClr val="000000">
                      <a:alpha val="43137"/>
                    </a:srgbClr>
                  </a:outerShdw>
                </a:effectLst>
              </a:rPr>
              <a:t>Communities</a:t>
            </a:r>
          </a:p>
          <a:p>
            <a:pPr algn="just"/>
            <a:r>
              <a:rPr lang="en-US" sz="2400" b="1" i="1" dirty="0" smtClean="0">
                <a:solidFill>
                  <a:srgbClr val="00B050"/>
                </a:solidFill>
                <a:effectLst>
                  <a:outerShdw blurRad="38100" dist="38100" dir="2700000" algn="tl">
                    <a:srgbClr val="000000">
                      <a:alpha val="43137"/>
                    </a:srgbClr>
                  </a:outerShdw>
                </a:effectLst>
              </a:rPr>
              <a:t>Stake: Health, safety, economic development</a:t>
            </a:r>
          </a:p>
          <a:p>
            <a:pPr algn="just"/>
            <a:r>
              <a:rPr lang="en-US" sz="2400" dirty="0" smtClean="0"/>
              <a:t>Communities are major stakeholders in large businesses located in them. They are impacted by a wide range of things, including job creation, economic development, health, and safety. When a big company enters or exits a small community, there is an immediate and significant impact on employment, incomes, and spending in the area. With some industries, there is a potential health impact, too, as companies may alter the environment.</a:t>
            </a:r>
          </a:p>
          <a:p>
            <a:pPr algn="just"/>
            <a:r>
              <a:rPr lang="en-US" sz="2400" b="1" dirty="0" smtClean="0">
                <a:effectLst>
                  <a:outerShdw blurRad="38100" dist="38100" dir="2700000" algn="tl">
                    <a:srgbClr val="000000">
                      <a:alpha val="43137"/>
                    </a:srgbClr>
                  </a:outerShdw>
                </a:effectLst>
              </a:rPr>
              <a:t>Governments</a:t>
            </a:r>
          </a:p>
          <a:p>
            <a:pPr algn="just"/>
            <a:r>
              <a:rPr lang="en-US" sz="2400" b="1" i="1" dirty="0" smtClean="0">
                <a:solidFill>
                  <a:srgbClr val="00B050"/>
                </a:solidFill>
              </a:rPr>
              <a:t>Stake: Taxes and GDP</a:t>
            </a:r>
          </a:p>
          <a:p>
            <a:pPr algn="just"/>
            <a:r>
              <a:rPr lang="en-US" sz="2400" dirty="0" smtClean="0"/>
              <a:t>Governments can also be considered a major stakeholder in a business, as they collect taxes from the company (corporate income taxes), as well as from all the people it employs (payroll taxes) and from other spending the company incurs (sales taxes). Governments benefit from the overall Gross Domestic Product (GDP) that companies contribute to.</a:t>
            </a:r>
            <a:endParaRPr lang="en-US" sz="2400" dirty="0"/>
          </a:p>
        </p:txBody>
      </p:sp>
    </p:spTree>
    <p:extLst>
      <p:ext uri="{BB962C8B-B14F-4D97-AF65-F5344CB8AC3E}">
        <p14:creationId xmlns:p14="http://schemas.microsoft.com/office/powerpoint/2010/main" val="2697479874"/>
      </p:ext>
    </p:extLst>
  </p:cSld>
  <p:clrMapOvr>
    <a:masterClrMapping/>
  </p:clrMapOvr>
  <p:timing>
    <p:tnLst>
      <p:par>
        <p:cTn id="1" dur="indefinite" restart="never" nodeType="tmRoot"/>
      </p:par>
    </p:tnLst>
  </p:timing>
</p:sld>
</file>

<file path=ppt/theme/theme1.xml><?xml version="1.0" encoding="utf-8"?>
<a:theme xmlns:a="http://schemas.openxmlformats.org/drawingml/2006/main" name="Thatch">
  <a:themeElements>
    <a:clrScheme name="Thatch">
      <a:dk1>
        <a:sysClr val="windowText" lastClr="000000"/>
      </a:dk1>
      <a:lt1>
        <a:sysClr val="window" lastClr="FFFFFF"/>
      </a:lt1>
      <a:dk2>
        <a:srgbClr val="1D3641"/>
      </a:dk2>
      <a:lt2>
        <a:srgbClr val="DFE6D0"/>
      </a:lt2>
      <a:accent1>
        <a:srgbClr val="759AA5"/>
      </a:accent1>
      <a:accent2>
        <a:srgbClr val="CFC60D"/>
      </a:accent2>
      <a:accent3>
        <a:srgbClr val="99987F"/>
      </a:accent3>
      <a:accent4>
        <a:srgbClr val="90AC97"/>
      </a:accent4>
      <a:accent5>
        <a:srgbClr val="FFAD1C"/>
      </a:accent5>
      <a:accent6>
        <a:srgbClr val="B9AB6F"/>
      </a:accent6>
      <a:hlink>
        <a:srgbClr val="66AACD"/>
      </a:hlink>
      <a:folHlink>
        <a:srgbClr val="809DB3"/>
      </a:folHlink>
    </a:clrScheme>
    <a:fontScheme name="Median">
      <a:majorFont>
        <a:latin typeface="Tw Cen MT"/>
        <a:ea typeface=""/>
        <a:cs typeface=""/>
        <a:font script="Grek" typeface="Calibri"/>
        <a:font script="Cyrl" typeface="Calibri"/>
        <a:font script="Jpan" typeface="HG創英角ｺﾞｼｯｸUB"/>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創英角ｺﾞｼｯｸUB"/>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Thatch">
      <a:fillStyleLst>
        <a:solidFill>
          <a:schemeClr val="phClr"/>
        </a:solidFill>
        <a:gradFill rotWithShape="1">
          <a:gsLst>
            <a:gs pos="0">
              <a:schemeClr val="phClr">
                <a:tint val="79000"/>
                <a:satMod val="180000"/>
              </a:schemeClr>
            </a:gs>
            <a:gs pos="65000">
              <a:schemeClr val="phClr">
                <a:tint val="52000"/>
                <a:satMod val="250000"/>
              </a:schemeClr>
            </a:gs>
            <a:gs pos="100000">
              <a:schemeClr val="phClr">
                <a:tint val="29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15875" cap="flat" cmpd="sng" algn="ctr">
          <a:solidFill>
            <a:schemeClr val="phClr"/>
          </a:solidFill>
          <a:prstDash val="solid"/>
        </a:ln>
        <a:ln w="38100" cap="flat" cmpd="sng" algn="ctr">
          <a:solidFill>
            <a:schemeClr val="phClr"/>
          </a:solidFill>
          <a:prstDash val="solid"/>
        </a:ln>
      </a:lnStyleLst>
      <a:effectStyleLst>
        <a:effectStyle>
          <a:effectLst>
            <a:outerShdw blurRad="63500" dist="25400" dir="5400000" rotWithShape="0">
              <a:srgbClr val="000000">
                <a:alpha val="43000"/>
              </a:srgbClr>
            </a:outerShdw>
          </a:effectLst>
        </a:effectStyle>
        <a:effectStyle>
          <a:effectLst>
            <a:outerShdw blurRad="63500" dist="25400" dir="5400000" rotWithShape="0">
              <a:srgbClr val="000000">
                <a:alpha val="43000"/>
              </a:srgbClr>
            </a:outerShdw>
          </a:effectLst>
          <a:scene3d>
            <a:camera prst="orthographicFront">
              <a:rot lat="0" lon="0" rev="0"/>
            </a:camera>
            <a:lightRig rig="brightRoom" dir="t">
              <a:rot lat="0" lon="0" rev="8700000"/>
            </a:lightRig>
          </a:scene3d>
          <a:sp3d contourW="12700" prstMaterial="dkEdge">
            <a:bevelT w="0" h="0" prst="relaxedInset"/>
            <a:contourClr>
              <a:schemeClr val="phClr">
                <a:shade val="65000"/>
                <a:satMod val="150000"/>
              </a:schemeClr>
            </a:contourClr>
          </a:sp3d>
        </a:effectStyle>
        <a:effectStyle>
          <a:effectLst>
            <a:outerShdw blurRad="63500" dist="25400" dir="5400000" rotWithShape="0">
              <a:srgbClr val="000000">
                <a:alpha val="43000"/>
              </a:srgbClr>
            </a:outerShdw>
          </a:effectLst>
          <a:scene3d>
            <a:camera prst="orthographicFront">
              <a:rot lat="0" lon="0" rev="0"/>
            </a:camera>
            <a:lightRig rig="glow" dir="t">
              <a:rot lat="0" lon="0" rev="13200000"/>
            </a:lightRig>
          </a:scene3d>
          <a:sp3d prstMaterial="dkEdge">
            <a:bevelT w="63500" h="50800" prst="relaxedInset"/>
          </a:sp3d>
        </a:effectStyle>
      </a:effectStyleLst>
      <a:bgFillStyleLst>
        <a:solidFill>
          <a:schemeClr val="phClr"/>
        </a:solidFill>
        <a:gradFill rotWithShape="1">
          <a:gsLst>
            <a:gs pos="0">
              <a:schemeClr val="phClr">
                <a:tint val="85000"/>
                <a:shade val="95000"/>
                <a:satMod val="200000"/>
              </a:schemeClr>
            </a:gs>
            <a:gs pos="53000">
              <a:schemeClr val="phClr">
                <a:shade val="60000"/>
                <a:satMod val="220000"/>
              </a:schemeClr>
            </a:gs>
            <a:gs pos="100000">
              <a:schemeClr val="phClr">
                <a:shade val="45000"/>
                <a:satMod val="220000"/>
              </a:schemeClr>
            </a:gs>
          </a:gsLst>
          <a:lin ang="16200000" scaled="0"/>
        </a:gradFill>
        <a:gradFill rotWithShape="1">
          <a:gsLst>
            <a:gs pos="0">
              <a:schemeClr val="phClr">
                <a:tint val="83000"/>
                <a:shade val="97000"/>
                <a:satMod val="230000"/>
              </a:schemeClr>
            </a:gs>
            <a:gs pos="100000">
              <a:schemeClr val="phClr">
                <a:shade val="35000"/>
                <a:satMod val="250000"/>
              </a:schemeClr>
            </a:gs>
          </a:gsLst>
          <a:path path="circle">
            <a:fillToRect l="15000" t="50000" r="85000" b="6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Thatch</Template>
  <TotalTime>41</TotalTime>
  <Words>1324</Words>
  <Application>Microsoft Office PowerPoint</Application>
  <PresentationFormat>On-screen Show (4:3)</PresentationFormat>
  <Paragraphs>67</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Thatch</vt:lpstr>
      <vt:lpstr>Business Strategy Management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Strategy Management</dc:title>
  <dc:creator>Sraboni</dc:creator>
  <cp:lastModifiedBy>Sraboni</cp:lastModifiedBy>
  <cp:revision>6</cp:revision>
  <dcterms:created xsi:type="dcterms:W3CDTF">2024-12-05T05:15:09Z</dcterms:created>
  <dcterms:modified xsi:type="dcterms:W3CDTF">2024-12-11T07:19:23Z</dcterms:modified>
</cp:coreProperties>
</file>