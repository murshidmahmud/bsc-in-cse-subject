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45" d="100"/>
          <a:sy n="45" d="100"/>
        </p:scale>
        <p:origin x="-1884" y="-10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228600"/>
            <a:ext cx="7772400" cy="4571999"/>
          </a:xfrm>
        </p:spPr>
        <p:txBody>
          <a:bodyPr anchor="ctr">
            <a:noAutofit/>
          </a:bodyPr>
          <a:lstStyle>
            <a:lvl1pPr>
              <a:lnSpc>
                <a:spcPct val="100000"/>
              </a:lnSpc>
              <a:defRPr sz="8800" spc="-80" baseline="0">
                <a:solidFill>
                  <a:schemeClr val="tx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457200" y="4800600"/>
            <a:ext cx="6858000" cy="914400"/>
          </a:xfrm>
        </p:spPr>
        <p:txBody>
          <a:bodyPr/>
          <a:lstStyle>
            <a:lvl1pPr marL="0" indent="0" algn="l">
              <a:buNone/>
              <a:defRPr b="0" cap="all" spc="120" baseline="0">
                <a:solidFill>
                  <a:schemeClr val="tx2"/>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E6A9207-DC24-47FA-82F5-C5A8F95AC9E1}" type="datetimeFigureOut">
              <a:rPr lang="en-US" smtClean="0"/>
              <a:t>02/08/25</a:t>
            </a:fld>
            <a:endParaRPr lang="en-US"/>
          </a:p>
        </p:txBody>
      </p:sp>
      <p:sp>
        <p:nvSpPr>
          <p:cNvPr id="5" name="Footer Placeholder 4"/>
          <p:cNvSpPr>
            <a:spLocks noGrp="1"/>
          </p:cNvSpPr>
          <p:nvPr>
            <p:ph type="ftr" sz="quarter" idx="11"/>
          </p:nvPr>
        </p:nvSpPr>
        <p:spPr/>
        <p:txBody>
          <a:bodyPr/>
          <a:lstStyle/>
          <a:p>
            <a:endParaRPr lang="en-US"/>
          </a:p>
        </p:txBody>
      </p:sp>
      <p:sp>
        <p:nvSpPr>
          <p:cNvPr id="9" name="Rectangle 8"/>
          <p:cNvSpPr/>
          <p:nvPr/>
        </p:nvSpPr>
        <p:spPr>
          <a:xfrm>
            <a:off x="9001124" y="4846320"/>
            <a:ext cx="142876" cy="20116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9001124" y="0"/>
            <a:ext cx="142876" cy="48463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DC1728BF-EA6C-418C-ACFB-34FBBC6EA2DD}"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E6A9207-DC24-47FA-82F5-C5A8F95AC9E1}" type="datetimeFigureOut">
              <a:rPr lang="en-US" smtClean="0"/>
              <a:t>02/08/25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1728BF-EA6C-418C-ACFB-34FBBC6EA2DD}"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1447800"/>
            <a:ext cx="7772400" cy="4321175"/>
          </a:xfrm>
        </p:spPr>
        <p:txBody>
          <a:bodyPr anchor="ctr">
            <a:noAutofit/>
          </a:bodyPr>
          <a:lstStyle>
            <a:lvl1pPr algn="l">
              <a:lnSpc>
                <a:spcPct val="100000"/>
              </a:lnSpc>
              <a:defRPr sz="8800" b="0" cap="all" spc="-80" baseline="0">
                <a:solidFill>
                  <a:schemeClr val="tx1"/>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457200" y="228601"/>
            <a:ext cx="7772400" cy="1066800"/>
          </a:xfrm>
        </p:spPr>
        <p:txBody>
          <a:bodyPr anchor="b"/>
          <a:lstStyle>
            <a:lvl1pPr marL="0" indent="0">
              <a:buNone/>
              <a:defRPr sz="2000" b="0" cap="all" spc="12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7" name="Date Placeholder 6"/>
          <p:cNvSpPr>
            <a:spLocks noGrp="1"/>
          </p:cNvSpPr>
          <p:nvPr>
            <p:ph type="dt" sz="half" idx="10"/>
          </p:nvPr>
        </p:nvSpPr>
        <p:spPr/>
        <p:txBody>
          <a:bodyPr/>
          <a:lstStyle/>
          <a:p>
            <a:fld id="{6E6A9207-DC24-47FA-82F5-C5A8F95AC9E1}" type="datetimeFigureOut">
              <a:rPr lang="en-US" smtClean="0"/>
              <a:t>02/08/25</a:t>
            </a:fld>
            <a:endParaRPr lang="en-US"/>
          </a:p>
        </p:txBody>
      </p:sp>
      <p:sp>
        <p:nvSpPr>
          <p:cNvPr id="8" name="Slide Number Placeholder 7"/>
          <p:cNvSpPr>
            <a:spLocks noGrp="1"/>
          </p:cNvSpPr>
          <p:nvPr>
            <p:ph type="sldNum" sz="quarter" idx="11"/>
          </p:nvPr>
        </p:nvSpPr>
        <p:spPr/>
        <p:txBody>
          <a:bodyPr/>
          <a:lstStyle/>
          <a:p>
            <a:fld id="{DC1728BF-EA6C-418C-ACFB-34FBBC6EA2DD}" type="slidenum">
              <a:rPr lang="en-US" smtClean="0"/>
              <a:t>‹#›</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630680" y="1574800"/>
            <a:ext cx="329184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90160" y="1574800"/>
            <a:ext cx="329184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E6A9207-DC24-47FA-82F5-C5A8F95AC9E1}" type="datetimeFigureOut">
              <a:rPr lang="en-US" smtClean="0"/>
              <a:t>02/08/25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1728BF-EA6C-418C-ACFB-34FBBC6EA2DD}"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627632" y="1572768"/>
            <a:ext cx="3291840" cy="639762"/>
          </a:xfrm>
        </p:spPr>
        <p:txBody>
          <a:bodyPr anchor="b">
            <a:noAutofit/>
          </a:bodyPr>
          <a:lstStyle>
            <a:lvl1pPr marL="0" indent="0">
              <a:buNone/>
              <a:defRPr sz="1800" b="0" cap="all" spc="100" baseline="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627632" y="2259366"/>
            <a:ext cx="3291840" cy="384048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93208" y="1572768"/>
            <a:ext cx="3291840" cy="639762"/>
          </a:xfrm>
        </p:spPr>
        <p:txBody>
          <a:bodyPr anchor="b">
            <a:noAutofit/>
          </a:bodyPr>
          <a:lstStyle>
            <a:lvl1pPr marL="0" indent="0">
              <a:buNone/>
              <a:defRPr lang="en-US" sz="1800" b="0" kern="1200" cap="all" spc="100" baseline="0" dirty="0" smtClean="0">
                <a:solidFill>
                  <a:schemeClr val="tx1"/>
                </a:solidFill>
                <a:latin typeface="+mj-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spcBef>
                <a:spcPct val="20000"/>
              </a:spcBef>
              <a:buFont typeface="Arial" pitchFamily="34" charset="0"/>
              <a:buNone/>
            </a:pPr>
            <a:r>
              <a:rPr lang="en-US" smtClean="0"/>
              <a:t>Click to edit Master text styles</a:t>
            </a:r>
          </a:p>
        </p:txBody>
      </p:sp>
      <p:sp>
        <p:nvSpPr>
          <p:cNvPr id="6" name="Content Placeholder 5"/>
          <p:cNvSpPr>
            <a:spLocks noGrp="1"/>
          </p:cNvSpPr>
          <p:nvPr>
            <p:ph sz="quarter" idx="4"/>
          </p:nvPr>
        </p:nvSpPr>
        <p:spPr>
          <a:xfrm>
            <a:off x="5093208" y="2259366"/>
            <a:ext cx="3291840" cy="384048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E6A9207-DC24-47FA-82F5-C5A8F95AC9E1}" type="datetimeFigureOut">
              <a:rPr lang="en-US" smtClean="0"/>
              <a:t>02/08/25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C1728BF-EA6C-418C-ACFB-34FBBC6EA2DD}"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E6A9207-DC24-47FA-82F5-C5A8F95AC9E1}" type="datetimeFigureOut">
              <a:rPr lang="en-US" smtClean="0"/>
              <a:t>02/08/25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C1728BF-EA6C-418C-ACFB-34FBBC6EA2DD}"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E6A9207-DC24-47FA-82F5-C5A8F95AC9E1}" type="datetimeFigureOut">
              <a:rPr lang="en-US" smtClean="0"/>
              <a:t>02/08/25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C1728BF-EA6C-418C-ACFB-34FBBC6EA2DD}"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4805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600200"/>
            <a:ext cx="3008313" cy="448056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E6A9207-DC24-47FA-82F5-C5A8F95AC9E1}" type="datetimeFigureOut">
              <a:rPr lang="en-US" smtClean="0"/>
              <a:t>02/08/25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1728BF-EA6C-418C-ACFB-34FBBC6EA2DD}" type="slidenum">
              <a:rPr lang="en-US" smtClean="0"/>
              <a:t>‹#›</a:t>
            </a:fld>
            <a:endParaRPr lang="en-US"/>
          </a:p>
        </p:txBody>
      </p:sp>
      <p:sp>
        <p:nvSpPr>
          <p:cNvPr id="8" name="Title 7"/>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Rectangle 8"/>
          <p:cNvSpPr/>
          <p:nvPr/>
        </p:nvSpPr>
        <p:spPr>
          <a:xfrm>
            <a:off x="9001124" y="4846320"/>
            <a:ext cx="142876" cy="20116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1" y="0"/>
            <a:ext cx="9000877" cy="4846320"/>
          </a:xfrm>
          <a:solidFill>
            <a:schemeClr val="bg1">
              <a:lumMod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457200" y="5715000"/>
            <a:ext cx="8153400" cy="457200"/>
          </a:xfrm>
        </p:spPr>
        <p:txBody>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E6A9207-DC24-47FA-82F5-C5A8F95AC9E1}" type="datetimeFigureOut">
              <a:rPr lang="en-US" smtClean="0"/>
              <a:t>02/08/25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DC1728BF-EA6C-418C-ACFB-34FBBC6EA2DD}" type="slidenum">
              <a:rPr lang="en-US" smtClean="0"/>
              <a:t>‹#›</a:t>
            </a:fld>
            <a:endParaRPr lang="en-US"/>
          </a:p>
        </p:txBody>
      </p:sp>
      <p:sp>
        <p:nvSpPr>
          <p:cNvPr id="8" name="Title 7"/>
          <p:cNvSpPr>
            <a:spLocks noGrp="1"/>
          </p:cNvSpPr>
          <p:nvPr>
            <p:ph type="title"/>
          </p:nvPr>
        </p:nvSpPr>
        <p:spPr>
          <a:xfrm>
            <a:off x="457200" y="4953000"/>
            <a:ext cx="8153400" cy="762000"/>
          </a:xfrm>
        </p:spPr>
        <p:txBody>
          <a:bodyPr anchor="t">
            <a:normAutofit/>
          </a:bodyPr>
          <a:lstStyle>
            <a:lvl1pPr>
              <a:defRPr sz="3200"/>
            </a:lvl1pPr>
          </a:lstStyle>
          <a:p>
            <a:r>
              <a:rPr lang="en-US" smtClean="0"/>
              <a:t>Click to edit Master title style</a:t>
            </a:r>
            <a:endParaRPr lang="en-US" dirty="0"/>
          </a:p>
        </p:txBody>
      </p:sp>
      <p:sp>
        <p:nvSpPr>
          <p:cNvPr id="10" name="Rectangle 9"/>
          <p:cNvSpPr/>
          <p:nvPr/>
        </p:nvSpPr>
        <p:spPr>
          <a:xfrm>
            <a:off x="9001124" y="0"/>
            <a:ext cx="142876" cy="48463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E6A9207-DC24-47FA-82F5-C5A8F95AC9E1}" type="datetimeFigureOut">
              <a:rPr lang="en-US" smtClean="0"/>
              <a:t>02/08/25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1728BF-EA6C-418C-ACFB-34FBBC6EA2DD}"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E6A9207-DC24-47FA-82F5-C5A8F95AC9E1}" type="datetimeFigureOut">
              <a:rPr lang="en-US" smtClean="0"/>
              <a:t>02/08/25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1728BF-EA6C-418C-ACFB-34FBBC6EA2DD}"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52718"/>
            <a:ext cx="5791200" cy="1371600"/>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752600"/>
            <a:ext cx="7620000" cy="43735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457200" y="6172201"/>
            <a:ext cx="3429000" cy="304800"/>
          </a:xfrm>
          <a:prstGeom prst="rect">
            <a:avLst/>
          </a:prstGeom>
        </p:spPr>
        <p:txBody>
          <a:bodyPr vert="horz" lIns="91440" tIns="45720" rIns="91440" bIns="0" rtlCol="0" anchor="b"/>
          <a:lstStyle>
            <a:lvl1pPr algn="l">
              <a:defRPr sz="1000">
                <a:solidFill>
                  <a:schemeClr val="tx1"/>
                </a:solidFill>
              </a:defRPr>
            </a:lvl1pPr>
          </a:lstStyle>
          <a:p>
            <a:fld id="{6E6A9207-DC24-47FA-82F5-C5A8F95AC9E1}" type="datetimeFigureOut">
              <a:rPr lang="en-US" smtClean="0"/>
              <a:t>02/08/25</a:t>
            </a:fld>
            <a:endParaRPr lang="en-US"/>
          </a:p>
        </p:txBody>
      </p:sp>
      <p:sp>
        <p:nvSpPr>
          <p:cNvPr id="5" name="Footer Placeholder 4"/>
          <p:cNvSpPr>
            <a:spLocks noGrp="1"/>
          </p:cNvSpPr>
          <p:nvPr>
            <p:ph type="ftr" sz="quarter" idx="3"/>
          </p:nvPr>
        </p:nvSpPr>
        <p:spPr>
          <a:xfrm>
            <a:off x="457200" y="6492875"/>
            <a:ext cx="3429000" cy="283845"/>
          </a:xfrm>
          <a:prstGeom prst="rect">
            <a:avLst/>
          </a:prstGeom>
        </p:spPr>
        <p:txBody>
          <a:bodyPr vert="horz" lIns="91440" tIns="45720" rIns="91440" bIns="45720" rtlCol="0" anchor="t"/>
          <a:lstStyle>
            <a:lvl1pPr algn="l">
              <a:defRPr sz="1000">
                <a:solidFill>
                  <a:schemeClr val="tx1"/>
                </a:solidFill>
              </a:defRPr>
            </a:lvl1pPr>
          </a:lstStyle>
          <a:p>
            <a:endParaRPr lang="en-US"/>
          </a:p>
        </p:txBody>
      </p:sp>
      <p:sp>
        <p:nvSpPr>
          <p:cNvPr id="6" name="Slide Number Placeholder 5"/>
          <p:cNvSpPr>
            <a:spLocks noGrp="1"/>
          </p:cNvSpPr>
          <p:nvPr>
            <p:ph type="sldNum" sz="quarter" idx="4"/>
          </p:nvPr>
        </p:nvSpPr>
        <p:spPr>
          <a:xfrm rot="16200000">
            <a:off x="8227377" y="5885497"/>
            <a:ext cx="1315721" cy="365125"/>
          </a:xfrm>
          <a:prstGeom prst="rect">
            <a:avLst/>
          </a:prstGeom>
        </p:spPr>
        <p:txBody>
          <a:bodyPr vert="horz" lIns="91440" tIns="45720" rIns="91440" bIns="45720" rtlCol="0" anchor="ctr"/>
          <a:lstStyle>
            <a:lvl1pPr algn="l">
              <a:defRPr sz="2400" b="1">
                <a:solidFill>
                  <a:schemeClr val="tx2"/>
                </a:solidFill>
              </a:defRPr>
            </a:lvl1pPr>
          </a:lstStyle>
          <a:p>
            <a:fld id="{DC1728BF-EA6C-418C-ACFB-34FBBC6EA2DD}" type="slidenum">
              <a:rPr lang="en-US" smtClean="0"/>
              <a:t>‹#›</a:t>
            </a:fld>
            <a:endParaRPr lang="en-US"/>
          </a:p>
        </p:txBody>
      </p:sp>
      <p:sp>
        <p:nvSpPr>
          <p:cNvPr id="7" name="Rectangle 6"/>
          <p:cNvSpPr/>
          <p:nvPr/>
        </p:nvSpPr>
        <p:spPr>
          <a:xfrm>
            <a:off x="9001124" y="0"/>
            <a:ext cx="142876" cy="1371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001124" y="1371600"/>
            <a:ext cx="142876" cy="5486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xStyles>
    <p:titleStyle>
      <a:lvl1pPr algn="l" defTabSz="914400" rtl="0" eaLnBrk="1" latinLnBrk="0" hangingPunct="1">
        <a:spcBef>
          <a:spcPct val="0"/>
        </a:spcBef>
        <a:buNone/>
        <a:defRPr sz="3600" kern="1200" cap="all" spc="-60" baseline="0">
          <a:solidFill>
            <a:schemeClr val="tx2"/>
          </a:solidFill>
          <a:latin typeface="+mj-lt"/>
          <a:ea typeface="+mj-ea"/>
          <a:cs typeface="+mj-cs"/>
        </a:defRPr>
      </a:lvl1pPr>
    </p:titleStyle>
    <p:body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Chapter -2 </a:t>
            </a:r>
            <a:endParaRPr lang="en-US" dirty="0"/>
          </a:p>
        </p:txBody>
      </p:sp>
      <p:sp>
        <p:nvSpPr>
          <p:cNvPr id="3" name="Subtitle 2"/>
          <p:cNvSpPr>
            <a:spLocks noGrp="1"/>
          </p:cNvSpPr>
          <p:nvPr>
            <p:ph type="subTitle" idx="1"/>
          </p:nvPr>
        </p:nvSpPr>
        <p:spPr/>
        <p:txBody>
          <a:bodyPr/>
          <a:lstStyle/>
          <a:p>
            <a:r>
              <a:rPr lang="en-US" b="1" dirty="0" smtClean="0">
                <a:solidFill>
                  <a:schemeClr val="tx1"/>
                </a:solidFill>
              </a:rPr>
              <a:t>Establishing Company Direction</a:t>
            </a:r>
            <a:endParaRPr lang="en-US" b="1" dirty="0">
              <a:solidFill>
                <a:schemeClr val="tx1"/>
              </a:solidFill>
            </a:endParaRPr>
          </a:p>
        </p:txBody>
      </p:sp>
    </p:spTree>
    <p:extLst>
      <p:ext uri="{BB962C8B-B14F-4D97-AF65-F5344CB8AC3E}">
        <p14:creationId xmlns:p14="http://schemas.microsoft.com/office/powerpoint/2010/main" val="210581761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93773"/>
            <a:ext cx="8077200" cy="461665"/>
          </a:xfrm>
          <a:prstGeom prst="rect">
            <a:avLst/>
          </a:prstGeom>
          <a:noFill/>
        </p:spPr>
        <p:txBody>
          <a:bodyPr wrap="square" rtlCol="0">
            <a:spAutoFit/>
          </a:bodyPr>
          <a:lstStyle/>
          <a:p>
            <a:r>
              <a:rPr lang="en-US" sz="2400" b="1" dirty="0" smtClean="0"/>
              <a:t>Vision Statements</a:t>
            </a:r>
            <a:endParaRPr lang="en-US" sz="2400" b="1" dirty="0"/>
          </a:p>
        </p:txBody>
      </p:sp>
      <p:sp>
        <p:nvSpPr>
          <p:cNvPr id="3" name="TextBox 2"/>
          <p:cNvSpPr txBox="1"/>
          <p:nvPr/>
        </p:nvSpPr>
        <p:spPr>
          <a:xfrm>
            <a:off x="228600" y="914400"/>
            <a:ext cx="8534400" cy="5016758"/>
          </a:xfrm>
          <a:prstGeom prst="rect">
            <a:avLst/>
          </a:prstGeom>
          <a:noFill/>
        </p:spPr>
        <p:txBody>
          <a:bodyPr wrap="square" rtlCol="0">
            <a:spAutoFit/>
          </a:bodyPr>
          <a:lstStyle/>
          <a:p>
            <a:pPr algn="just"/>
            <a:r>
              <a:rPr lang="en-US" sz="2000" dirty="0" smtClean="0"/>
              <a:t>The vision statement describes the future of the organization. It reveals what the company aspires to be or hopes to achieve in the long-term. The vision statement is inspirational and motivational but also provides direction, mapping out where the organization is headed. In this regard, it serves as a guide for choosing current and future courses of action.</a:t>
            </a:r>
          </a:p>
          <a:p>
            <a:pPr algn="just"/>
            <a:r>
              <a:rPr lang="en-US" sz="2000" dirty="0" smtClean="0"/>
              <a:t>An effective vision statement should be brief, unmistakable, futuristic, realistic, aspiring and encouraging. It shouldn’t be broad but rather focus on outcomes specific to the organization.</a:t>
            </a:r>
          </a:p>
          <a:p>
            <a:pPr algn="just"/>
            <a:r>
              <a:rPr lang="en-US" sz="2000" dirty="0" smtClean="0"/>
              <a:t>When </a:t>
            </a:r>
            <a:r>
              <a:rPr lang="en-US" sz="2000" dirty="0" smtClean="0"/>
              <a:t>writing a vision statement, consider these questions:</a:t>
            </a:r>
          </a:p>
          <a:p>
            <a:pPr marL="342900" indent="-342900" algn="just">
              <a:buFont typeface="Arial" pitchFamily="34" charset="0"/>
              <a:buChar char="•"/>
            </a:pPr>
            <a:r>
              <a:rPr lang="en-US" sz="2000" dirty="0" smtClean="0"/>
              <a:t> Where are we going </a:t>
            </a:r>
            <a:r>
              <a:rPr lang="en-US" sz="2000" dirty="0" smtClean="0"/>
              <a:t>to move </a:t>
            </a:r>
            <a:r>
              <a:rPr lang="en-US" sz="2000" dirty="0" smtClean="0"/>
              <a:t>forward?</a:t>
            </a:r>
          </a:p>
          <a:p>
            <a:pPr marL="342900" indent="-342900" algn="just">
              <a:buFont typeface="Arial" pitchFamily="34" charset="0"/>
              <a:buChar char="•"/>
            </a:pPr>
            <a:r>
              <a:rPr lang="en-US" sz="2000" dirty="0" smtClean="0"/>
              <a:t> What do we want to achieve in the future?</a:t>
            </a:r>
          </a:p>
          <a:p>
            <a:pPr marL="342900" indent="-342900" algn="just">
              <a:buFont typeface="Arial" pitchFamily="34" charset="0"/>
              <a:buChar char="•"/>
            </a:pPr>
            <a:r>
              <a:rPr lang="en-US" sz="2000" dirty="0" smtClean="0"/>
              <a:t> What kind of future society do we </a:t>
            </a:r>
            <a:r>
              <a:rPr lang="en-US" sz="2000" dirty="0" smtClean="0"/>
              <a:t>imagine?</a:t>
            </a:r>
            <a:endParaRPr lang="en-US" sz="2000" dirty="0" smtClean="0"/>
          </a:p>
          <a:p>
            <a:pPr marL="342900" indent="-342900" algn="just">
              <a:buFont typeface="Arial" pitchFamily="34" charset="0"/>
              <a:buChar char="•"/>
            </a:pPr>
            <a:endParaRPr lang="en-US" sz="2000" dirty="0" smtClean="0"/>
          </a:p>
          <a:p>
            <a:pPr algn="just"/>
            <a:r>
              <a:rPr lang="en-US" sz="2000" dirty="0" smtClean="0"/>
              <a:t>Example:</a:t>
            </a:r>
          </a:p>
          <a:p>
            <a:pPr algn="just"/>
            <a:r>
              <a:rPr lang="en-US" sz="2000" dirty="0" smtClean="0"/>
              <a:t>LinkedIn: To create economic opportunity for every member of the global workforce</a:t>
            </a:r>
            <a:endParaRPr lang="en-US" sz="2000" dirty="0"/>
          </a:p>
        </p:txBody>
      </p:sp>
    </p:spTree>
    <p:extLst>
      <p:ext uri="{BB962C8B-B14F-4D97-AF65-F5344CB8AC3E}">
        <p14:creationId xmlns:p14="http://schemas.microsoft.com/office/powerpoint/2010/main" val="114146383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381000"/>
            <a:ext cx="8610600" cy="461665"/>
          </a:xfrm>
          <a:prstGeom prst="rect">
            <a:avLst/>
          </a:prstGeom>
          <a:noFill/>
        </p:spPr>
        <p:txBody>
          <a:bodyPr wrap="square" rtlCol="0">
            <a:spAutoFit/>
          </a:bodyPr>
          <a:lstStyle/>
          <a:p>
            <a:r>
              <a:rPr lang="en-US" sz="2400" b="1" dirty="0" smtClean="0"/>
              <a:t>Mission Statements</a:t>
            </a:r>
            <a:endParaRPr lang="en-US" sz="2400" b="1" dirty="0"/>
          </a:p>
        </p:txBody>
      </p:sp>
      <p:sp>
        <p:nvSpPr>
          <p:cNvPr id="3" name="TextBox 2"/>
          <p:cNvSpPr txBox="1"/>
          <p:nvPr/>
        </p:nvSpPr>
        <p:spPr>
          <a:xfrm>
            <a:off x="304800" y="990600"/>
            <a:ext cx="8382000" cy="5062924"/>
          </a:xfrm>
          <a:prstGeom prst="rect">
            <a:avLst/>
          </a:prstGeom>
          <a:noFill/>
        </p:spPr>
        <p:txBody>
          <a:bodyPr wrap="square" rtlCol="0">
            <a:spAutoFit/>
          </a:bodyPr>
          <a:lstStyle/>
          <a:p>
            <a:pPr algn="just"/>
            <a:r>
              <a:rPr lang="en-US" sz="1900" dirty="0" smtClean="0"/>
              <a:t>Mission Statement is the written declaration of an organization's core purpose and focus that normally remains unchanged over time. It guides the day-to-day operations of the organization, communicates to external stakeholders the core solutions the organization provides in society and motivates employees toward a common near-to-medium term goal. In short, the mission statement paints a picture of who the company is and what the company does.</a:t>
            </a:r>
          </a:p>
          <a:p>
            <a:endParaRPr lang="en-US" sz="1900" dirty="0"/>
          </a:p>
          <a:p>
            <a:pPr algn="just"/>
            <a:r>
              <a:rPr lang="en-US" sz="1900" dirty="0" smtClean="0"/>
              <a:t>When </a:t>
            </a:r>
            <a:r>
              <a:rPr lang="en-US" sz="1900" dirty="0" smtClean="0"/>
              <a:t>writing a mission statement, consider the following questions:</a:t>
            </a:r>
          </a:p>
          <a:p>
            <a:pPr marL="342900" indent="-342900" algn="just">
              <a:buFont typeface="Arial" pitchFamily="34" charset="0"/>
              <a:buChar char="•"/>
            </a:pPr>
            <a:r>
              <a:rPr lang="en-US" sz="1900" dirty="0" smtClean="0"/>
              <a:t> What do we do today?</a:t>
            </a:r>
          </a:p>
          <a:p>
            <a:pPr marL="342900" indent="-342900" algn="just">
              <a:buFont typeface="Arial" pitchFamily="34" charset="0"/>
              <a:buChar char="•"/>
            </a:pPr>
            <a:r>
              <a:rPr lang="en-US" sz="1900" dirty="0" smtClean="0"/>
              <a:t> Who do we serve?</a:t>
            </a:r>
          </a:p>
          <a:p>
            <a:pPr marL="342900" indent="-342900" algn="just">
              <a:buFont typeface="Arial" pitchFamily="34" charset="0"/>
              <a:buChar char="•"/>
            </a:pPr>
            <a:r>
              <a:rPr lang="en-US" sz="1900" dirty="0" smtClean="0"/>
              <a:t> What are we trying to accomplish?</a:t>
            </a:r>
          </a:p>
          <a:p>
            <a:pPr marL="342900" indent="-342900" algn="just">
              <a:buFont typeface="Arial" pitchFamily="34" charset="0"/>
              <a:buChar char="•"/>
            </a:pPr>
            <a:r>
              <a:rPr lang="en-US" sz="1900" dirty="0" smtClean="0"/>
              <a:t> What impact do we want to achieve?</a:t>
            </a:r>
          </a:p>
          <a:p>
            <a:pPr algn="just"/>
            <a:endParaRPr lang="en-US" sz="1900" dirty="0"/>
          </a:p>
          <a:p>
            <a:pPr algn="just"/>
            <a:r>
              <a:rPr lang="en-US" sz="1900" dirty="0" smtClean="0"/>
              <a:t>Example:</a:t>
            </a:r>
          </a:p>
          <a:p>
            <a:pPr algn="just"/>
            <a:r>
              <a:rPr lang="en-US" sz="1900" dirty="0" smtClean="0"/>
              <a:t>LinkedIn: To connect the world’s professionals to make them more productive and successful.</a:t>
            </a:r>
            <a:endParaRPr lang="en-US" sz="1900" dirty="0"/>
          </a:p>
        </p:txBody>
      </p:sp>
    </p:spTree>
    <p:extLst>
      <p:ext uri="{BB962C8B-B14F-4D97-AF65-F5344CB8AC3E}">
        <p14:creationId xmlns:p14="http://schemas.microsoft.com/office/powerpoint/2010/main" val="332293873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73967"/>
            <a:ext cx="7924800" cy="461665"/>
          </a:xfrm>
          <a:prstGeom prst="rect">
            <a:avLst/>
          </a:prstGeom>
          <a:noFill/>
        </p:spPr>
        <p:txBody>
          <a:bodyPr wrap="square" rtlCol="0">
            <a:spAutoFit/>
          </a:bodyPr>
          <a:lstStyle/>
          <a:p>
            <a:pPr algn="ctr"/>
            <a:r>
              <a:rPr lang="en-US" sz="2400" dirty="0" smtClean="0"/>
              <a:t>Distinguish Between Mission and Vision</a:t>
            </a:r>
            <a:endParaRPr lang="en-US" sz="2400" dirty="0"/>
          </a:p>
        </p:txBody>
      </p:sp>
      <p:sp>
        <p:nvSpPr>
          <p:cNvPr id="3" name="TextBox 2"/>
          <p:cNvSpPr txBox="1"/>
          <p:nvPr/>
        </p:nvSpPr>
        <p:spPr>
          <a:xfrm>
            <a:off x="228600" y="914400"/>
            <a:ext cx="8686800" cy="369332"/>
          </a:xfrm>
          <a:prstGeom prst="rect">
            <a:avLst/>
          </a:prstGeom>
          <a:noFill/>
        </p:spPr>
        <p:txBody>
          <a:bodyPr wrap="square" rtlCol="0">
            <a:spAutoFit/>
          </a:bodyPr>
          <a:lstStyle/>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461403858"/>
              </p:ext>
            </p:extLst>
          </p:nvPr>
        </p:nvGraphicFramePr>
        <p:xfrm>
          <a:off x="228600" y="586795"/>
          <a:ext cx="8686800" cy="6256471"/>
        </p:xfrm>
        <a:graphic>
          <a:graphicData uri="http://schemas.openxmlformats.org/drawingml/2006/table">
            <a:tbl>
              <a:tblPr firstRow="1" firstCol="1" bandRow="1"/>
              <a:tblGrid>
                <a:gridCol w="1143000"/>
                <a:gridCol w="3674416"/>
                <a:gridCol w="3869384"/>
              </a:tblGrid>
              <a:tr h="270194">
                <a:tc>
                  <a:txBody>
                    <a:bodyPr/>
                    <a:lstStyle/>
                    <a:p>
                      <a:pPr marL="0" marR="0" algn="ctr">
                        <a:lnSpc>
                          <a:spcPct val="115000"/>
                        </a:lnSpc>
                        <a:spcBef>
                          <a:spcPts val="0"/>
                        </a:spcBef>
                        <a:spcAft>
                          <a:spcPts val="0"/>
                        </a:spcAft>
                      </a:pPr>
                      <a:r>
                        <a:rPr lang="en-US" sz="1600" b="1" dirty="0">
                          <a:effectLst/>
                          <a:latin typeface="Times New Roman"/>
                          <a:ea typeface="Calibri"/>
                          <a:cs typeface="Times New Roman"/>
                        </a:rPr>
                        <a:t>Basis</a:t>
                      </a:r>
                      <a:endParaRPr lang="en-US" sz="1600" b="1" dirty="0">
                        <a:effectLst/>
                        <a:latin typeface="Calibri"/>
                        <a:ea typeface="Calibri"/>
                        <a:cs typeface="Times New Roman"/>
                      </a:endParaRPr>
                    </a:p>
                  </a:txBody>
                  <a:tcPr marL="64168" marR="641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lgn="ctr">
                        <a:lnSpc>
                          <a:spcPct val="115000"/>
                        </a:lnSpc>
                        <a:spcBef>
                          <a:spcPts val="0"/>
                        </a:spcBef>
                        <a:spcAft>
                          <a:spcPts val="0"/>
                        </a:spcAft>
                      </a:pPr>
                      <a:r>
                        <a:rPr lang="en-US" sz="1200" b="1" dirty="0">
                          <a:effectLst/>
                          <a:latin typeface="Times New Roman"/>
                          <a:ea typeface="Calibri"/>
                          <a:cs typeface="Times New Roman"/>
                        </a:rPr>
                        <a:t>Mission</a:t>
                      </a:r>
                      <a:endParaRPr lang="en-US" sz="1200" b="1" dirty="0">
                        <a:effectLst/>
                        <a:latin typeface="Calibri"/>
                        <a:ea typeface="Calibri"/>
                        <a:cs typeface="Times New Roman"/>
                      </a:endParaRPr>
                    </a:p>
                  </a:txBody>
                  <a:tcPr marL="64168" marR="641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algn="ctr">
                        <a:lnSpc>
                          <a:spcPct val="115000"/>
                        </a:lnSpc>
                        <a:spcBef>
                          <a:spcPts val="0"/>
                        </a:spcBef>
                        <a:spcAft>
                          <a:spcPts val="0"/>
                        </a:spcAft>
                      </a:pPr>
                      <a:r>
                        <a:rPr lang="en-US" sz="1200" b="1" dirty="0">
                          <a:effectLst/>
                          <a:latin typeface="Times New Roman"/>
                          <a:ea typeface="Calibri"/>
                          <a:cs typeface="Times New Roman"/>
                        </a:rPr>
                        <a:t>Vision</a:t>
                      </a:r>
                      <a:endParaRPr lang="en-US" sz="1200" b="1" dirty="0">
                        <a:effectLst/>
                        <a:latin typeface="Calibri"/>
                        <a:ea typeface="Calibri"/>
                        <a:cs typeface="Times New Roman"/>
                      </a:endParaRPr>
                    </a:p>
                  </a:txBody>
                  <a:tcPr marL="64168" marR="641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r>
              <a:tr h="1080777">
                <a:tc>
                  <a:txBody>
                    <a:bodyPr/>
                    <a:lstStyle/>
                    <a:p>
                      <a:pPr marL="0" marR="0">
                        <a:lnSpc>
                          <a:spcPct val="115000"/>
                        </a:lnSpc>
                        <a:spcBef>
                          <a:spcPts val="0"/>
                        </a:spcBef>
                        <a:spcAft>
                          <a:spcPts val="0"/>
                        </a:spcAft>
                      </a:pPr>
                      <a:r>
                        <a:rPr lang="en-US" sz="1600" b="1" spc="10" dirty="0">
                          <a:solidFill>
                            <a:srgbClr val="273239"/>
                          </a:solidFill>
                          <a:effectLst/>
                          <a:latin typeface="Calibri"/>
                          <a:ea typeface="Calibri"/>
                          <a:cs typeface="Times New Roman"/>
                        </a:rPr>
                        <a:t>Meaning</a:t>
                      </a:r>
                      <a:endParaRPr lang="en-US" sz="1600" b="1" dirty="0">
                        <a:effectLst/>
                        <a:latin typeface="Calibri"/>
                        <a:ea typeface="Calibri"/>
                        <a:cs typeface="Times New Roman"/>
                      </a:endParaRPr>
                    </a:p>
                  </a:txBody>
                  <a:tcPr marL="64168" marR="641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600" spc="10" dirty="0">
                          <a:solidFill>
                            <a:srgbClr val="273239"/>
                          </a:solidFill>
                          <a:effectLst/>
                          <a:latin typeface="Times New Roman"/>
                          <a:ea typeface="Calibri"/>
                          <a:cs typeface="Times New Roman"/>
                        </a:rPr>
                        <a:t>Mission can be described as the quantitative goals of the </a:t>
                      </a:r>
                      <a:r>
                        <a:rPr lang="en-US" sz="1600" spc="10" dirty="0" smtClean="0">
                          <a:solidFill>
                            <a:srgbClr val="273239"/>
                          </a:solidFill>
                          <a:effectLst/>
                          <a:latin typeface="Times New Roman"/>
                          <a:ea typeface="Calibri"/>
                          <a:cs typeface="Times New Roman"/>
                        </a:rPr>
                        <a:t>organization </a:t>
                      </a:r>
                      <a:r>
                        <a:rPr lang="en-US" sz="1600" spc="10" dirty="0">
                          <a:solidFill>
                            <a:srgbClr val="273239"/>
                          </a:solidFill>
                          <a:effectLst/>
                          <a:latin typeface="Times New Roman"/>
                          <a:ea typeface="Calibri"/>
                          <a:cs typeface="Times New Roman"/>
                        </a:rPr>
                        <a:t>which need to be achieved in the near future.</a:t>
                      </a:r>
                      <a:endParaRPr lang="en-US" sz="1600" dirty="0">
                        <a:effectLst/>
                        <a:latin typeface="Calibri"/>
                        <a:ea typeface="Calibri"/>
                        <a:cs typeface="Times New Roman"/>
                      </a:endParaRPr>
                    </a:p>
                  </a:txBody>
                  <a:tcPr marL="64168" marR="641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600" spc="10" dirty="0">
                          <a:solidFill>
                            <a:srgbClr val="273239"/>
                          </a:solidFill>
                          <a:effectLst/>
                          <a:latin typeface="Times New Roman"/>
                          <a:ea typeface="Calibri"/>
                          <a:cs typeface="Times New Roman"/>
                        </a:rPr>
                        <a:t>Vision can be described as the qualitative goals of the </a:t>
                      </a:r>
                      <a:r>
                        <a:rPr lang="en-US" sz="1600" spc="10" dirty="0" smtClean="0">
                          <a:solidFill>
                            <a:srgbClr val="273239"/>
                          </a:solidFill>
                          <a:effectLst/>
                          <a:latin typeface="Times New Roman"/>
                          <a:ea typeface="Calibri"/>
                          <a:cs typeface="Times New Roman"/>
                        </a:rPr>
                        <a:t>organization </a:t>
                      </a:r>
                      <a:r>
                        <a:rPr lang="en-US" sz="1600" spc="10" dirty="0">
                          <a:solidFill>
                            <a:srgbClr val="273239"/>
                          </a:solidFill>
                          <a:effectLst/>
                          <a:latin typeface="Times New Roman"/>
                          <a:ea typeface="Calibri"/>
                          <a:cs typeface="Times New Roman"/>
                        </a:rPr>
                        <a:t>which are to be achieved in the long term.</a:t>
                      </a:r>
                      <a:endParaRPr lang="en-US" sz="1600" dirty="0">
                        <a:effectLst/>
                        <a:latin typeface="Calibri"/>
                        <a:ea typeface="Calibri"/>
                        <a:cs typeface="Times New Roman"/>
                      </a:endParaRPr>
                    </a:p>
                  </a:txBody>
                  <a:tcPr marL="64168" marR="641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10583">
                <a:tc>
                  <a:txBody>
                    <a:bodyPr/>
                    <a:lstStyle/>
                    <a:p>
                      <a:pPr marL="0" marR="0">
                        <a:lnSpc>
                          <a:spcPct val="115000"/>
                        </a:lnSpc>
                        <a:spcBef>
                          <a:spcPts val="0"/>
                        </a:spcBef>
                        <a:spcAft>
                          <a:spcPts val="0"/>
                        </a:spcAft>
                      </a:pPr>
                      <a:r>
                        <a:rPr lang="en-US" sz="1600" b="1" spc="10" dirty="0">
                          <a:solidFill>
                            <a:srgbClr val="273239"/>
                          </a:solidFill>
                          <a:effectLst/>
                          <a:latin typeface="Calibri"/>
                          <a:ea typeface="Calibri"/>
                          <a:cs typeface="Times New Roman"/>
                        </a:rPr>
                        <a:t>Purpose</a:t>
                      </a:r>
                      <a:endParaRPr lang="en-US" sz="1600" b="1" dirty="0">
                        <a:effectLst/>
                        <a:latin typeface="Calibri"/>
                        <a:ea typeface="Calibri"/>
                        <a:cs typeface="Times New Roman"/>
                      </a:endParaRPr>
                    </a:p>
                  </a:txBody>
                  <a:tcPr marL="64168" marR="641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600" spc="10" dirty="0">
                          <a:solidFill>
                            <a:srgbClr val="273239"/>
                          </a:solidFill>
                          <a:effectLst/>
                          <a:latin typeface="Times New Roman"/>
                          <a:ea typeface="Calibri"/>
                          <a:cs typeface="Times New Roman"/>
                        </a:rPr>
                        <a:t>Mission defines the fundamental purpose of the </a:t>
                      </a:r>
                      <a:r>
                        <a:rPr lang="en-US" sz="1600" spc="10" dirty="0" smtClean="0">
                          <a:solidFill>
                            <a:srgbClr val="273239"/>
                          </a:solidFill>
                          <a:effectLst/>
                          <a:latin typeface="Times New Roman"/>
                          <a:ea typeface="Calibri"/>
                          <a:cs typeface="Times New Roman"/>
                        </a:rPr>
                        <a:t>organization.</a:t>
                      </a:r>
                      <a:endParaRPr lang="en-US" sz="1600" dirty="0">
                        <a:effectLst/>
                        <a:latin typeface="Calibri"/>
                        <a:ea typeface="Calibri"/>
                        <a:cs typeface="Times New Roman"/>
                      </a:endParaRPr>
                    </a:p>
                  </a:txBody>
                  <a:tcPr marL="64168" marR="641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600" spc="10" dirty="0">
                          <a:solidFill>
                            <a:srgbClr val="273239"/>
                          </a:solidFill>
                          <a:effectLst/>
                          <a:latin typeface="Times New Roman"/>
                          <a:ea typeface="Calibri"/>
                          <a:cs typeface="Times New Roman"/>
                        </a:rPr>
                        <a:t>Vision describes the outlines of the long-term aspirations and goals of an </a:t>
                      </a:r>
                      <a:r>
                        <a:rPr lang="en-US" sz="1600" spc="10" dirty="0" smtClean="0">
                          <a:solidFill>
                            <a:srgbClr val="273239"/>
                          </a:solidFill>
                          <a:effectLst/>
                          <a:latin typeface="Times New Roman"/>
                          <a:ea typeface="Calibri"/>
                          <a:cs typeface="Times New Roman"/>
                        </a:rPr>
                        <a:t>organization.</a:t>
                      </a:r>
                      <a:endParaRPr lang="en-US" sz="1600" dirty="0">
                        <a:effectLst/>
                        <a:latin typeface="Calibri"/>
                        <a:ea typeface="Calibri"/>
                        <a:cs typeface="Times New Roman"/>
                      </a:endParaRPr>
                    </a:p>
                  </a:txBody>
                  <a:tcPr marL="64168" marR="641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0388">
                <a:tc>
                  <a:txBody>
                    <a:bodyPr/>
                    <a:lstStyle/>
                    <a:p>
                      <a:pPr marL="0" marR="0">
                        <a:lnSpc>
                          <a:spcPct val="115000"/>
                        </a:lnSpc>
                        <a:spcBef>
                          <a:spcPts val="0"/>
                        </a:spcBef>
                        <a:spcAft>
                          <a:spcPts val="0"/>
                        </a:spcAft>
                      </a:pPr>
                      <a:r>
                        <a:rPr lang="en-US" sz="1600" b="1" spc="10" dirty="0">
                          <a:solidFill>
                            <a:srgbClr val="273239"/>
                          </a:solidFill>
                          <a:effectLst/>
                          <a:latin typeface="Calibri"/>
                          <a:ea typeface="Calibri"/>
                          <a:cs typeface="Times New Roman"/>
                        </a:rPr>
                        <a:t>Timeframe</a:t>
                      </a:r>
                      <a:endParaRPr lang="en-US" sz="1600" b="1" dirty="0">
                        <a:effectLst/>
                        <a:latin typeface="Calibri"/>
                        <a:ea typeface="Calibri"/>
                        <a:cs typeface="Times New Roman"/>
                      </a:endParaRPr>
                    </a:p>
                  </a:txBody>
                  <a:tcPr marL="64168" marR="641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600" spc="10" dirty="0">
                          <a:solidFill>
                            <a:srgbClr val="273239"/>
                          </a:solidFill>
                          <a:effectLst/>
                          <a:latin typeface="Times New Roman"/>
                          <a:ea typeface="Calibri"/>
                          <a:cs typeface="Times New Roman"/>
                        </a:rPr>
                        <a:t>Mission includes short-term and near-future activities.</a:t>
                      </a:r>
                      <a:endParaRPr lang="en-US" sz="1600" dirty="0">
                        <a:effectLst/>
                        <a:latin typeface="Calibri"/>
                        <a:ea typeface="Calibri"/>
                        <a:cs typeface="Times New Roman"/>
                      </a:endParaRPr>
                    </a:p>
                  </a:txBody>
                  <a:tcPr marL="64168" marR="641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600" spc="10">
                          <a:solidFill>
                            <a:srgbClr val="273239"/>
                          </a:solidFill>
                          <a:effectLst/>
                          <a:latin typeface="Times New Roman"/>
                          <a:ea typeface="Calibri"/>
                          <a:cs typeface="Times New Roman"/>
                        </a:rPr>
                        <a:t>Vision includes long-term aspirations.</a:t>
                      </a:r>
                      <a:endParaRPr lang="en-US" sz="1600">
                        <a:effectLst/>
                        <a:latin typeface="Calibri"/>
                        <a:ea typeface="Calibri"/>
                        <a:cs typeface="Times New Roman"/>
                      </a:endParaRPr>
                    </a:p>
                  </a:txBody>
                  <a:tcPr marL="64168" marR="641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0194">
                <a:tc>
                  <a:txBody>
                    <a:bodyPr/>
                    <a:lstStyle/>
                    <a:p>
                      <a:pPr marL="0" marR="0" algn="just">
                        <a:lnSpc>
                          <a:spcPct val="115000"/>
                        </a:lnSpc>
                        <a:spcBef>
                          <a:spcPts val="0"/>
                        </a:spcBef>
                        <a:spcAft>
                          <a:spcPts val="0"/>
                        </a:spcAft>
                      </a:pPr>
                      <a:r>
                        <a:rPr lang="en-US" sz="1600" b="1" spc="10" dirty="0">
                          <a:solidFill>
                            <a:srgbClr val="273239"/>
                          </a:solidFill>
                          <a:effectLst/>
                          <a:latin typeface="Calibri"/>
                          <a:ea typeface="Calibri"/>
                          <a:cs typeface="Times New Roman"/>
                        </a:rPr>
                        <a:t>Scope</a:t>
                      </a:r>
                      <a:endParaRPr lang="en-US" sz="1600" b="1" dirty="0">
                        <a:effectLst/>
                        <a:latin typeface="Calibri"/>
                        <a:ea typeface="Calibri"/>
                        <a:cs typeface="Times New Roman"/>
                      </a:endParaRPr>
                    </a:p>
                  </a:txBody>
                  <a:tcPr marL="64168" marR="641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600" spc="10" dirty="0">
                          <a:solidFill>
                            <a:srgbClr val="273239"/>
                          </a:solidFill>
                          <a:effectLst/>
                          <a:latin typeface="Times New Roman"/>
                          <a:ea typeface="Calibri"/>
                          <a:cs typeface="Times New Roman"/>
                        </a:rPr>
                        <a:t>Missions have a limited scope.</a:t>
                      </a:r>
                      <a:endParaRPr lang="en-US" sz="1600" dirty="0">
                        <a:effectLst/>
                        <a:latin typeface="Calibri"/>
                        <a:ea typeface="Calibri"/>
                        <a:cs typeface="Times New Roman"/>
                      </a:endParaRPr>
                    </a:p>
                  </a:txBody>
                  <a:tcPr marL="64168" marR="641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600" spc="10">
                          <a:solidFill>
                            <a:srgbClr val="273239"/>
                          </a:solidFill>
                          <a:effectLst/>
                          <a:latin typeface="Times New Roman"/>
                          <a:ea typeface="Calibri"/>
                          <a:cs typeface="Times New Roman"/>
                        </a:rPr>
                        <a:t>Visions have a broader scope.</a:t>
                      </a:r>
                      <a:endParaRPr lang="en-US" sz="1600">
                        <a:effectLst/>
                        <a:latin typeface="Calibri"/>
                        <a:ea typeface="Calibri"/>
                        <a:cs typeface="Times New Roman"/>
                      </a:endParaRPr>
                    </a:p>
                  </a:txBody>
                  <a:tcPr marL="64168" marR="641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10583">
                <a:tc>
                  <a:txBody>
                    <a:bodyPr/>
                    <a:lstStyle/>
                    <a:p>
                      <a:pPr marL="0" marR="0" algn="just">
                        <a:lnSpc>
                          <a:spcPct val="115000"/>
                        </a:lnSpc>
                        <a:spcBef>
                          <a:spcPts val="0"/>
                        </a:spcBef>
                        <a:spcAft>
                          <a:spcPts val="0"/>
                        </a:spcAft>
                      </a:pPr>
                      <a:r>
                        <a:rPr lang="en-US" sz="1600" b="1" spc="10" dirty="0">
                          <a:solidFill>
                            <a:srgbClr val="273239"/>
                          </a:solidFill>
                          <a:effectLst/>
                          <a:latin typeface="Calibri"/>
                          <a:ea typeface="Calibri"/>
                          <a:cs typeface="Times New Roman"/>
                        </a:rPr>
                        <a:t>Main focus</a:t>
                      </a:r>
                      <a:endParaRPr lang="en-US" sz="1600" b="1" dirty="0">
                        <a:effectLst/>
                        <a:latin typeface="Calibri"/>
                        <a:ea typeface="Calibri"/>
                        <a:cs typeface="Times New Roman"/>
                      </a:endParaRPr>
                    </a:p>
                  </a:txBody>
                  <a:tcPr marL="64168" marR="641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600" spc="10" dirty="0">
                          <a:solidFill>
                            <a:srgbClr val="273239"/>
                          </a:solidFill>
                          <a:effectLst/>
                          <a:latin typeface="Times New Roman"/>
                          <a:ea typeface="Calibri"/>
                          <a:cs typeface="Times New Roman"/>
                        </a:rPr>
                        <a:t>Mission focuses mainly on specific activities, target audiences, and other specific activities.</a:t>
                      </a:r>
                      <a:endParaRPr lang="en-US" sz="1600" dirty="0">
                        <a:effectLst/>
                        <a:latin typeface="Calibri"/>
                        <a:ea typeface="Calibri"/>
                        <a:cs typeface="Times New Roman"/>
                      </a:endParaRPr>
                    </a:p>
                  </a:txBody>
                  <a:tcPr marL="64168" marR="641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600" spc="10">
                          <a:solidFill>
                            <a:srgbClr val="273239"/>
                          </a:solidFill>
                          <a:effectLst/>
                          <a:latin typeface="Times New Roman"/>
                          <a:ea typeface="Calibri"/>
                          <a:cs typeface="Times New Roman"/>
                        </a:rPr>
                        <a:t>Visions focus on broader goals, values, and aspirations.</a:t>
                      </a:r>
                      <a:endParaRPr lang="en-US" sz="1600">
                        <a:effectLst/>
                        <a:latin typeface="Calibri"/>
                        <a:ea typeface="Calibri"/>
                        <a:cs typeface="Times New Roman"/>
                      </a:endParaRPr>
                    </a:p>
                  </a:txBody>
                  <a:tcPr marL="64168" marR="641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30959">
                <a:tc>
                  <a:txBody>
                    <a:bodyPr/>
                    <a:lstStyle/>
                    <a:p>
                      <a:pPr marL="0" marR="0" algn="just">
                        <a:lnSpc>
                          <a:spcPct val="115000"/>
                        </a:lnSpc>
                        <a:spcBef>
                          <a:spcPts val="0"/>
                        </a:spcBef>
                        <a:spcAft>
                          <a:spcPts val="0"/>
                        </a:spcAft>
                      </a:pPr>
                      <a:r>
                        <a:rPr lang="en-US" sz="1600" b="1" spc="10" dirty="0">
                          <a:solidFill>
                            <a:srgbClr val="273239"/>
                          </a:solidFill>
                          <a:effectLst/>
                          <a:latin typeface="Calibri"/>
                          <a:ea typeface="Calibri"/>
                          <a:cs typeface="Times New Roman"/>
                        </a:rPr>
                        <a:t>Tangibility</a:t>
                      </a:r>
                      <a:endParaRPr lang="en-US" sz="1600" b="1" dirty="0">
                        <a:effectLst/>
                        <a:latin typeface="Calibri"/>
                        <a:ea typeface="Calibri"/>
                        <a:cs typeface="Times New Roman"/>
                      </a:endParaRPr>
                    </a:p>
                  </a:txBody>
                  <a:tcPr marL="64168" marR="641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600" spc="10" dirty="0">
                          <a:solidFill>
                            <a:srgbClr val="273239"/>
                          </a:solidFill>
                          <a:effectLst/>
                          <a:latin typeface="Times New Roman"/>
                          <a:ea typeface="Calibri"/>
                          <a:cs typeface="Times New Roman"/>
                        </a:rPr>
                        <a:t>Missions are more specific and </a:t>
                      </a:r>
                      <a:r>
                        <a:rPr lang="en-US" sz="1600" spc="10" dirty="0" smtClean="0">
                          <a:solidFill>
                            <a:srgbClr val="273239"/>
                          </a:solidFill>
                          <a:effectLst/>
                          <a:latin typeface="Times New Roman"/>
                          <a:ea typeface="Calibri"/>
                          <a:cs typeface="Times New Roman"/>
                        </a:rPr>
                        <a:t>solid.</a:t>
                      </a:r>
                      <a:endParaRPr lang="en-US" sz="1600" dirty="0">
                        <a:effectLst/>
                        <a:latin typeface="Calibri"/>
                        <a:ea typeface="Calibri"/>
                        <a:cs typeface="Times New Roman"/>
                      </a:endParaRPr>
                    </a:p>
                  </a:txBody>
                  <a:tcPr marL="64168" marR="641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600" spc="10" dirty="0">
                          <a:solidFill>
                            <a:srgbClr val="273239"/>
                          </a:solidFill>
                          <a:effectLst/>
                          <a:latin typeface="Times New Roman"/>
                          <a:ea typeface="Calibri"/>
                          <a:cs typeface="Times New Roman"/>
                        </a:rPr>
                        <a:t>Visions are more </a:t>
                      </a:r>
                      <a:r>
                        <a:rPr lang="en-US" sz="1600" spc="10" dirty="0" smtClean="0">
                          <a:solidFill>
                            <a:srgbClr val="273239"/>
                          </a:solidFill>
                          <a:effectLst/>
                          <a:latin typeface="Times New Roman"/>
                          <a:ea typeface="Calibri"/>
                          <a:cs typeface="Times New Roman"/>
                        </a:rPr>
                        <a:t>intellectual </a:t>
                      </a:r>
                      <a:r>
                        <a:rPr lang="en-US" sz="1600" spc="10" dirty="0">
                          <a:solidFill>
                            <a:srgbClr val="273239"/>
                          </a:solidFill>
                          <a:effectLst/>
                          <a:latin typeface="Times New Roman"/>
                          <a:ea typeface="Calibri"/>
                          <a:cs typeface="Times New Roman"/>
                        </a:rPr>
                        <a:t>and </a:t>
                      </a:r>
                      <a:r>
                        <a:rPr lang="en-US" sz="1600" spc="10" dirty="0" smtClean="0">
                          <a:solidFill>
                            <a:srgbClr val="273239"/>
                          </a:solidFill>
                          <a:effectLst/>
                          <a:latin typeface="Times New Roman"/>
                          <a:ea typeface="Calibri"/>
                          <a:cs typeface="Times New Roman"/>
                        </a:rPr>
                        <a:t>motivational.</a:t>
                      </a:r>
                      <a:endParaRPr lang="en-US" sz="1600" dirty="0">
                        <a:effectLst/>
                        <a:latin typeface="Calibri"/>
                        <a:ea typeface="Calibri"/>
                        <a:cs typeface="Times New Roman"/>
                      </a:endParaRPr>
                    </a:p>
                  </a:txBody>
                  <a:tcPr marL="64168" marR="641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080777">
                <a:tc>
                  <a:txBody>
                    <a:bodyPr/>
                    <a:lstStyle/>
                    <a:p>
                      <a:pPr marL="0" marR="0" algn="just">
                        <a:lnSpc>
                          <a:spcPct val="115000"/>
                        </a:lnSpc>
                        <a:spcBef>
                          <a:spcPts val="0"/>
                        </a:spcBef>
                        <a:spcAft>
                          <a:spcPts val="0"/>
                        </a:spcAft>
                      </a:pPr>
                      <a:r>
                        <a:rPr lang="en-US" sz="1600" b="1" spc="10" dirty="0">
                          <a:solidFill>
                            <a:srgbClr val="273239"/>
                          </a:solidFill>
                          <a:effectLst/>
                          <a:latin typeface="Calibri"/>
                          <a:ea typeface="Calibri"/>
                          <a:cs typeface="Times New Roman"/>
                        </a:rPr>
                        <a:t>Stakeholders</a:t>
                      </a:r>
                      <a:endParaRPr lang="en-US" sz="1600" b="1" dirty="0">
                        <a:effectLst/>
                        <a:latin typeface="Calibri"/>
                        <a:ea typeface="Calibri"/>
                        <a:cs typeface="Times New Roman"/>
                      </a:endParaRPr>
                    </a:p>
                  </a:txBody>
                  <a:tcPr marL="64168" marR="641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600" spc="10" dirty="0">
                          <a:solidFill>
                            <a:srgbClr val="273239"/>
                          </a:solidFill>
                          <a:effectLst/>
                          <a:latin typeface="Times New Roman"/>
                          <a:ea typeface="Calibri"/>
                          <a:cs typeface="Times New Roman"/>
                        </a:rPr>
                        <a:t>Missions focus more on present stakeholders, including shareholders, directors, employees, customers, suppliers, etc.</a:t>
                      </a:r>
                      <a:endParaRPr lang="en-US" sz="1600" dirty="0">
                        <a:effectLst/>
                        <a:latin typeface="Calibri"/>
                        <a:ea typeface="Calibri"/>
                        <a:cs typeface="Times New Roman"/>
                      </a:endParaRPr>
                    </a:p>
                  </a:txBody>
                  <a:tcPr marL="64168" marR="641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600" spc="10" dirty="0">
                          <a:solidFill>
                            <a:srgbClr val="273239"/>
                          </a:solidFill>
                          <a:effectLst/>
                          <a:latin typeface="Times New Roman"/>
                          <a:ea typeface="Calibri"/>
                          <a:cs typeface="Times New Roman"/>
                        </a:rPr>
                        <a:t>Visions focus on society or the world as a whole.</a:t>
                      </a:r>
                      <a:endParaRPr lang="en-US" sz="1600" dirty="0">
                        <a:effectLst/>
                        <a:latin typeface="Calibri"/>
                        <a:ea typeface="Calibri"/>
                        <a:cs typeface="Times New Roman"/>
                      </a:endParaRPr>
                    </a:p>
                  </a:txBody>
                  <a:tcPr marL="64168" marR="641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48151">
                <a:tc>
                  <a:txBody>
                    <a:bodyPr/>
                    <a:lstStyle/>
                    <a:p>
                      <a:pPr marL="0" marR="0" algn="just">
                        <a:lnSpc>
                          <a:spcPct val="115000"/>
                        </a:lnSpc>
                        <a:spcBef>
                          <a:spcPts val="0"/>
                        </a:spcBef>
                        <a:spcAft>
                          <a:spcPts val="0"/>
                        </a:spcAft>
                      </a:pPr>
                      <a:r>
                        <a:rPr lang="en-US" sz="1600" b="1" spc="10" dirty="0">
                          <a:solidFill>
                            <a:srgbClr val="273239"/>
                          </a:solidFill>
                          <a:effectLst/>
                          <a:latin typeface="Calibri"/>
                          <a:ea typeface="Calibri"/>
                          <a:cs typeface="Times New Roman"/>
                        </a:rPr>
                        <a:t>Dynamic nature</a:t>
                      </a:r>
                      <a:endParaRPr lang="en-US" sz="1600" b="1" dirty="0">
                        <a:effectLst/>
                        <a:latin typeface="Calibri"/>
                        <a:ea typeface="Calibri"/>
                        <a:cs typeface="Times New Roman"/>
                      </a:endParaRPr>
                    </a:p>
                  </a:txBody>
                  <a:tcPr marL="64168" marR="641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600" spc="10" dirty="0">
                          <a:solidFill>
                            <a:srgbClr val="273239"/>
                          </a:solidFill>
                          <a:effectLst/>
                          <a:latin typeface="Times New Roman"/>
                          <a:ea typeface="Calibri"/>
                          <a:cs typeface="Times New Roman"/>
                        </a:rPr>
                        <a:t>Missions tend to remain more dynamic as per the prevailing conditions.</a:t>
                      </a:r>
                      <a:endParaRPr lang="en-US" sz="1600" dirty="0">
                        <a:effectLst/>
                        <a:latin typeface="Calibri"/>
                        <a:ea typeface="Calibri"/>
                        <a:cs typeface="Times New Roman"/>
                      </a:endParaRPr>
                    </a:p>
                  </a:txBody>
                  <a:tcPr marL="64168" marR="641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600" spc="10" dirty="0">
                          <a:solidFill>
                            <a:srgbClr val="273239"/>
                          </a:solidFill>
                          <a:effectLst/>
                          <a:latin typeface="Times New Roman"/>
                          <a:ea typeface="Calibri"/>
                          <a:cs typeface="Times New Roman"/>
                        </a:rPr>
                        <a:t>Visions more or less remain the same.</a:t>
                      </a:r>
                      <a:endParaRPr lang="en-US" sz="1600" dirty="0">
                        <a:effectLst/>
                        <a:latin typeface="Calibri"/>
                        <a:ea typeface="Calibri"/>
                        <a:cs typeface="Times New Roman"/>
                      </a:endParaRPr>
                    </a:p>
                  </a:txBody>
                  <a:tcPr marL="64168" marR="641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82726926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304800"/>
            <a:ext cx="8610600" cy="461665"/>
          </a:xfrm>
          <a:prstGeom prst="rect">
            <a:avLst/>
          </a:prstGeom>
          <a:noFill/>
        </p:spPr>
        <p:txBody>
          <a:bodyPr wrap="square" rtlCol="0">
            <a:spAutoFit/>
          </a:bodyPr>
          <a:lstStyle/>
          <a:p>
            <a:r>
              <a:rPr lang="en-US" sz="2400" b="1" dirty="0" smtClean="0"/>
              <a:t>Hierarchy of Strategic Intent</a:t>
            </a:r>
            <a:endParaRPr lang="en-US" sz="2400" b="1" dirty="0"/>
          </a:p>
        </p:txBody>
      </p:sp>
      <p:pic>
        <p:nvPicPr>
          <p:cNvPr id="4" name="Picture 3" descr="Hierarchy of Strategic Intent:&#10;&#10;"/>
          <p:cNvPicPr/>
          <p:nvPr/>
        </p:nvPicPr>
        <p:blipFill>
          <a:blip r:embed="rId2">
            <a:extLst>
              <a:ext uri="{28A0092B-C50C-407E-A947-70E740481C1C}">
                <a14:useLocalDpi xmlns:a14="http://schemas.microsoft.com/office/drawing/2010/main" val="0"/>
              </a:ext>
            </a:extLst>
          </a:blip>
          <a:srcRect/>
          <a:stretch>
            <a:fillRect/>
          </a:stretch>
        </p:blipFill>
        <p:spPr bwMode="auto">
          <a:xfrm>
            <a:off x="304800" y="951131"/>
            <a:ext cx="8610600" cy="5373469"/>
          </a:xfrm>
          <a:prstGeom prst="rect">
            <a:avLst/>
          </a:prstGeom>
          <a:noFill/>
          <a:ln>
            <a:noFill/>
          </a:ln>
        </p:spPr>
      </p:pic>
    </p:spTree>
    <p:extLst>
      <p:ext uri="{BB962C8B-B14F-4D97-AF65-F5344CB8AC3E}">
        <p14:creationId xmlns:p14="http://schemas.microsoft.com/office/powerpoint/2010/main" val="57288384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228600"/>
            <a:ext cx="8610600" cy="6832640"/>
          </a:xfrm>
          <a:prstGeom prst="rect">
            <a:avLst/>
          </a:prstGeom>
          <a:noFill/>
        </p:spPr>
        <p:txBody>
          <a:bodyPr wrap="square" rtlCol="0">
            <a:spAutoFit/>
          </a:bodyPr>
          <a:lstStyle/>
          <a:p>
            <a:pPr algn="just"/>
            <a:r>
              <a:rPr lang="en-US" sz="2000" dirty="0" smtClean="0"/>
              <a:t>Strategic intent is not just a singular concept but a structured hierarchy that includes several key components. Each level builds upon the last to create a complete roadmap guiding an organization towards its ultimate objectives. Here’s how each element fits into the hierarchy of strategic commitments:</a:t>
            </a:r>
          </a:p>
          <a:p>
            <a:pPr marL="457200" indent="-457200">
              <a:buAutoNum type="arabicPeriod"/>
            </a:pPr>
            <a:r>
              <a:rPr lang="en-US" sz="2000" b="1" dirty="0" smtClean="0"/>
              <a:t>Vision</a:t>
            </a:r>
          </a:p>
          <a:p>
            <a:endParaRPr lang="en-US" sz="2000" b="1" dirty="0" smtClean="0"/>
          </a:p>
          <a:p>
            <a:pPr algn="just"/>
            <a:r>
              <a:rPr lang="en-US" sz="2000" dirty="0" smtClean="0"/>
              <a:t>At the top of the hierarchy is the vision, which articulates the organization’s long-term aspiration. The vision sets a broad, ambitious image of what the organization aims to become in the future. It serves as a guiding star for all strategic planning, aligning every action and decision with the organization’s ultimate purpose. For instance, a company might imagine itself as the leader in renewable energy technology.</a:t>
            </a:r>
          </a:p>
          <a:p>
            <a:r>
              <a:rPr lang="en-US" sz="2000" b="1" dirty="0" smtClean="0"/>
              <a:t>2.	Mission</a:t>
            </a:r>
          </a:p>
          <a:p>
            <a:endParaRPr lang="en-US" sz="2000" dirty="0" smtClean="0"/>
          </a:p>
          <a:p>
            <a:pPr algn="just"/>
            <a:r>
              <a:rPr lang="en-US" sz="2000" dirty="0" smtClean="0"/>
              <a:t>The mission statement clarifies the organization’s fundamental purpose and separates it from other entities. It answers the question of why the organization exists and outlines the unique path it will follow to realize its vision. The mission provides a clear direction and framework for all operational and strategic decisions. It typically summarizes what the business does and its reason for existence.</a:t>
            </a:r>
          </a:p>
          <a:p>
            <a:endParaRPr lang="en-US" dirty="0"/>
          </a:p>
        </p:txBody>
      </p:sp>
    </p:spTree>
    <p:extLst>
      <p:ext uri="{BB962C8B-B14F-4D97-AF65-F5344CB8AC3E}">
        <p14:creationId xmlns:p14="http://schemas.microsoft.com/office/powerpoint/2010/main" val="146775580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228600"/>
            <a:ext cx="8686800" cy="6494085"/>
          </a:xfrm>
          <a:prstGeom prst="rect">
            <a:avLst/>
          </a:prstGeom>
          <a:noFill/>
        </p:spPr>
        <p:txBody>
          <a:bodyPr wrap="square" rtlCol="0">
            <a:spAutoFit/>
          </a:bodyPr>
          <a:lstStyle/>
          <a:p>
            <a:pPr marL="457200" indent="-457200">
              <a:buAutoNum type="arabicPeriod" startAt="3"/>
            </a:pPr>
            <a:r>
              <a:rPr lang="en-US" sz="2000" b="1" dirty="0" smtClean="0"/>
              <a:t>Goals</a:t>
            </a:r>
          </a:p>
          <a:p>
            <a:pPr algn="just"/>
            <a:r>
              <a:rPr lang="en-US" sz="2000" dirty="0" smtClean="0"/>
              <a:t>Goals are specific targets that the organization aims to achieve within a set time frame. These are more concrete than the vision and are designed to be measurable and achievable, guiding the organization towards its larger aspirations. Goals help to translate the superior aspirations of the vision into practical, actionable benchmarks.</a:t>
            </a:r>
          </a:p>
          <a:p>
            <a:endParaRPr lang="en-US" dirty="0" smtClean="0"/>
          </a:p>
          <a:p>
            <a:pPr marL="457200" indent="-457200">
              <a:buAutoNum type="arabicPeriod" startAt="4"/>
            </a:pPr>
            <a:r>
              <a:rPr lang="en-US" sz="2000" b="1" dirty="0" smtClean="0"/>
              <a:t>Objectives</a:t>
            </a:r>
          </a:p>
          <a:p>
            <a:pPr algn="just"/>
            <a:r>
              <a:rPr lang="en-US" sz="2000" dirty="0" smtClean="0"/>
              <a:t>Objectives drill down further into how the goals will be achieved. They are typically short-term or medium-term achievements that are crucial stepping stones towards meeting the broader goals. Objectives are specific, measurable, and time-bound, providing clear milestones that motivate and guide employees.</a:t>
            </a:r>
          </a:p>
          <a:p>
            <a:pPr algn="just"/>
            <a:endParaRPr lang="en-US" dirty="0" smtClean="0"/>
          </a:p>
          <a:p>
            <a:pPr marL="457200" indent="-457200">
              <a:buAutoNum type="arabicPeriod" startAt="5"/>
            </a:pPr>
            <a:r>
              <a:rPr lang="en-US" sz="2000" b="1" dirty="0" smtClean="0"/>
              <a:t>Plan</a:t>
            </a:r>
          </a:p>
          <a:p>
            <a:pPr algn="just"/>
            <a:r>
              <a:rPr lang="en-US" sz="2000" dirty="0" smtClean="0"/>
              <a:t>The plan details the steps the organization will take to meet its objectives and achieve its goals. It involves strategic actions, resource allocation, and timelines. Planning is an essential activity that </a:t>
            </a:r>
            <a:r>
              <a:rPr lang="en-US" sz="2000" dirty="0" smtClean="0"/>
              <a:t>includes </a:t>
            </a:r>
            <a:r>
              <a:rPr lang="en-US" sz="2000" dirty="0" smtClean="0"/>
              <a:t>the development of strategies to utilize resources effectively and address anticipated challenges. It ensures that every part of the organization is synchronized towards achieving the set objectives.</a:t>
            </a:r>
            <a:endParaRPr lang="en-US" sz="2000" dirty="0"/>
          </a:p>
        </p:txBody>
      </p:sp>
    </p:spTree>
    <p:extLst>
      <p:ext uri="{BB962C8B-B14F-4D97-AF65-F5344CB8AC3E}">
        <p14:creationId xmlns:p14="http://schemas.microsoft.com/office/powerpoint/2010/main" val="305497681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52400"/>
            <a:ext cx="8991600" cy="400110"/>
          </a:xfrm>
          <a:prstGeom prst="rect">
            <a:avLst/>
          </a:prstGeom>
          <a:noFill/>
        </p:spPr>
        <p:txBody>
          <a:bodyPr wrap="square" rtlCol="0">
            <a:spAutoFit/>
          </a:bodyPr>
          <a:lstStyle/>
          <a:p>
            <a:r>
              <a:rPr lang="en-US" sz="2000" b="1" dirty="0" smtClean="0">
                <a:effectLst>
                  <a:outerShdw blurRad="38100" dist="38100" dir="2700000" algn="tl">
                    <a:srgbClr val="000000">
                      <a:alpha val="43137"/>
                    </a:srgbClr>
                  </a:outerShdw>
                </a:effectLst>
              </a:rPr>
              <a:t>How to develop the strategic intent for the organization?</a:t>
            </a:r>
            <a:endParaRPr lang="en-US" sz="2000" b="1" dirty="0">
              <a:effectLst>
                <a:outerShdw blurRad="38100" dist="38100" dir="2700000" algn="tl">
                  <a:srgbClr val="000000">
                    <a:alpha val="43137"/>
                  </a:srgbClr>
                </a:outerShdw>
              </a:effectLst>
            </a:endParaRPr>
          </a:p>
        </p:txBody>
      </p:sp>
      <p:sp>
        <p:nvSpPr>
          <p:cNvPr id="3" name="TextBox 2"/>
          <p:cNvSpPr txBox="1"/>
          <p:nvPr/>
        </p:nvSpPr>
        <p:spPr>
          <a:xfrm>
            <a:off x="114300" y="552510"/>
            <a:ext cx="8763000" cy="5647700"/>
          </a:xfrm>
          <a:prstGeom prst="rect">
            <a:avLst/>
          </a:prstGeom>
          <a:noFill/>
        </p:spPr>
        <p:txBody>
          <a:bodyPr wrap="square" rtlCol="0">
            <a:spAutoFit/>
          </a:bodyPr>
          <a:lstStyle/>
          <a:p>
            <a:r>
              <a:rPr lang="en-US" sz="1900" dirty="0" smtClean="0"/>
              <a:t>Developing a strategic intent for an organization involves careful consideration of the organization’s capabilities, aspirations, market position, and external environment. Here are some steps you could follow:</a:t>
            </a:r>
          </a:p>
          <a:p>
            <a:endParaRPr lang="en-US" sz="1900" dirty="0" smtClean="0"/>
          </a:p>
          <a:p>
            <a:pPr algn="just"/>
            <a:r>
              <a:rPr lang="en-US" sz="1900" b="1" dirty="0" smtClean="0"/>
              <a:t>1.Clarify Vision and Mission: </a:t>
            </a:r>
            <a:r>
              <a:rPr lang="en-US" sz="1900" dirty="0" smtClean="0"/>
              <a:t>Understand the existing vision and mission of the organization. These elements provide a sense of direction and purpose. The vision is a broader concept that represents what the organization wants to achieve in the long term, while the mission reflects the organization’s core purpose and focus.</a:t>
            </a:r>
          </a:p>
          <a:p>
            <a:endParaRPr lang="en-US" sz="1900" dirty="0" smtClean="0"/>
          </a:p>
          <a:p>
            <a:pPr algn="just"/>
            <a:r>
              <a:rPr lang="en-US" sz="1900" b="1" dirty="0" smtClean="0"/>
              <a:t>2.Assess Current State: </a:t>
            </a:r>
            <a:r>
              <a:rPr lang="en-US" sz="1900" dirty="0" smtClean="0"/>
              <a:t>Analyze the organization’s current situation, capabilities, strengths, and weaknesses. This could be done through tools such as SWOT (Strengths, Weaknesses, Opportunities, and Threats) analysis or PESTEL (Political, Economic, Sociocultural, Technological, Environmental, and Legal) analysis to consider both internal and external factors.</a:t>
            </a:r>
          </a:p>
          <a:p>
            <a:endParaRPr lang="en-US" sz="1900" dirty="0" smtClean="0"/>
          </a:p>
          <a:p>
            <a:pPr algn="just"/>
            <a:r>
              <a:rPr lang="en-US" sz="1900" b="1" dirty="0" smtClean="0"/>
              <a:t>3.Understand the Market: </a:t>
            </a:r>
            <a:r>
              <a:rPr lang="en-US" sz="1900" dirty="0" smtClean="0"/>
              <a:t>Understand the market trends, competition, customer needs, and potential opportunities or threats. This understanding can help you identify potential aspirational areas grounded in market realities.</a:t>
            </a:r>
          </a:p>
        </p:txBody>
      </p:sp>
    </p:spTree>
    <p:extLst>
      <p:ext uri="{BB962C8B-B14F-4D97-AF65-F5344CB8AC3E}">
        <p14:creationId xmlns:p14="http://schemas.microsoft.com/office/powerpoint/2010/main" val="188588808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914399"/>
            <a:ext cx="8610600" cy="5324535"/>
          </a:xfrm>
          <a:prstGeom prst="rect">
            <a:avLst/>
          </a:prstGeom>
          <a:noFill/>
        </p:spPr>
        <p:txBody>
          <a:bodyPr wrap="square" rtlCol="0">
            <a:spAutoFit/>
          </a:bodyPr>
          <a:lstStyle/>
          <a:p>
            <a:pPr algn="just"/>
            <a:r>
              <a:rPr lang="en-US" b="1" dirty="0" smtClean="0"/>
              <a:t>4</a:t>
            </a:r>
            <a:r>
              <a:rPr lang="en-US" sz="2000" b="1" dirty="0" smtClean="0"/>
              <a:t>.Define Objectives: </a:t>
            </a:r>
            <a:r>
              <a:rPr lang="en-US" sz="2000" dirty="0" smtClean="0"/>
              <a:t>Based on the previous steps, define clear, measurable, and achievable objectives. These objectives should guide the organization toward its vision.</a:t>
            </a:r>
          </a:p>
          <a:p>
            <a:pPr algn="just"/>
            <a:endParaRPr lang="en-US" sz="2000" dirty="0" smtClean="0"/>
          </a:p>
          <a:p>
            <a:pPr algn="just"/>
            <a:r>
              <a:rPr lang="en-US" sz="2000" b="1" dirty="0" smtClean="0"/>
              <a:t>5.Develop with a clear understanding of the vision, current situation, and objectives: </a:t>
            </a:r>
            <a:r>
              <a:rPr lang="en-US" sz="2000" dirty="0" smtClean="0"/>
              <a:t>You can now craft the strategic intent. It should be a concise, convincing statement that provides a long-term direction for the organization and motivates employees to strive to achieve it.</a:t>
            </a:r>
          </a:p>
          <a:p>
            <a:pPr algn="just"/>
            <a:endParaRPr lang="en-US" sz="2000" dirty="0" smtClean="0"/>
          </a:p>
          <a:p>
            <a:pPr algn="just"/>
            <a:r>
              <a:rPr lang="en-US" sz="2000" b="1" dirty="0" smtClean="0"/>
              <a:t>6.Communicate and Implement: </a:t>
            </a:r>
            <a:r>
              <a:rPr lang="en-US" sz="2000" dirty="0" smtClean="0"/>
              <a:t>Once developed, the organization must  communicate effectively to ensure understanding and alignment. It should be embedded in all strategic initiatives,  decision-making processes, and day-to-day operations.</a:t>
            </a:r>
          </a:p>
          <a:p>
            <a:pPr algn="just"/>
            <a:endParaRPr lang="en-US" sz="2000" dirty="0" smtClean="0"/>
          </a:p>
          <a:p>
            <a:pPr algn="just"/>
            <a:r>
              <a:rPr lang="en-US" sz="2000" b="1" dirty="0" smtClean="0"/>
              <a:t>7.Review and Adapt: </a:t>
            </a:r>
            <a:r>
              <a:rPr lang="en-US" sz="2000" dirty="0" smtClean="0"/>
              <a:t>Regularly review the strategic intent in light of changing market conditions, organizational capabilities, and other factors. Adapt or revise to keep it relevant and achievable if necessary.</a:t>
            </a:r>
            <a:endParaRPr lang="en-US" sz="2000" dirty="0"/>
          </a:p>
        </p:txBody>
      </p:sp>
    </p:spTree>
    <p:extLst>
      <p:ext uri="{BB962C8B-B14F-4D97-AF65-F5344CB8AC3E}">
        <p14:creationId xmlns:p14="http://schemas.microsoft.com/office/powerpoint/2010/main" val="113811385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457200"/>
            <a:ext cx="7924800" cy="400110"/>
          </a:xfrm>
          <a:prstGeom prst="rect">
            <a:avLst/>
          </a:prstGeom>
          <a:noFill/>
        </p:spPr>
        <p:txBody>
          <a:bodyPr wrap="square" rtlCol="0">
            <a:spAutoFit/>
          </a:bodyPr>
          <a:lstStyle/>
          <a:p>
            <a:r>
              <a:rPr lang="en-US" sz="2000" b="1" dirty="0" smtClean="0"/>
              <a:t>Levels of Strategies:</a:t>
            </a:r>
            <a:endParaRPr lang="en-US" sz="2000" b="1"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6025" y="857310"/>
            <a:ext cx="6652575" cy="5010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2209800" y="5867400"/>
            <a:ext cx="4419600" cy="369332"/>
          </a:xfrm>
          <a:prstGeom prst="rect">
            <a:avLst/>
          </a:prstGeom>
          <a:noFill/>
        </p:spPr>
        <p:txBody>
          <a:bodyPr wrap="square" rtlCol="0">
            <a:spAutoFit/>
          </a:bodyPr>
          <a:lstStyle/>
          <a:p>
            <a:r>
              <a:rPr lang="en-US" b="1" dirty="0" smtClean="0"/>
              <a:t>Figure 1: Three Levels of Strategy Pyramid</a:t>
            </a:r>
            <a:endParaRPr lang="en-US" b="1" dirty="0"/>
          </a:p>
        </p:txBody>
      </p:sp>
    </p:spTree>
    <p:extLst>
      <p:ext uri="{BB962C8B-B14F-4D97-AF65-F5344CB8AC3E}">
        <p14:creationId xmlns:p14="http://schemas.microsoft.com/office/powerpoint/2010/main" val="342922553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304800"/>
            <a:ext cx="8686800" cy="6063198"/>
          </a:xfrm>
          <a:prstGeom prst="rect">
            <a:avLst/>
          </a:prstGeom>
          <a:noFill/>
        </p:spPr>
        <p:txBody>
          <a:bodyPr wrap="square" rtlCol="0">
            <a:spAutoFit/>
          </a:bodyPr>
          <a:lstStyle/>
          <a:p>
            <a:r>
              <a:rPr lang="en-US" sz="2800" b="1" dirty="0" smtClean="0"/>
              <a:t>Strategy Level 1: </a:t>
            </a:r>
          </a:p>
          <a:p>
            <a:pPr algn="just"/>
            <a:r>
              <a:rPr lang="en-US" sz="2400" dirty="0" smtClean="0"/>
              <a:t>The corporate level is the highest and therefore the most broad, level of strategy in business. Corporate-level strategy should define your organization’s main purpose. It should also direct all your down-stream decision-making. For example, the objectives (e.g. high-level goals) in the levels below this one should all have a direct line to the goals defined here.</a:t>
            </a:r>
          </a:p>
          <a:p>
            <a:pPr algn="just"/>
            <a:endParaRPr lang="en-US" sz="2400" dirty="0" smtClean="0"/>
          </a:p>
          <a:p>
            <a:pPr algn="just"/>
            <a:r>
              <a:rPr lang="en-US" sz="2400" dirty="0" smtClean="0"/>
              <a:t>Creating and understanding your corporate-level strategy is particularly important for organizations that have multiple lines of business. For example, if one arm of your business manufactures a product and another arm sells that product, you’ll have a separate business unit strategy for each—but one single corporate-level strategy that describes why those two arms are important, and how those businesses interact for the good of the organization.</a:t>
            </a:r>
            <a:endParaRPr lang="en-US" sz="2400" dirty="0"/>
          </a:p>
        </p:txBody>
      </p:sp>
    </p:spTree>
    <p:extLst>
      <p:ext uri="{BB962C8B-B14F-4D97-AF65-F5344CB8AC3E}">
        <p14:creationId xmlns:p14="http://schemas.microsoft.com/office/powerpoint/2010/main" val="184175342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228600"/>
            <a:ext cx="8686800" cy="6709529"/>
          </a:xfrm>
          <a:prstGeom prst="rect">
            <a:avLst/>
          </a:prstGeom>
          <a:noFill/>
        </p:spPr>
        <p:txBody>
          <a:bodyPr wrap="square" rtlCol="0">
            <a:spAutoFit/>
          </a:bodyPr>
          <a:lstStyle/>
          <a:p>
            <a:r>
              <a:rPr lang="en-US" sz="2800" b="1" dirty="0" smtClean="0"/>
              <a:t>Strategy Level 2: The Business Unit Level</a:t>
            </a:r>
          </a:p>
          <a:p>
            <a:endParaRPr lang="en-US" dirty="0" smtClean="0"/>
          </a:p>
          <a:p>
            <a:pPr algn="just"/>
            <a:r>
              <a:rPr lang="en-US" sz="2400" dirty="0" smtClean="0"/>
              <a:t>Your business unit strategy is used for different areas of your business (like services and products, or multiple departments or divisions, for example). The complexity of this level will depend on how many businesses you are in, and how your company is structured. It’s important to create a strategy for each business unit so that you can see which units are excelling and which need improvement.</a:t>
            </a:r>
          </a:p>
          <a:p>
            <a:pPr algn="just"/>
            <a:endParaRPr lang="en-US" sz="2400" dirty="0" smtClean="0"/>
          </a:p>
          <a:p>
            <a:pPr algn="just"/>
            <a:r>
              <a:rPr lang="en-US" sz="2400" dirty="0" smtClean="0"/>
              <a:t>Having a strategy at the business unit level allows you to weigh the costs and benefits of each business unit and to decide where you should spend your resources. Depending on the progress towards your goals and your analysis of the market, you may even decide it’s time to divest or sell some of your business units so you can focus on the areas that are most important to achieving your company’s corporate strategy.</a:t>
            </a:r>
            <a:endParaRPr lang="en-US" sz="2400" dirty="0"/>
          </a:p>
        </p:txBody>
      </p:sp>
    </p:spTree>
    <p:extLst>
      <p:ext uri="{BB962C8B-B14F-4D97-AF65-F5344CB8AC3E}">
        <p14:creationId xmlns:p14="http://schemas.microsoft.com/office/powerpoint/2010/main" val="16090676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92395" y="990600"/>
            <a:ext cx="8534400" cy="5170646"/>
          </a:xfrm>
          <a:prstGeom prst="rect">
            <a:avLst/>
          </a:prstGeom>
          <a:noFill/>
        </p:spPr>
        <p:txBody>
          <a:bodyPr wrap="square" rtlCol="0">
            <a:spAutoFit/>
          </a:bodyPr>
          <a:lstStyle/>
          <a:p>
            <a:r>
              <a:rPr lang="en-US" sz="2400" b="1" dirty="0" smtClean="0"/>
              <a:t>Strategy Level 3: The Functional Level</a:t>
            </a:r>
          </a:p>
          <a:p>
            <a:endParaRPr lang="en-US" dirty="0" smtClean="0"/>
          </a:p>
          <a:p>
            <a:pPr algn="just"/>
            <a:r>
              <a:rPr lang="en-US" sz="2400" dirty="0" smtClean="0"/>
              <a:t>The functional level of your strategy involves each department—and what those at the department level are doing day-to-day to support corporate initiatives. Whereas your business unit strategy would be defined and evaluated by senior leadership, your functional strategy is typically produced by department heads (e.g. leaders in marketing, operations, finance, IT, etc.).</a:t>
            </a:r>
          </a:p>
          <a:p>
            <a:pPr algn="just"/>
            <a:endParaRPr lang="en-US" sz="2400" dirty="0" smtClean="0"/>
          </a:p>
          <a:p>
            <a:pPr algn="just"/>
            <a:r>
              <a:rPr lang="en-US" sz="2400" dirty="0" smtClean="0"/>
              <a:t>These individuals can help ensure that the departments execute the defined strategic elements, and that the components laid out at the functional level help support both the department level and corporate level strategies.</a:t>
            </a:r>
            <a:endParaRPr lang="en-US" sz="2400" dirty="0"/>
          </a:p>
        </p:txBody>
      </p:sp>
    </p:spTree>
    <p:extLst>
      <p:ext uri="{BB962C8B-B14F-4D97-AF65-F5344CB8AC3E}">
        <p14:creationId xmlns:p14="http://schemas.microsoft.com/office/powerpoint/2010/main" val="2392774497"/>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ssential">
  <a:themeElements>
    <a:clrScheme name="Essential">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Essential">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sential">
      <a:fillStyleLst>
        <a:solidFill>
          <a:schemeClr val="phClr"/>
        </a:solidFill>
        <a:gradFill rotWithShape="1">
          <a:gsLst>
            <a:gs pos="0">
              <a:schemeClr val="phClr">
                <a:tint val="60000"/>
                <a:satMod val="250000"/>
              </a:schemeClr>
            </a:gs>
            <a:gs pos="35000">
              <a:schemeClr val="phClr">
                <a:tint val="47000"/>
                <a:satMod val="275000"/>
              </a:schemeClr>
            </a:gs>
            <a:gs pos="100000">
              <a:schemeClr val="phClr">
                <a:tint val="25000"/>
                <a:satMod val="300000"/>
              </a:schemeClr>
            </a:gs>
          </a:gsLst>
          <a:lin ang="16200000" scaled="1"/>
        </a:gradFill>
        <a:solidFill>
          <a:schemeClr val="phClr">
            <a:satMod val="110000"/>
          </a:schemeClr>
        </a:solidFill>
      </a:fillStyleLst>
      <a:lnStyleLst>
        <a:ln w="12700" cap="flat" cmpd="sng" algn="ctr">
          <a:solidFill>
            <a:schemeClr val="phClr">
              <a:shade val="95000"/>
              <a:satMod val="105000"/>
            </a:schemeClr>
          </a:solidFill>
          <a:prstDash val="solid"/>
        </a:ln>
        <a:ln w="28575" cap="flat" cmpd="sng" algn="ctr">
          <a:solidFill>
            <a:schemeClr val="phClr"/>
          </a:solidFill>
          <a:prstDash val="solid"/>
        </a:ln>
        <a:ln w="41275" cap="flat" cmpd="sng" algn="ctr">
          <a:solidFill>
            <a:schemeClr val="phClr"/>
          </a:solidFill>
          <a:prstDash val="solid"/>
        </a:ln>
      </a:lnStyleLst>
      <a:effectStyleLst>
        <a:effectStyle>
          <a:effectLst/>
        </a:effectStyle>
        <a:effectStyle>
          <a:effectLst>
            <a:outerShdw blurRad="39999" dist="23000" algn="bl" rotWithShape="0">
              <a:srgbClr val="000000">
                <a:alpha val="40000"/>
              </a:srgbClr>
            </a:outerShdw>
          </a:effectLst>
        </a:effectStyle>
        <a:effectStyle>
          <a:effectLst>
            <a:outerShdw blurRad="38100" dist="19050" algn="bl" rotWithShape="0">
              <a:srgbClr val="000000">
                <a:alpha val="60000"/>
              </a:srgbClr>
            </a:outerShdw>
          </a:effectLst>
          <a:scene3d>
            <a:camera prst="orthographicFront">
              <a:rot lat="0" lon="0" rev="0"/>
            </a:camera>
            <a:lightRig rig="balanced" dir="l"/>
          </a:scene3d>
          <a:sp3d prstMaterial="plastic">
            <a:bevelT w="38100" h="31750"/>
          </a:sp3d>
        </a:effectStyle>
      </a:effectStyleLst>
      <a:bgFillStyleLst>
        <a:solidFill>
          <a:schemeClr val="phClr"/>
        </a:solidFill>
        <a:blipFill rotWithShape="1">
          <a:blip xmlns:r="http://schemas.openxmlformats.org/officeDocument/2006/relationships" r:embed="rId1">
            <a:duotone>
              <a:schemeClr val="phClr">
                <a:tint val="96000"/>
              </a:schemeClr>
              <a:schemeClr val="phClr">
                <a:shade val="94000"/>
              </a:schemeClr>
            </a:duotone>
          </a:blip>
          <a:tile tx="0" ty="0" sx="100000" sy="100000" flip="none" algn="tl"/>
        </a:blipFill>
        <a:gradFill rotWithShape="1">
          <a:gsLst>
            <a:gs pos="0">
              <a:schemeClr val="phClr">
                <a:tint val="84000"/>
                <a:satMod val="110000"/>
              </a:schemeClr>
            </a:gs>
            <a:gs pos="44000">
              <a:schemeClr val="phClr">
                <a:tint val="93000"/>
                <a:satMod val="115000"/>
              </a:schemeClr>
            </a:gs>
            <a:gs pos="100000">
              <a:schemeClr val="phClr">
                <a:tint val="100000"/>
                <a:shade val="59000"/>
                <a:satMod val="120000"/>
              </a:schemeClr>
            </a:gs>
          </a:gsLst>
          <a:path path="circle">
            <a:fillToRect l="40000" t="60000" r="60000" b="4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Essential</Template>
  <TotalTime>178</TotalTime>
  <Words>1541</Words>
  <Application>Microsoft Office PowerPoint</Application>
  <PresentationFormat>On-screen Show (4:3)</PresentationFormat>
  <Paragraphs>98</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Essential</vt:lpstr>
      <vt:lpstr>Chapter -2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dc:title>
  <dc:creator>Sraboni</dc:creator>
  <cp:lastModifiedBy>Sraboni</cp:lastModifiedBy>
  <cp:revision>21</cp:revision>
  <dcterms:created xsi:type="dcterms:W3CDTF">2024-12-11T06:31:31Z</dcterms:created>
  <dcterms:modified xsi:type="dcterms:W3CDTF">2025-02-08T04:47:02Z</dcterms:modified>
</cp:coreProperties>
</file>