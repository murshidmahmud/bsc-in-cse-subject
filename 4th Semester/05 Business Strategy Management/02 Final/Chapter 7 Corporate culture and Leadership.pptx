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5" d="100"/>
          <a:sy n="45" d="100"/>
        </p:scale>
        <p:origin x="-188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4E59095-5351-4286-9E2A-E6F4822BF8E9}" type="datetimeFigureOut">
              <a:rPr lang="en-US" smtClean="0"/>
              <a:t>05/09/25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CA0C3-62A9-43E0-81B3-2FBFA1F0AEA8}" type="slidenum">
              <a:rPr lang="en-US" smtClean="0"/>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4E59095-5351-4286-9E2A-E6F4822BF8E9}" type="datetimeFigureOut">
              <a:rPr lang="en-US" smtClean="0"/>
              <a:t>05/09/25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CA0C3-62A9-43E0-81B3-2FBFA1F0AEA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E59095-5351-4286-9E2A-E6F4822BF8E9}" type="datetimeFigureOut">
              <a:rPr lang="en-US" smtClean="0"/>
              <a:t>05/09/25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CA0C3-62A9-43E0-81B3-2FBFA1F0AEA8}"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4E59095-5351-4286-9E2A-E6F4822BF8E9}" type="datetimeFigureOut">
              <a:rPr lang="en-US" smtClean="0"/>
              <a:t>05/09/25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8CA0C3-62A9-43E0-81B3-2FBFA1F0AEA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4E59095-5351-4286-9E2A-E6F4822BF8E9}" type="datetimeFigureOut">
              <a:rPr lang="en-US" smtClean="0"/>
              <a:t>05/09/25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8CA0C3-62A9-43E0-81B3-2FBFA1F0AEA8}"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4E59095-5351-4286-9E2A-E6F4822BF8E9}" type="datetimeFigureOut">
              <a:rPr lang="en-US" smtClean="0"/>
              <a:t>05/09/25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8CA0C3-62A9-43E0-81B3-2FBFA1F0AEA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E59095-5351-4286-9E2A-E6F4822BF8E9}" type="datetimeFigureOut">
              <a:rPr lang="en-US" smtClean="0"/>
              <a:t>05/09/25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8CA0C3-62A9-43E0-81B3-2FBFA1F0AEA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E59095-5351-4286-9E2A-E6F4822BF8E9}" type="datetimeFigureOut">
              <a:rPr lang="en-US" smtClean="0"/>
              <a:t>05/09/25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8CA0C3-62A9-43E0-81B3-2FBFA1F0AEA8}"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E59095-5351-4286-9E2A-E6F4822BF8E9}" type="datetimeFigureOut">
              <a:rPr lang="en-US" smtClean="0"/>
              <a:t>05/09/25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8CA0C3-62A9-43E0-81B3-2FBFA1F0AEA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4E59095-5351-4286-9E2A-E6F4822BF8E9}" type="datetimeFigureOut">
              <a:rPr lang="en-US" smtClean="0"/>
              <a:t>05/09/25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CA0C3-62A9-43E0-81B3-2FBFA1F0AEA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E59095-5351-4286-9E2A-E6F4822BF8E9}" type="datetimeFigureOut">
              <a:rPr lang="en-US" smtClean="0"/>
              <a:t>05/09/25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CA0C3-62A9-43E0-81B3-2FBFA1F0AEA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4E59095-5351-4286-9E2A-E6F4822BF8E9}" type="datetimeFigureOut">
              <a:rPr lang="en-US" smtClean="0"/>
              <a:t>05/09/25</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F18CA0C3-62A9-43E0-81B3-2FBFA1F0AE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hyperlink" Target="https://www.forbes.com/sites/johnhall/2020/03/13/company-culture-doesnt-just-impact-well-being---it-also-impacts-productivity/"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hyperlink" Target="https://www.achievers.com/blog/the-positive-spiral-of-frequent-employee-appreciation/" TargetMode="Externa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www.achievers.com/blog/work-culture-directly-impacts-employee-performance/" TargetMode="External"/><Relationship Id="rId2" Type="http://schemas.openxmlformats.org/officeDocument/2006/relationships/hyperlink" Target="https://www.achievers.com/resources/white-papers/empowerment-and-trust-the-keys-to-employee-engagement/" TargetMode="External"/><Relationship Id="rId1" Type="http://schemas.openxmlformats.org/officeDocument/2006/relationships/slideLayout" Target="../slideLayouts/slideLayout7.xml"/><Relationship Id="rId6" Type="http://schemas.openxmlformats.org/officeDocument/2006/relationships/hyperlink" Target="https://www.achievers.com/blog/building-a-team-of-true-team-players/" TargetMode="External"/><Relationship Id="rId5" Type="http://schemas.openxmlformats.org/officeDocument/2006/relationships/hyperlink" Target="https://www.achievers.com/blog/how-to-build-a-resilient-workplace/" TargetMode="External"/><Relationship Id="rId4" Type="http://schemas.openxmlformats.org/officeDocument/2006/relationships/hyperlink" Target="https://www.achievers.com/blog/resilience-workplace/"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achievers.com/blog/psychological-safety-at-work/" TargetMode="External"/><Relationship Id="rId2" Type="http://schemas.openxmlformats.org/officeDocument/2006/relationships/hyperlink" Target="https://www.achievers.com/blog/how-to-apply-innovation-principles-to-your-engagement-strategy/"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spcBef>
                <a:spcPts val="0"/>
              </a:spcBef>
            </a:pPr>
            <a:r>
              <a:rPr lang="en-US" b="1" dirty="0" smtClean="0">
                <a:effectLst/>
                <a:latin typeface="Times New Roman"/>
                <a:ea typeface="Calibri"/>
                <a:cs typeface="Times New Roman"/>
              </a:rPr>
              <a:t>Chapter 7</a:t>
            </a:r>
            <a:r>
              <a:rPr lang="en-US" sz="4000" dirty="0">
                <a:ea typeface="Calibri"/>
                <a:cs typeface="Times New Roman"/>
              </a:rPr>
              <a:t/>
            </a:r>
            <a:br>
              <a:rPr lang="en-US" sz="4000" dirty="0">
                <a:ea typeface="Calibri"/>
                <a:cs typeface="Times New Roman"/>
              </a:rPr>
            </a:br>
            <a:endParaRPr lang="en-US" dirty="0"/>
          </a:p>
        </p:txBody>
      </p:sp>
      <p:sp>
        <p:nvSpPr>
          <p:cNvPr id="3" name="Subtitle 2"/>
          <p:cNvSpPr>
            <a:spLocks noGrp="1"/>
          </p:cNvSpPr>
          <p:nvPr>
            <p:ph type="subTitle" idx="1"/>
          </p:nvPr>
        </p:nvSpPr>
        <p:spPr/>
        <p:txBody>
          <a:bodyPr>
            <a:normAutofit/>
          </a:bodyPr>
          <a:lstStyle/>
          <a:p>
            <a:pPr>
              <a:spcBef>
                <a:spcPts val="0"/>
              </a:spcBef>
            </a:pPr>
            <a:r>
              <a:rPr lang="en-US" sz="3600" b="1" dirty="0" smtClean="0">
                <a:solidFill>
                  <a:schemeClr val="tx1"/>
                </a:solidFill>
                <a:effectLst/>
                <a:latin typeface="Times New Roman"/>
                <a:ea typeface="Calibri"/>
                <a:cs typeface="Times New Roman"/>
              </a:rPr>
              <a:t>Corporate culture and Leadership</a:t>
            </a:r>
            <a:endParaRPr lang="en-US" sz="3600" dirty="0">
              <a:solidFill>
                <a:schemeClr val="tx1"/>
              </a:solidFill>
              <a:ea typeface="Calibri"/>
              <a:cs typeface="Times New Roman"/>
            </a:endParaRPr>
          </a:p>
          <a:p>
            <a:endParaRPr lang="en-US" dirty="0"/>
          </a:p>
        </p:txBody>
      </p:sp>
    </p:spTree>
    <p:extLst>
      <p:ext uri="{BB962C8B-B14F-4D97-AF65-F5344CB8AC3E}">
        <p14:creationId xmlns:p14="http://schemas.microsoft.com/office/powerpoint/2010/main" val="17383762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550521"/>
            <a:ext cx="7024744" cy="685800"/>
          </a:xfrm>
        </p:spPr>
        <p:txBody>
          <a:bodyPr>
            <a:normAutofit fontScale="90000"/>
          </a:bodyPr>
          <a:lstStyle/>
          <a:p>
            <a:pPr marL="0" marR="0" algn="just">
              <a:spcBef>
                <a:spcPts val="0"/>
              </a:spcBef>
              <a:spcAft>
                <a:spcPts val="0"/>
              </a:spcAft>
            </a:pPr>
            <a:r>
              <a:rPr lang="en-US" b="1" dirty="0" smtClean="0">
                <a:solidFill>
                  <a:schemeClr val="tx1"/>
                </a:solidFill>
                <a:effectLst/>
                <a:latin typeface="Times New Roman"/>
                <a:ea typeface="Calibri"/>
                <a:cs typeface="Times New Roman"/>
              </a:rPr>
              <a:t>What is organizational culture?</a:t>
            </a:r>
            <a:endParaRPr lang="en-US" sz="4000" dirty="0">
              <a:solidFill>
                <a:schemeClr val="tx1"/>
              </a:solidFill>
              <a:ea typeface="Calibri"/>
              <a:cs typeface="Times New Roman"/>
            </a:endParaRPr>
          </a:p>
        </p:txBody>
      </p:sp>
      <p:sp>
        <p:nvSpPr>
          <p:cNvPr id="3" name="TextBox 2"/>
          <p:cNvSpPr txBox="1"/>
          <p:nvPr/>
        </p:nvSpPr>
        <p:spPr>
          <a:xfrm>
            <a:off x="152400" y="1231005"/>
            <a:ext cx="8991600" cy="5632311"/>
          </a:xfrm>
          <a:prstGeom prst="rect">
            <a:avLst/>
          </a:prstGeom>
          <a:noFill/>
        </p:spPr>
        <p:txBody>
          <a:bodyPr wrap="square" rtlCol="0">
            <a:spAutoFit/>
          </a:bodyPr>
          <a:lstStyle/>
          <a:p>
            <a:pPr algn="just"/>
            <a:r>
              <a:rPr lang="en-US" sz="4000" dirty="0" smtClean="0"/>
              <a:t>Organizational culture is the set of values, beliefs, attitudes, systems, and rules that outline and influence employee behavior within an organization. The culture reflects how employees, customers, vendors, and stakeholders experience the organization and its brand.</a:t>
            </a:r>
            <a:endParaRPr lang="en-US" sz="4000" dirty="0"/>
          </a:p>
        </p:txBody>
      </p:sp>
    </p:spTree>
    <p:extLst>
      <p:ext uri="{BB962C8B-B14F-4D97-AF65-F5344CB8AC3E}">
        <p14:creationId xmlns:p14="http://schemas.microsoft.com/office/powerpoint/2010/main" val="379341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839200" cy="1219200"/>
          </a:xfrm>
        </p:spPr>
        <p:txBody>
          <a:bodyPr>
            <a:noAutofit/>
          </a:bodyPr>
          <a:lstStyle/>
          <a:p>
            <a:r>
              <a:rPr lang="en-US" sz="3400" b="1" dirty="0">
                <a:solidFill>
                  <a:schemeClr val="tx1"/>
                </a:solidFill>
              </a:rPr>
              <a:t>What is the importance of culture to your company?</a:t>
            </a:r>
            <a:r>
              <a:rPr lang="en-US" sz="3400" dirty="0">
                <a:solidFill>
                  <a:schemeClr val="tx1"/>
                </a:solidFill>
              </a:rPr>
              <a:t/>
            </a:r>
            <a:br>
              <a:rPr lang="en-US" sz="3400" dirty="0">
                <a:solidFill>
                  <a:schemeClr val="tx1"/>
                </a:solidFill>
              </a:rPr>
            </a:br>
            <a:endParaRPr lang="en-US" sz="3400" dirty="0">
              <a:solidFill>
                <a:schemeClr val="tx1"/>
              </a:solidFill>
            </a:endParaRPr>
          </a:p>
        </p:txBody>
      </p:sp>
      <p:sp>
        <p:nvSpPr>
          <p:cNvPr id="5" name="TextBox 4"/>
          <p:cNvSpPr txBox="1"/>
          <p:nvPr/>
        </p:nvSpPr>
        <p:spPr>
          <a:xfrm>
            <a:off x="152400" y="1295400"/>
            <a:ext cx="8839200" cy="5509200"/>
          </a:xfrm>
          <a:prstGeom prst="rect">
            <a:avLst/>
          </a:prstGeom>
          <a:noFill/>
          <a:ln>
            <a:solidFill>
              <a:schemeClr val="tx1"/>
            </a:solidFill>
          </a:ln>
        </p:spPr>
        <p:txBody>
          <a:bodyPr wrap="square" rtlCol="0">
            <a:spAutoFit/>
          </a:bodyPr>
          <a:lstStyle/>
          <a:p>
            <a:pPr algn="just"/>
            <a:r>
              <a:rPr lang="en-US" sz="3200" b="1" dirty="0">
                <a:solidFill>
                  <a:srgbClr val="333333"/>
                </a:solidFill>
                <a:ea typeface="Calibri"/>
                <a:cs typeface="Times New Roman"/>
              </a:rPr>
              <a:t>Improve recruitment efforts</a:t>
            </a:r>
            <a:r>
              <a:rPr lang="en-US" sz="3200" dirty="0" smtClean="0">
                <a:solidFill>
                  <a:srgbClr val="333333"/>
                </a:solidFill>
                <a:effectLst/>
                <a:latin typeface="Times New Roman"/>
                <a:ea typeface="Calibri"/>
                <a:cs typeface="Times New Roman"/>
              </a:rPr>
              <a:t> – 77% of workers consider a company’s culture before applying.</a:t>
            </a:r>
            <a:endParaRPr lang="en-US" sz="3200" dirty="0">
              <a:ea typeface="Calibri"/>
              <a:cs typeface="Times New Roman"/>
            </a:endParaRPr>
          </a:p>
          <a:p>
            <a:pPr algn="just"/>
            <a:r>
              <a:rPr lang="en-US" sz="3200" b="1" dirty="0">
                <a:solidFill>
                  <a:srgbClr val="333333"/>
                </a:solidFill>
                <a:ea typeface="Calibri"/>
                <a:cs typeface="Times New Roman"/>
              </a:rPr>
              <a:t>Improve employee retention</a:t>
            </a:r>
            <a:r>
              <a:rPr lang="en-US" sz="3200" dirty="0" smtClean="0">
                <a:solidFill>
                  <a:srgbClr val="333333"/>
                </a:solidFill>
                <a:effectLst/>
                <a:latin typeface="Times New Roman"/>
                <a:ea typeface="Calibri"/>
                <a:cs typeface="Times New Roman"/>
              </a:rPr>
              <a:t> – culture is one of the main reasons that 65% of employees stay in their job.</a:t>
            </a:r>
            <a:endParaRPr lang="en-US" sz="3200" dirty="0">
              <a:ea typeface="Calibri"/>
              <a:cs typeface="Times New Roman"/>
            </a:endParaRPr>
          </a:p>
          <a:p>
            <a:pPr algn="just"/>
            <a:r>
              <a:rPr lang="en-US" sz="3200" b="1" dirty="0">
                <a:solidFill>
                  <a:srgbClr val="333333"/>
                </a:solidFill>
                <a:ea typeface="Calibri"/>
                <a:cs typeface="Times New Roman"/>
              </a:rPr>
              <a:t>Improve brand identity</a:t>
            </a:r>
            <a:r>
              <a:rPr lang="en-US" sz="3200" dirty="0" smtClean="0">
                <a:solidFill>
                  <a:srgbClr val="333333"/>
                </a:solidFill>
                <a:effectLst/>
                <a:latin typeface="Times New Roman"/>
                <a:ea typeface="Calibri"/>
                <a:cs typeface="Times New Roman"/>
              </a:rPr>
              <a:t> – 38% of employees report wanting to change their job due to poor company culture.</a:t>
            </a:r>
            <a:endParaRPr lang="en-US" sz="3200" dirty="0">
              <a:ea typeface="Calibri"/>
              <a:cs typeface="Times New Roman"/>
            </a:endParaRPr>
          </a:p>
          <a:p>
            <a:pPr algn="just"/>
            <a:r>
              <a:rPr lang="en-US" sz="3200" b="1" dirty="0">
                <a:solidFill>
                  <a:srgbClr val="333333"/>
                </a:solidFill>
                <a:ea typeface="Calibri"/>
                <a:cs typeface="Times New Roman"/>
              </a:rPr>
              <a:t>Improve engagement</a:t>
            </a:r>
            <a:r>
              <a:rPr lang="en-US" sz="3200" dirty="0" smtClean="0">
                <a:solidFill>
                  <a:srgbClr val="333333"/>
                </a:solidFill>
                <a:effectLst/>
                <a:latin typeface="Times New Roman"/>
                <a:ea typeface="Calibri"/>
                <a:cs typeface="Times New Roman"/>
              </a:rPr>
              <a:t> – companies with a positive culture have up to </a:t>
            </a:r>
            <a:r>
              <a:rPr lang="en-US" sz="3200" dirty="0" smtClean="0">
                <a:effectLst/>
                <a:latin typeface="Times New Roman"/>
                <a:ea typeface="Calibri"/>
                <a:cs typeface="Times New Roman"/>
                <a:hlinkClick r:id="rId2"/>
              </a:rPr>
              <a:t>72%</a:t>
            </a:r>
            <a:r>
              <a:rPr lang="en-US" sz="3200" dirty="0" smtClean="0">
                <a:solidFill>
                  <a:srgbClr val="333333"/>
                </a:solidFill>
                <a:effectLst/>
                <a:latin typeface="Times New Roman"/>
                <a:ea typeface="Calibri"/>
                <a:cs typeface="Times New Roman"/>
              </a:rPr>
              <a:t> higher employee engagement rate.</a:t>
            </a:r>
            <a:endParaRPr lang="en-US" sz="3200" dirty="0">
              <a:ea typeface="Calibri"/>
              <a:cs typeface="Times New Roman"/>
            </a:endParaRPr>
          </a:p>
        </p:txBody>
      </p:sp>
    </p:spTree>
    <p:extLst>
      <p:ext uri="{BB962C8B-B14F-4D97-AF65-F5344CB8AC3E}">
        <p14:creationId xmlns:p14="http://schemas.microsoft.com/office/powerpoint/2010/main" val="34274112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986" y="533400"/>
            <a:ext cx="8444023" cy="539068"/>
          </a:xfrm>
        </p:spPr>
        <p:txBody>
          <a:bodyPr>
            <a:noAutofit/>
          </a:bodyPr>
          <a:lstStyle/>
          <a:p>
            <a:pPr algn="ctr"/>
            <a:r>
              <a:rPr lang="en-US" sz="3200" b="1" dirty="0">
                <a:solidFill>
                  <a:schemeClr val="tx1"/>
                </a:solidFill>
              </a:rPr>
              <a:t>Qualities of a great organizational culture</a:t>
            </a:r>
            <a:r>
              <a:rPr lang="en-US" sz="3600" b="1" dirty="0"/>
              <a:t/>
            </a:r>
            <a:br>
              <a:rPr lang="en-US" sz="3600" b="1" dirty="0"/>
            </a:br>
            <a:endParaRPr lang="en-US" sz="3600" dirty="0"/>
          </a:p>
        </p:txBody>
      </p:sp>
      <p:sp>
        <p:nvSpPr>
          <p:cNvPr id="3" name="TextBox 2"/>
          <p:cNvSpPr txBox="1"/>
          <p:nvPr/>
        </p:nvSpPr>
        <p:spPr>
          <a:xfrm>
            <a:off x="-2" y="736790"/>
            <a:ext cx="9143999" cy="6124754"/>
          </a:xfrm>
          <a:prstGeom prst="rect">
            <a:avLst/>
          </a:prstGeom>
          <a:noFill/>
        </p:spPr>
        <p:txBody>
          <a:bodyPr wrap="square" rtlCol="0">
            <a:spAutoFit/>
          </a:bodyPr>
          <a:lstStyle/>
          <a:p>
            <a:pPr algn="just" fontAlgn="base"/>
            <a:r>
              <a:rPr lang="en-US" sz="2800" dirty="0"/>
              <a:t>Every organization’s culture is different, and it’s important to retain what makes your company unique. However, the cultures of high-performing organizations consistently reflect certain qualities that you should seek to cultivate</a:t>
            </a:r>
            <a:r>
              <a:rPr lang="en-US" sz="2800" dirty="0" smtClean="0"/>
              <a:t>:</a:t>
            </a:r>
          </a:p>
          <a:p>
            <a:pPr algn="just" fontAlgn="base"/>
            <a:r>
              <a:rPr lang="en-US" sz="2800" b="1" dirty="0"/>
              <a:t>1. Alignment</a:t>
            </a:r>
            <a:r>
              <a:rPr lang="en-US" sz="2800" dirty="0"/>
              <a:t> comes when the company’s objectives and its employees’ motivations are all pulling in the same direction. Exceptional organizations work to build continuous alignment to their vision, purpose, and goals.</a:t>
            </a:r>
          </a:p>
          <a:p>
            <a:pPr algn="just" fontAlgn="base"/>
            <a:r>
              <a:rPr lang="en-US" sz="2800" b="1" dirty="0"/>
              <a:t> 2. Appreciation</a:t>
            </a:r>
            <a:r>
              <a:rPr lang="en-US" sz="2800" dirty="0"/>
              <a:t> can take many forms: a public kudos, a note of thanks, or a promotion. A </a:t>
            </a:r>
            <a:r>
              <a:rPr lang="en-US" sz="2800" dirty="0">
                <a:hlinkClick r:id="rId2"/>
              </a:rPr>
              <a:t>culture of appreciation</a:t>
            </a:r>
            <a:r>
              <a:rPr lang="en-US" sz="2800" dirty="0"/>
              <a:t> is one in which all team members frequently provide recognition and thanks for the contributions of others.</a:t>
            </a:r>
          </a:p>
        </p:txBody>
      </p:sp>
    </p:spTree>
    <p:extLst>
      <p:ext uri="{BB962C8B-B14F-4D97-AF65-F5344CB8AC3E}">
        <p14:creationId xmlns:p14="http://schemas.microsoft.com/office/powerpoint/2010/main" val="40947744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98668"/>
            <a:ext cx="9144000" cy="7201972"/>
          </a:xfrm>
          <a:prstGeom prst="rect">
            <a:avLst/>
          </a:prstGeom>
          <a:noFill/>
        </p:spPr>
        <p:txBody>
          <a:bodyPr wrap="square" rtlCol="0">
            <a:spAutoFit/>
          </a:bodyPr>
          <a:lstStyle/>
          <a:p>
            <a:pPr algn="just" fontAlgn="base"/>
            <a:endParaRPr lang="en-US" sz="2600" b="1" dirty="0" smtClean="0"/>
          </a:p>
          <a:p>
            <a:pPr algn="just" fontAlgn="base"/>
            <a:r>
              <a:rPr lang="en-US" sz="2600" b="1" dirty="0" smtClean="0"/>
              <a:t>3</a:t>
            </a:r>
            <a:r>
              <a:rPr lang="en-US" sz="2600" b="1" dirty="0"/>
              <a:t>. Trust</a:t>
            </a:r>
            <a:r>
              <a:rPr lang="en-US" sz="2600" dirty="0"/>
              <a:t> is vital to an organization. With a </a:t>
            </a:r>
            <a:r>
              <a:rPr lang="en-US" sz="2600" dirty="0">
                <a:hlinkClick r:id="rId2"/>
              </a:rPr>
              <a:t>culture of trust</a:t>
            </a:r>
            <a:r>
              <a:rPr lang="en-US" sz="2600" dirty="0"/>
              <a:t>, team members can express themselves and rely on others to have their back when they try something new.</a:t>
            </a:r>
          </a:p>
          <a:p>
            <a:pPr algn="just" fontAlgn="base"/>
            <a:r>
              <a:rPr lang="en-US" sz="2600" b="1" dirty="0"/>
              <a:t>4. Performance</a:t>
            </a:r>
            <a:r>
              <a:rPr lang="en-US" sz="2600" dirty="0"/>
              <a:t> is key, as great companies create a </a:t>
            </a:r>
            <a:r>
              <a:rPr lang="en-US" sz="2600" dirty="0">
                <a:hlinkClick r:id="rId3"/>
              </a:rPr>
              <a:t>culture that means business</a:t>
            </a:r>
            <a:r>
              <a:rPr lang="en-US" sz="2600" dirty="0"/>
              <a:t>. In these companies, talented employees motivate each other to excel, and, as shown above, greater profitability and productivity are the results</a:t>
            </a:r>
            <a:r>
              <a:rPr lang="en-US" sz="2600" dirty="0" smtClean="0"/>
              <a:t>.</a:t>
            </a:r>
          </a:p>
          <a:p>
            <a:pPr algn="just" fontAlgn="base"/>
            <a:r>
              <a:rPr lang="en-US" sz="2600" b="1" dirty="0"/>
              <a:t>5.  </a:t>
            </a:r>
            <a:r>
              <a:rPr lang="en-US" sz="2600" b="1" dirty="0">
                <a:hlinkClick r:id="rId4"/>
              </a:rPr>
              <a:t>Resilience</a:t>
            </a:r>
            <a:r>
              <a:rPr lang="en-US" sz="2600" dirty="0"/>
              <a:t> is a key quality in highly dynamic environments where change is continuous. A </a:t>
            </a:r>
            <a:r>
              <a:rPr lang="en-US" sz="2600" dirty="0">
                <a:hlinkClick r:id="rId5"/>
              </a:rPr>
              <a:t>resilient culture will teach leaders</a:t>
            </a:r>
            <a:r>
              <a:rPr lang="en-US" sz="2600" dirty="0"/>
              <a:t> to watch for and respond to change with ease.</a:t>
            </a:r>
          </a:p>
          <a:p>
            <a:pPr algn="just" fontAlgn="base"/>
            <a:r>
              <a:rPr lang="en-US" sz="2600" b="1" dirty="0"/>
              <a:t>6. Teamwork</a:t>
            </a:r>
            <a:r>
              <a:rPr lang="en-US" sz="2600" dirty="0"/>
              <a:t> encompasses collaboration, communication, and respect between team members. When </a:t>
            </a:r>
            <a:r>
              <a:rPr lang="en-US" sz="2600" dirty="0">
                <a:hlinkClick r:id="rId6"/>
              </a:rPr>
              <a:t>everyone on the team</a:t>
            </a:r>
            <a:r>
              <a:rPr lang="en-US" sz="2600" dirty="0"/>
              <a:t> supports each other, employee will get more done and feel happier while doing it</a:t>
            </a:r>
            <a:r>
              <a:rPr lang="en-US" sz="2600" dirty="0" smtClean="0"/>
              <a:t>.</a:t>
            </a:r>
          </a:p>
          <a:p>
            <a:pPr algn="just" fontAlgn="base"/>
            <a:endParaRPr lang="en-US" sz="2800" dirty="0"/>
          </a:p>
          <a:p>
            <a:pPr algn="just" fontAlgn="base"/>
            <a:endParaRPr lang="en-US" dirty="0"/>
          </a:p>
        </p:txBody>
      </p:sp>
    </p:spTree>
    <p:extLst>
      <p:ext uri="{BB962C8B-B14F-4D97-AF65-F5344CB8AC3E}">
        <p14:creationId xmlns:p14="http://schemas.microsoft.com/office/powerpoint/2010/main" val="32803021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6894195"/>
          </a:xfrm>
          <a:prstGeom prst="rect">
            <a:avLst/>
          </a:prstGeom>
          <a:noFill/>
        </p:spPr>
        <p:txBody>
          <a:bodyPr wrap="square" rtlCol="0">
            <a:spAutoFit/>
          </a:bodyPr>
          <a:lstStyle/>
          <a:p>
            <a:pPr algn="just" fontAlgn="base"/>
            <a:endParaRPr lang="en-US" sz="2600" b="1" dirty="0" smtClean="0"/>
          </a:p>
          <a:p>
            <a:pPr algn="just" fontAlgn="base"/>
            <a:r>
              <a:rPr lang="en-US" sz="2600" b="1" dirty="0" smtClean="0"/>
              <a:t>7</a:t>
            </a:r>
            <a:r>
              <a:rPr lang="en-US" sz="2600" b="1" dirty="0"/>
              <a:t>. Integrity</a:t>
            </a:r>
            <a:r>
              <a:rPr lang="en-US" sz="2600" dirty="0"/>
              <a:t>, like trust, is vital to all teams when they rely on each other to make decisions, interpret results, and form partnerships. Honesty and transparency are critical components of this aspect of culture.</a:t>
            </a:r>
          </a:p>
          <a:p>
            <a:pPr algn="just" fontAlgn="base"/>
            <a:r>
              <a:rPr lang="en-US" sz="2600" b="1" dirty="0"/>
              <a:t> 8. Innovation</a:t>
            </a:r>
            <a:r>
              <a:rPr lang="en-US" sz="2600" dirty="0"/>
              <a:t> leads organizations to get the most out of available technologies, resources, and markets. A culture of innovation means that you apply creative thinking to all aspects of your business, </a:t>
            </a:r>
            <a:r>
              <a:rPr lang="en-US" sz="2600" dirty="0">
                <a:hlinkClick r:id="rId2"/>
              </a:rPr>
              <a:t>even your own cultural initiatives</a:t>
            </a:r>
            <a:r>
              <a:rPr lang="en-US" sz="2600" dirty="0"/>
              <a:t>.</a:t>
            </a:r>
          </a:p>
          <a:p>
            <a:pPr algn="just" fontAlgn="base"/>
            <a:r>
              <a:rPr lang="en-US" sz="2600" b="1" dirty="0"/>
              <a:t>9. </a:t>
            </a:r>
            <a:r>
              <a:rPr lang="en-US" sz="2600" b="1" dirty="0">
                <a:hlinkClick r:id="rId3"/>
              </a:rPr>
              <a:t>Psychological safety</a:t>
            </a:r>
            <a:r>
              <a:rPr lang="en-US" sz="2600" dirty="0"/>
              <a:t> provides the support employees need to take risks and provide honest feedback. Remember that psychological safety starts at the team level, not the individual level, so managers need to take the lead in creating a safe environment where everyone feels comfortable contributing. Now that you know what a great culture looks like, let’s tackle how to build one in your organization.</a:t>
            </a:r>
          </a:p>
        </p:txBody>
      </p:sp>
    </p:spTree>
    <p:extLst>
      <p:ext uri="{BB962C8B-B14F-4D97-AF65-F5344CB8AC3E}">
        <p14:creationId xmlns:p14="http://schemas.microsoft.com/office/powerpoint/2010/main" val="23730926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088"/>
            <a:ext cx="8610600" cy="983512"/>
          </a:xfrm>
        </p:spPr>
        <p:txBody>
          <a:bodyPr>
            <a:noAutofit/>
          </a:bodyPr>
          <a:lstStyle/>
          <a:p>
            <a:pPr algn="ctr"/>
            <a:r>
              <a:rPr lang="en-US" sz="3200" b="1" dirty="0" smtClean="0">
                <a:solidFill>
                  <a:schemeClr val="tx1"/>
                </a:solidFill>
                <a:effectLst/>
                <a:latin typeface="Times New Roman"/>
                <a:ea typeface="Calibri"/>
              </a:rPr>
              <a:t>Distinction between strong and weak culture</a:t>
            </a:r>
            <a:endParaRPr lang="en-US" sz="3200" dirty="0">
              <a:solidFill>
                <a:schemeClr val="tx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4051825349"/>
              </p:ext>
            </p:extLst>
          </p:nvPr>
        </p:nvGraphicFramePr>
        <p:xfrm>
          <a:off x="228600" y="838200"/>
          <a:ext cx="8686800" cy="5928360"/>
        </p:xfrm>
        <a:graphic>
          <a:graphicData uri="http://schemas.openxmlformats.org/drawingml/2006/table">
            <a:tbl>
              <a:tblPr firstRow="1" firstCol="1" bandRow="1">
                <a:tableStyleId>{5C22544A-7EE6-4342-B048-85BDC9FD1C3A}</a:tableStyleId>
              </a:tblPr>
              <a:tblGrid>
                <a:gridCol w="2895600"/>
                <a:gridCol w="2895600"/>
                <a:gridCol w="2895600"/>
              </a:tblGrid>
              <a:tr h="361485">
                <a:tc>
                  <a:txBody>
                    <a:bodyPr/>
                    <a:lstStyle/>
                    <a:p>
                      <a:pPr marL="0" marR="0" algn="ctr">
                        <a:spcBef>
                          <a:spcPts val="0"/>
                        </a:spcBef>
                        <a:spcAft>
                          <a:spcPts val="0"/>
                        </a:spcAft>
                      </a:pPr>
                      <a:r>
                        <a:rPr lang="en-US" sz="2000" dirty="0">
                          <a:effectLst/>
                        </a:rPr>
                        <a:t>Basis</a:t>
                      </a:r>
                      <a:endParaRPr lang="en-US" sz="2000" dirty="0">
                        <a:effectLst/>
                        <a:latin typeface="Calibri"/>
                        <a:ea typeface="Calibri"/>
                        <a:cs typeface="Times New Roman"/>
                      </a:endParaRPr>
                    </a:p>
                  </a:txBody>
                  <a:tcPr marL="68580" marR="68580" marT="0" marB="0"/>
                </a:tc>
                <a:tc>
                  <a:txBody>
                    <a:bodyPr/>
                    <a:lstStyle/>
                    <a:p>
                      <a:pPr marL="0" marR="0" algn="ctr">
                        <a:spcBef>
                          <a:spcPts val="0"/>
                        </a:spcBef>
                        <a:spcAft>
                          <a:spcPts val="0"/>
                        </a:spcAft>
                      </a:pPr>
                      <a:r>
                        <a:rPr lang="en-US" sz="2000" dirty="0">
                          <a:effectLst/>
                        </a:rPr>
                        <a:t>Strong culture</a:t>
                      </a:r>
                      <a:endParaRPr lang="en-US" sz="2000" dirty="0">
                        <a:effectLst/>
                        <a:latin typeface="Calibri"/>
                        <a:ea typeface="Calibri"/>
                        <a:cs typeface="Times New Roman"/>
                      </a:endParaRPr>
                    </a:p>
                  </a:txBody>
                  <a:tcPr marL="68580" marR="68580" marT="0" marB="0"/>
                </a:tc>
                <a:tc>
                  <a:txBody>
                    <a:bodyPr/>
                    <a:lstStyle/>
                    <a:p>
                      <a:pPr marL="0" marR="0" algn="ctr">
                        <a:spcBef>
                          <a:spcPts val="0"/>
                        </a:spcBef>
                        <a:spcAft>
                          <a:spcPts val="0"/>
                        </a:spcAft>
                      </a:pPr>
                      <a:r>
                        <a:rPr lang="en-US" sz="2000" dirty="0">
                          <a:effectLst/>
                        </a:rPr>
                        <a:t>Weak culture</a:t>
                      </a:r>
                      <a:endParaRPr lang="en-US" sz="2000" dirty="0">
                        <a:effectLst/>
                        <a:latin typeface="Calibri"/>
                        <a:ea typeface="Calibri"/>
                        <a:cs typeface="Times New Roman"/>
                      </a:endParaRPr>
                    </a:p>
                  </a:txBody>
                  <a:tcPr marL="68580" marR="68580" marT="0" marB="0"/>
                </a:tc>
              </a:tr>
              <a:tr h="1084456">
                <a:tc>
                  <a:txBody>
                    <a:bodyPr/>
                    <a:lstStyle/>
                    <a:p>
                      <a:pPr marL="0" marR="0">
                        <a:spcBef>
                          <a:spcPts val="0"/>
                        </a:spcBef>
                        <a:spcAft>
                          <a:spcPts val="0"/>
                        </a:spcAft>
                      </a:pPr>
                      <a:r>
                        <a:rPr lang="en-US" sz="2000" dirty="0">
                          <a:effectLst/>
                        </a:rPr>
                        <a:t>Values and beliefs</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1800" b="1" dirty="0">
                          <a:effectLst/>
                        </a:rPr>
                        <a:t>Core values are widely shared and strongly held.</a:t>
                      </a:r>
                      <a:endParaRPr lang="en-US" sz="18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800" b="1" dirty="0">
                          <a:effectLst/>
                        </a:rPr>
                        <a:t>Values and beliefs are not widely shared or strongly held.</a:t>
                      </a:r>
                      <a:endParaRPr lang="en-US" sz="1800" b="1" dirty="0">
                        <a:effectLst/>
                        <a:latin typeface="Calibri"/>
                        <a:ea typeface="Calibri"/>
                        <a:cs typeface="Times New Roman"/>
                      </a:endParaRPr>
                    </a:p>
                  </a:txBody>
                  <a:tcPr marL="68580" marR="68580" marT="0" marB="0"/>
                </a:tc>
              </a:tr>
              <a:tr h="722971">
                <a:tc>
                  <a:txBody>
                    <a:bodyPr/>
                    <a:lstStyle/>
                    <a:p>
                      <a:pPr marL="0" marR="0">
                        <a:spcBef>
                          <a:spcPts val="0"/>
                        </a:spcBef>
                        <a:spcAft>
                          <a:spcPts val="0"/>
                        </a:spcAft>
                      </a:pPr>
                      <a:r>
                        <a:rPr lang="en-US" sz="2000" dirty="0">
                          <a:effectLst/>
                        </a:rPr>
                        <a:t>Communication</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1800" b="1" dirty="0">
                          <a:effectLst/>
                        </a:rPr>
                        <a:t>Emphasizes open and effective communication.</a:t>
                      </a:r>
                      <a:endParaRPr lang="en-US" sz="18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800" b="1">
                          <a:effectLst/>
                        </a:rPr>
                        <a:t>Relies more on rules and regulations.</a:t>
                      </a:r>
                      <a:endParaRPr lang="en-US" sz="1800" b="1">
                        <a:effectLst/>
                        <a:latin typeface="Calibri"/>
                        <a:ea typeface="Calibri"/>
                        <a:cs typeface="Times New Roman"/>
                      </a:endParaRPr>
                    </a:p>
                  </a:txBody>
                  <a:tcPr marL="68580" marR="68580" marT="0" marB="0"/>
                </a:tc>
              </a:tr>
              <a:tr h="722971">
                <a:tc>
                  <a:txBody>
                    <a:bodyPr/>
                    <a:lstStyle/>
                    <a:p>
                      <a:pPr marL="0" marR="0">
                        <a:spcBef>
                          <a:spcPts val="0"/>
                        </a:spcBef>
                        <a:spcAft>
                          <a:spcPts val="0"/>
                        </a:spcAft>
                      </a:pPr>
                      <a:r>
                        <a:rPr lang="en-US" sz="2000" dirty="0">
                          <a:effectLst/>
                        </a:rPr>
                        <a:t>Culture-specific investments</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1800" b="1" dirty="0">
                          <a:effectLst/>
                        </a:rPr>
                        <a:t>Makes investments in culture</a:t>
                      </a:r>
                      <a:endParaRPr lang="en-US" sz="18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800" b="1">
                          <a:effectLst/>
                        </a:rPr>
                        <a:t>Makes little investment in culture.</a:t>
                      </a:r>
                      <a:endParaRPr lang="en-US" sz="1800" b="1">
                        <a:effectLst/>
                        <a:latin typeface="Calibri"/>
                        <a:ea typeface="Calibri"/>
                        <a:cs typeface="Times New Roman"/>
                      </a:endParaRPr>
                    </a:p>
                  </a:txBody>
                  <a:tcPr marL="68580" marR="68580" marT="0" marB="0"/>
                </a:tc>
              </a:tr>
              <a:tr h="1445941">
                <a:tc>
                  <a:txBody>
                    <a:bodyPr/>
                    <a:lstStyle/>
                    <a:p>
                      <a:pPr marL="0" marR="0">
                        <a:spcBef>
                          <a:spcPts val="0"/>
                        </a:spcBef>
                        <a:spcAft>
                          <a:spcPts val="0"/>
                        </a:spcAft>
                      </a:pPr>
                      <a:r>
                        <a:rPr lang="en-US" sz="2000" dirty="0">
                          <a:effectLst/>
                        </a:rPr>
                        <a:t>Organizational outcomes</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1800" b="1" dirty="0">
                          <a:effectLst/>
                        </a:rPr>
                        <a:t>Affects organizational outcomes because of the high agreement about what the organization represents.</a:t>
                      </a:r>
                      <a:endParaRPr lang="en-US" sz="18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800" b="1" dirty="0">
                          <a:effectLst/>
                        </a:rPr>
                        <a:t>More </a:t>
                      </a:r>
                      <a:r>
                        <a:rPr lang="en-US" sz="1800" b="1" dirty="0" smtClean="0">
                          <a:effectLst/>
                        </a:rPr>
                        <a:t>unstable.</a:t>
                      </a:r>
                      <a:endParaRPr lang="en-US" sz="1800" b="1" dirty="0">
                        <a:effectLst/>
                        <a:latin typeface="Calibri"/>
                        <a:ea typeface="Calibri"/>
                        <a:cs typeface="Times New Roman"/>
                      </a:endParaRPr>
                    </a:p>
                  </a:txBody>
                  <a:tcPr marL="68580" marR="68580" marT="0" marB="0"/>
                </a:tc>
              </a:tr>
              <a:tr h="867565">
                <a:tc>
                  <a:txBody>
                    <a:bodyPr/>
                    <a:lstStyle/>
                    <a:p>
                      <a:pPr marL="0" marR="0">
                        <a:spcBef>
                          <a:spcPts val="0"/>
                        </a:spcBef>
                        <a:spcAft>
                          <a:spcPts val="0"/>
                        </a:spcAft>
                      </a:pPr>
                      <a:r>
                        <a:rPr lang="en-US" sz="2000" dirty="0">
                          <a:effectLst/>
                        </a:rPr>
                        <a:t>Employee development</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1800" b="1" dirty="0">
                          <a:effectLst/>
                        </a:rPr>
                        <a:t>Invests in employee development </a:t>
                      </a:r>
                      <a:r>
                        <a:rPr lang="en-US" sz="1800" b="1" baseline="0" dirty="0" smtClean="0">
                          <a:effectLst/>
                        </a:rPr>
                        <a:t> &amp; </a:t>
                      </a:r>
                      <a:r>
                        <a:rPr lang="en-US" sz="1800" b="1" dirty="0" smtClean="0">
                          <a:effectLst/>
                        </a:rPr>
                        <a:t>growth</a:t>
                      </a:r>
                      <a:endParaRPr lang="en-US" sz="18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800" b="1" dirty="0">
                          <a:effectLst/>
                        </a:rPr>
                        <a:t>Lacks investment in employee development and growth.</a:t>
                      </a:r>
                      <a:endParaRPr lang="en-US" sz="1800" b="1" dirty="0">
                        <a:effectLst/>
                        <a:latin typeface="Calibri"/>
                        <a:ea typeface="Calibri"/>
                        <a:cs typeface="Times New Roman"/>
                      </a:endParaRPr>
                    </a:p>
                  </a:txBody>
                  <a:tcPr marL="68580" marR="68580" marT="0" marB="0"/>
                </a:tc>
              </a:tr>
              <a:tr h="722971">
                <a:tc>
                  <a:txBody>
                    <a:bodyPr/>
                    <a:lstStyle/>
                    <a:p>
                      <a:pPr marL="0" marR="0">
                        <a:spcBef>
                          <a:spcPts val="0"/>
                        </a:spcBef>
                        <a:spcAft>
                          <a:spcPts val="0"/>
                        </a:spcAft>
                      </a:pPr>
                      <a:r>
                        <a:rPr lang="en-US" sz="2000" dirty="0">
                          <a:effectLst/>
                        </a:rPr>
                        <a:t>Diversity and inclusion</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1800" b="1" dirty="0">
                          <a:effectLst/>
                        </a:rPr>
                        <a:t>Promotes diversity, equity, and inclusion.</a:t>
                      </a:r>
                      <a:endParaRPr lang="en-US" sz="1800" b="1"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800" b="1" dirty="0">
                          <a:effectLst/>
                        </a:rPr>
                        <a:t>Lacks diversity, equity, and inclusion.</a:t>
                      </a:r>
                      <a:endParaRPr lang="en-US" sz="1800" b="1" dirty="0">
                        <a:effectLst/>
                        <a:latin typeface="Calibri"/>
                        <a:ea typeface="Calibri"/>
                        <a:cs typeface="Times New Roman"/>
                      </a:endParaRPr>
                    </a:p>
                  </a:txBody>
                  <a:tcPr marL="68580" marR="68580" marT="0" marB="0"/>
                </a:tc>
              </a:tr>
            </a:tbl>
          </a:graphicData>
        </a:graphic>
      </p:graphicFrame>
    </p:spTree>
    <p:extLst>
      <p:ext uri="{BB962C8B-B14F-4D97-AF65-F5344CB8AC3E}">
        <p14:creationId xmlns:p14="http://schemas.microsoft.com/office/powerpoint/2010/main" val="23151336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chemeClr val="tx1"/>
                </a:solidFill>
                <a:effectLst/>
                <a:ea typeface="Calibri"/>
              </a:rPr>
              <a:t>Cultural Conflict Definition:</a:t>
            </a:r>
            <a:endParaRPr lang="en-US" b="1" dirty="0">
              <a:solidFill>
                <a:schemeClr val="tx1"/>
              </a:solidFill>
            </a:endParaRPr>
          </a:p>
        </p:txBody>
      </p:sp>
      <p:sp>
        <p:nvSpPr>
          <p:cNvPr id="3" name="TextBox 2"/>
          <p:cNvSpPr txBox="1"/>
          <p:nvPr/>
        </p:nvSpPr>
        <p:spPr>
          <a:xfrm>
            <a:off x="152400" y="1295400"/>
            <a:ext cx="8686800" cy="5078313"/>
          </a:xfrm>
          <a:prstGeom prst="rect">
            <a:avLst/>
          </a:prstGeom>
          <a:noFill/>
        </p:spPr>
        <p:txBody>
          <a:bodyPr wrap="square" rtlCol="0">
            <a:spAutoFit/>
          </a:bodyPr>
          <a:lstStyle/>
          <a:p>
            <a:pPr algn="just"/>
            <a:r>
              <a:rPr lang="en-US" sz="3600" dirty="0"/>
              <a:t>Cultural conflict refers to a situation where individuals or groups from different cultural backgrounds experience clashes due to differing values, beliefs, practices, or social norms. This phenomenon often arises when cultures interact, particularly in multicultural environments, leading to misunderstandings, tensions, and, in some cases, </a:t>
            </a:r>
            <a:r>
              <a:rPr lang="en-US" sz="3600" dirty="0" smtClean="0"/>
              <a:t>complete </a:t>
            </a:r>
            <a:r>
              <a:rPr lang="en-US" sz="3600" dirty="0"/>
              <a:t>hostility.</a:t>
            </a:r>
          </a:p>
        </p:txBody>
      </p:sp>
    </p:spTree>
    <p:extLst>
      <p:ext uri="{BB962C8B-B14F-4D97-AF65-F5344CB8AC3E}">
        <p14:creationId xmlns:p14="http://schemas.microsoft.com/office/powerpoint/2010/main" val="15150042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solidFill>
                  <a:schemeClr val="tx1"/>
                </a:solidFill>
              </a:rPr>
              <a:t>What Causes Cultural Conflict?</a:t>
            </a:r>
            <a:br>
              <a:rPr lang="en-US" b="1" dirty="0">
                <a:solidFill>
                  <a:schemeClr val="tx1"/>
                </a:solidFill>
              </a:rPr>
            </a:br>
            <a:endParaRPr lang="en-US" dirty="0">
              <a:solidFill>
                <a:schemeClr val="tx1"/>
              </a:solidFill>
            </a:endParaRPr>
          </a:p>
        </p:txBody>
      </p:sp>
      <p:sp>
        <p:nvSpPr>
          <p:cNvPr id="3" name="TextBox 2"/>
          <p:cNvSpPr txBox="1"/>
          <p:nvPr/>
        </p:nvSpPr>
        <p:spPr>
          <a:xfrm>
            <a:off x="0" y="990600"/>
            <a:ext cx="9144000" cy="5632311"/>
          </a:xfrm>
          <a:prstGeom prst="rect">
            <a:avLst/>
          </a:prstGeom>
          <a:noFill/>
        </p:spPr>
        <p:txBody>
          <a:bodyPr wrap="square" rtlCol="0">
            <a:spAutoFit/>
          </a:bodyPr>
          <a:lstStyle/>
          <a:p>
            <a:pPr algn="just"/>
            <a:r>
              <a:rPr lang="en-US" sz="2400" dirty="0" smtClean="0"/>
              <a:t>Cultural conflict can stem from various sources, including:</a:t>
            </a:r>
          </a:p>
          <a:p>
            <a:pPr algn="just"/>
            <a:r>
              <a:rPr lang="en-US" sz="2400" b="1" dirty="0" smtClean="0"/>
              <a:t>1.Differences in Values: </a:t>
            </a:r>
            <a:r>
              <a:rPr lang="en-US" sz="2400" dirty="0" smtClean="0"/>
              <a:t>When people from distinct cultures hold differing fundamental beliefs or moral values, conflict can arise. For example, some cultures may prioritize individualism, while others may value collectivism.</a:t>
            </a:r>
          </a:p>
          <a:p>
            <a:pPr algn="just"/>
            <a:r>
              <a:rPr lang="en-US" sz="2400" b="1" dirty="0" smtClean="0"/>
              <a:t>2.Language Barriers: </a:t>
            </a:r>
            <a:r>
              <a:rPr lang="en-US" sz="2400" dirty="0" smtClean="0"/>
              <a:t>Miscommunication often occurs due to language differences, resulting in misunderstandings that can intensify into conflicts.</a:t>
            </a:r>
          </a:p>
          <a:p>
            <a:pPr algn="just"/>
            <a:r>
              <a:rPr lang="en-US" sz="2400" b="1" dirty="0" smtClean="0"/>
              <a:t>3.Cultural Practices: </a:t>
            </a:r>
            <a:r>
              <a:rPr lang="en-US" sz="2400" dirty="0" smtClean="0"/>
              <a:t>Variations in traditions, customs, or social behaviors can create friction. What is considered respectful or appropriate in one culture may be seen as rude or inappropriate in another.</a:t>
            </a:r>
          </a:p>
          <a:p>
            <a:pPr algn="just"/>
            <a:r>
              <a:rPr lang="en-US" sz="2400" b="1" dirty="0" smtClean="0"/>
              <a:t>4.Stereotyping and Prejudice: </a:t>
            </a:r>
            <a:r>
              <a:rPr lang="en-US" sz="2400" dirty="0" smtClean="0"/>
              <a:t>Predetermined ideas about another culture can lead to discriminatory attitudes and behaviors, contributing to cultural conflicts.</a:t>
            </a:r>
            <a:endParaRPr lang="en-US" sz="2400" dirty="0"/>
          </a:p>
        </p:txBody>
      </p:sp>
    </p:spTree>
    <p:extLst>
      <p:ext uri="{BB962C8B-B14F-4D97-AF65-F5344CB8AC3E}">
        <p14:creationId xmlns:p14="http://schemas.microsoft.com/office/powerpoint/2010/main" val="25605933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202" y="28353"/>
            <a:ext cx="8229600" cy="1143000"/>
          </a:xfrm>
        </p:spPr>
        <p:txBody>
          <a:bodyPr>
            <a:normAutofit/>
          </a:bodyPr>
          <a:lstStyle/>
          <a:p>
            <a:r>
              <a:rPr lang="en-US" sz="3000" b="1" dirty="0">
                <a:solidFill>
                  <a:schemeClr val="tx1"/>
                </a:solidFill>
              </a:rPr>
              <a:t>The Importance of Addressing Cultural Conflict</a:t>
            </a:r>
          </a:p>
        </p:txBody>
      </p:sp>
      <p:sp>
        <p:nvSpPr>
          <p:cNvPr id="3" name="TextBox 2"/>
          <p:cNvSpPr txBox="1"/>
          <p:nvPr/>
        </p:nvSpPr>
        <p:spPr>
          <a:xfrm>
            <a:off x="155944" y="907319"/>
            <a:ext cx="8988056" cy="5902834"/>
          </a:xfrm>
          <a:prstGeom prst="rect">
            <a:avLst/>
          </a:prstGeom>
          <a:noFill/>
        </p:spPr>
        <p:txBody>
          <a:bodyPr wrap="square" rtlCol="0">
            <a:spAutoFit/>
          </a:bodyPr>
          <a:lstStyle/>
          <a:p>
            <a:r>
              <a:rPr lang="en-US" sz="2400" dirty="0" smtClean="0">
                <a:effectLst/>
                <a:ea typeface="Times New Roman"/>
              </a:rPr>
              <a:t>Understanding and addressing cultural conflict is essential for several reasons:</a:t>
            </a:r>
          </a:p>
          <a:p>
            <a:pPr algn="just">
              <a:lnSpc>
                <a:spcPct val="115000"/>
              </a:lnSpc>
            </a:pPr>
            <a:r>
              <a:rPr lang="en-US" sz="2400" b="1" dirty="0">
                <a:ea typeface="Calibri"/>
                <a:cs typeface="Times New Roman"/>
              </a:rPr>
              <a:t>Promotes Inclusivity</a:t>
            </a:r>
            <a:r>
              <a:rPr lang="en-US" sz="2400" dirty="0" smtClean="0">
                <a:effectLst/>
                <a:ea typeface="Calibri"/>
                <a:cs typeface="Times New Roman"/>
              </a:rPr>
              <a:t>: Recognizing cultural differences can help create a more broad environment where everyone feels valued and respected.</a:t>
            </a:r>
            <a:endParaRPr lang="en-US" sz="2400" dirty="0">
              <a:ea typeface="Calibri"/>
              <a:cs typeface="Times New Roman"/>
            </a:endParaRPr>
          </a:p>
          <a:p>
            <a:pPr algn="just">
              <a:lnSpc>
                <a:spcPct val="115000"/>
              </a:lnSpc>
            </a:pPr>
            <a:r>
              <a:rPr lang="en-US" sz="2400" b="1" dirty="0">
                <a:ea typeface="Calibri"/>
                <a:cs typeface="Times New Roman"/>
              </a:rPr>
              <a:t>Enhances Collaboration</a:t>
            </a:r>
            <a:r>
              <a:rPr lang="en-US" sz="2400" dirty="0" smtClean="0">
                <a:effectLst/>
                <a:ea typeface="Calibri"/>
                <a:cs typeface="Times New Roman"/>
              </a:rPr>
              <a:t>: By addressing cultural conflicts, organizations can foster better teamwork and collaboration among diverse groups, leading to improved outcomes.</a:t>
            </a:r>
            <a:endParaRPr lang="en-US" sz="2400" dirty="0">
              <a:ea typeface="Calibri"/>
              <a:cs typeface="Times New Roman"/>
            </a:endParaRPr>
          </a:p>
          <a:p>
            <a:pPr algn="just">
              <a:lnSpc>
                <a:spcPct val="115000"/>
              </a:lnSpc>
            </a:pPr>
            <a:r>
              <a:rPr lang="en-US" sz="2400" b="1" dirty="0">
                <a:ea typeface="Calibri"/>
                <a:cs typeface="Times New Roman"/>
              </a:rPr>
              <a:t>Reduces Misunderstandings</a:t>
            </a:r>
            <a:r>
              <a:rPr lang="en-US" sz="2400" dirty="0" smtClean="0">
                <a:effectLst/>
                <a:ea typeface="Calibri"/>
                <a:cs typeface="Times New Roman"/>
              </a:rPr>
              <a:t>: Awareness of potential cultural conflicts can minimize misunderstandings, promoting a healthier dialogue among individuals from different backgrounds.</a:t>
            </a:r>
            <a:endParaRPr lang="en-US" sz="2400" dirty="0">
              <a:ea typeface="Calibri"/>
              <a:cs typeface="Times New Roman"/>
            </a:endParaRPr>
          </a:p>
          <a:p>
            <a:pPr algn="just">
              <a:lnSpc>
                <a:spcPct val="115000"/>
              </a:lnSpc>
            </a:pPr>
            <a:r>
              <a:rPr lang="en-US" sz="2400" b="1" dirty="0">
                <a:ea typeface="Calibri"/>
                <a:cs typeface="Times New Roman"/>
              </a:rPr>
              <a:t>Encourages Learning</a:t>
            </a:r>
            <a:r>
              <a:rPr lang="en-US" sz="2400" dirty="0" smtClean="0">
                <a:effectLst/>
                <a:ea typeface="Calibri"/>
                <a:cs typeface="Times New Roman"/>
              </a:rPr>
              <a:t>: Navigating cultural conflicts can lead to opportunities for learning and growth, as individuals gain insights into different perspectives and approaches.</a:t>
            </a:r>
            <a:endParaRPr lang="en-US" sz="2400" dirty="0">
              <a:ea typeface="Calibri"/>
              <a:cs typeface="Times New Roman"/>
            </a:endParaRPr>
          </a:p>
        </p:txBody>
      </p:sp>
    </p:spTree>
    <p:extLst>
      <p:ext uri="{BB962C8B-B14F-4D97-AF65-F5344CB8AC3E}">
        <p14:creationId xmlns:p14="http://schemas.microsoft.com/office/powerpoint/2010/main" val="20008073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143000"/>
          </a:xfrm>
        </p:spPr>
        <p:txBody>
          <a:bodyPr>
            <a:normAutofit/>
          </a:bodyPr>
          <a:lstStyle/>
          <a:p>
            <a:pPr marL="0" marR="0" algn="ctr">
              <a:lnSpc>
                <a:spcPts val="1680"/>
              </a:lnSpc>
              <a:spcBef>
                <a:spcPts val="0"/>
              </a:spcBef>
              <a:spcAft>
                <a:spcPts val="0"/>
              </a:spcAft>
            </a:pPr>
            <a:r>
              <a:rPr lang="en-US" sz="3600" b="1" dirty="0" smtClean="0">
                <a:solidFill>
                  <a:schemeClr val="tx1"/>
                </a:solidFill>
                <a:effectLst/>
                <a:latin typeface="Times New Roman"/>
                <a:ea typeface="Times New Roman"/>
                <a:cs typeface="Times New Roman"/>
              </a:rPr>
              <a:t>How to Resolve Cultural Conflict</a:t>
            </a:r>
            <a:endParaRPr lang="en-US" sz="3600" b="1" dirty="0">
              <a:solidFill>
                <a:schemeClr val="tx1"/>
              </a:solidFill>
              <a:effectLst/>
              <a:latin typeface="Cambria"/>
              <a:ea typeface="Times New Roman"/>
              <a:cs typeface="Times New Roman"/>
            </a:endParaRPr>
          </a:p>
        </p:txBody>
      </p:sp>
      <p:sp>
        <p:nvSpPr>
          <p:cNvPr id="3" name="TextBox 2"/>
          <p:cNvSpPr txBox="1"/>
          <p:nvPr/>
        </p:nvSpPr>
        <p:spPr>
          <a:xfrm>
            <a:off x="0" y="1066800"/>
            <a:ext cx="9144000" cy="5478423"/>
          </a:xfrm>
          <a:prstGeom prst="rect">
            <a:avLst/>
          </a:prstGeom>
          <a:noFill/>
        </p:spPr>
        <p:txBody>
          <a:bodyPr wrap="square" rtlCol="0">
            <a:spAutoFit/>
          </a:bodyPr>
          <a:lstStyle/>
          <a:p>
            <a:pPr algn="just"/>
            <a:r>
              <a:rPr lang="en-US" sz="2500" dirty="0" smtClean="0"/>
              <a:t>Resolving cultural conflict requires a proactive and empathetic approach:</a:t>
            </a:r>
          </a:p>
          <a:p>
            <a:pPr algn="just"/>
            <a:r>
              <a:rPr lang="en-US" sz="2500" b="1" dirty="0" smtClean="0"/>
              <a:t>1.Open Dialogue: </a:t>
            </a:r>
            <a:r>
              <a:rPr lang="en-US" sz="2500" dirty="0" smtClean="0"/>
              <a:t>Encourage open communication among individuals from different cultures. Creating safe spaces for discussions can help address misunderstandings.</a:t>
            </a:r>
          </a:p>
          <a:p>
            <a:pPr algn="just"/>
            <a:r>
              <a:rPr lang="en-US" sz="2500" b="1" dirty="0" smtClean="0"/>
              <a:t>2.Cultural Competence Training: </a:t>
            </a:r>
            <a:r>
              <a:rPr lang="en-US" sz="2500" dirty="0" smtClean="0"/>
              <a:t>Provide training sessions that educate employees about various cultures, their values, and communication styles to foster understanding.</a:t>
            </a:r>
          </a:p>
          <a:p>
            <a:pPr algn="just"/>
            <a:r>
              <a:rPr lang="en-US" sz="2500" b="1" dirty="0" smtClean="0"/>
              <a:t>3.Active Listening:</a:t>
            </a:r>
            <a:r>
              <a:rPr lang="en-US" sz="2500" dirty="0" smtClean="0"/>
              <a:t> Encourage individuals to listen actively and empathetically to one another, acknowledging differing viewpoints.</a:t>
            </a:r>
          </a:p>
          <a:p>
            <a:pPr algn="just"/>
            <a:r>
              <a:rPr lang="en-US" sz="2500" b="1" dirty="0" smtClean="0"/>
              <a:t>4.Mediation:</a:t>
            </a:r>
            <a:r>
              <a:rPr lang="en-US" sz="2500" dirty="0" smtClean="0"/>
              <a:t> In cases of severe conflict, consider bringing in a neutral mediator to facilitate discussions and help reach a resolution.</a:t>
            </a:r>
            <a:endParaRPr lang="en-US" sz="2500" dirty="0"/>
          </a:p>
        </p:txBody>
      </p:sp>
    </p:spTree>
    <p:extLst>
      <p:ext uri="{BB962C8B-B14F-4D97-AF65-F5344CB8AC3E}">
        <p14:creationId xmlns:p14="http://schemas.microsoft.com/office/powerpoint/2010/main" val="41931266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173</TotalTime>
  <Words>674</Words>
  <Application>Microsoft Office PowerPoint</Application>
  <PresentationFormat>On-screen Show (4:3)</PresentationFormat>
  <Paragraphs>64</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Clarity</vt:lpstr>
      <vt:lpstr>Chapter 7 </vt:lpstr>
      <vt:lpstr>What is organizational culture?</vt:lpstr>
      <vt:lpstr>What is the importance of culture to your company? </vt:lpstr>
      <vt:lpstr>Qualities of a great organizational culture </vt:lpstr>
      <vt:lpstr>PowerPoint Presentation</vt:lpstr>
      <vt:lpstr>PowerPoint Presentation</vt:lpstr>
      <vt:lpstr>Distinction between strong and weak culture</vt:lpstr>
      <vt:lpstr>Cultural Conflict Definition:</vt:lpstr>
      <vt:lpstr>What Causes Cultural Conflict? </vt:lpstr>
      <vt:lpstr>The Importance of Addressing Cultural Conflict</vt:lpstr>
      <vt:lpstr>How to Resolve Cultural Conflict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Sraboni</dc:creator>
  <cp:lastModifiedBy>Sraboni</cp:lastModifiedBy>
  <cp:revision>9</cp:revision>
  <dcterms:created xsi:type="dcterms:W3CDTF">2025-05-09T06:38:24Z</dcterms:created>
  <dcterms:modified xsi:type="dcterms:W3CDTF">2025-05-09T09:32:13Z</dcterms:modified>
</cp:coreProperties>
</file>